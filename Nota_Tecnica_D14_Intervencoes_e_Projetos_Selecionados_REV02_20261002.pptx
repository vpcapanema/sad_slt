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020D309-F961-46AA-8FE0-524F1B33B6C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CB3E1B1-BF7E-41B9-9147-645713C4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D4DF570-9A61-4909-97B5-96975326B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1E5757C0-0B8E-441E-BD5C-64766D251E6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B712835A-B221-4467-9A07-9718B0B1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1800CB3-982D-4244-9D20-E34EAACA2BB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BF3C97C-5966-4704-8887-20F31D880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40A15F7-605E-4E02-95D7-A8CE64AB3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D81F2DB6-E68C-48C4-948B-C3CFA53A1E6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2163C67-30BA-4F86-B46B-46C4E876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44E9ADA-942D-43FB-9D64-8D92776B1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D9936BCC-C697-46CD-A15B-5781AB78C2A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54CC7CB-237E-4462-9A88-44CB14F7617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BB09823-0770-4047-A481-7FE2530B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15510B37-6251-4B89-B9EC-CFFB7227C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rcRect l="26" r="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E159A2C-9640-40F7-95FC-F9640537BF97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238125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REV02 · OUTUBRO 2026</a:t>
            </a:r>
          </a:p>
        </p:txBody>
      </p:sp>
    </p:spTree>
    <p:extLst>
      <p:ext uri="{BB962C8B-B14F-4D97-AF65-F5344CB8AC3E}">
        <p14:creationId xmlns:p14="http://schemas.microsoft.com/office/powerpoint/2010/main" val="89321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9D480E6-DD58-441F-876D-306A7EC58D47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028BAB0-927C-4AA9-8595-B7CF13700EF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F56682D-3D04-49BA-8A42-0B118A15C203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2E2A29C-216B-44B8-A865-A0CF683A636A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Objetivo do Produto D14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30094E2-8CF4-4446-A813-DD67D8A92EC5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B828FF-2F54-40A6-94FC-D3E0CB6418B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8A97C39-3B0F-4E46-8BAD-1FBD44919ACA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06A1D7C-F001-4DCE-BC5F-B562AD392F1D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1665"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Produto D14 tem como objetivo construir uma base crítica e rastreável para cada projeto ou ação mantido na carteira após a triagem preliminar do D11. Para isso, ele consolida as informações produzidas nas etapas anteriores, acrescenta análises próprias e organiza o resultado em uma Ficha Analítica de Projeto, denominada FAP.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64359CC-DC45-4505-A553-18443A2AA121}"/>
              </a:ext>
            </a:extLst>
          </p:cNvPr>
          <p:cNvSpPr>
            <a:spLocks noGrp="1"/>
          </p:cNvSpPr>
          <p:nvPr/>
        </p:nvSpPr>
        <p:spPr>
          <a:xfrm>
            <a:off x="523875" y="3352800"/>
            <a:ext cx="52387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reúne, em um único registro, os resultados disponíveis, as restrições conhecidas, as incertezas, o estágio de maturidade e as informações que ainda precisam ser produzidas.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prepara o escopo e as evidências que permitirão estimar custos no D15, avaliar a viabilidade socioeconômica no D16 e priorizar soluções dentro dos programas no D17.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também vincula cada projeto aos Programas de Estado para que dependências, complementaridades e sobreposições permaneçam visíveis durante a decisão.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C71B301-CCD1-4032-A770-F8856C038A83}"/>
              </a:ext>
            </a:extLst>
          </p:cNvPr>
          <p:cNvSpPr>
            <a:spLocks noGrp="1"/>
          </p:cNvSpPr>
          <p:nvPr/>
        </p:nvSpPr>
        <p:spPr>
          <a:xfrm>
            <a:off x="6238875" y="1619250"/>
            <a:ext cx="5286375" cy="3943350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C6CB9B7-BBE8-482B-A631-2285872EF9C1}"/>
              </a:ext>
            </a:extLst>
          </p:cNvPr>
          <p:cNvSpPr>
            <a:spLocks noGrp="1"/>
          </p:cNvSpPr>
          <p:nvPr/>
        </p:nvSpPr>
        <p:spPr>
          <a:xfrm>
            <a:off x="6238875" y="1619250"/>
            <a:ext cx="5286375" cy="495300"/>
          </a:xfrm>
          <a:prstGeom prst="roundRect">
            <a:avLst>
              <a:gd name="adj" fmla="val 13462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57E3505-1912-4B85-85F9-4DF281C3CD83}"/>
              </a:ext>
            </a:extLst>
          </p:cNvPr>
          <p:cNvSpPr>
            <a:spLocks noGrp="1"/>
          </p:cNvSpPr>
          <p:nvPr/>
        </p:nvSpPr>
        <p:spPr>
          <a:xfrm>
            <a:off x="6400800" y="1724025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FICHA ANALÍTICA DE PROJETO · FAP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CA7DA3A-AFE4-4A8A-B0C2-A6996D05882B}"/>
              </a:ext>
            </a:extLst>
          </p:cNvPr>
          <p:cNvSpPr>
            <a:spLocks noGrp="1"/>
          </p:cNvSpPr>
          <p:nvPr/>
        </p:nvSpPr>
        <p:spPr>
          <a:xfrm>
            <a:off x="9391650" y="1724025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6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IDENTIFICADOR · A2.3.6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B1D5DE8-C824-4542-B699-1B01C2E3AFE9}"/>
              </a:ext>
            </a:extLst>
          </p:cNvPr>
          <p:cNvSpPr>
            <a:spLocks noGrp="1"/>
          </p:cNvSpPr>
          <p:nvPr/>
        </p:nvSpPr>
        <p:spPr>
          <a:xfrm>
            <a:off x="6381750" y="2209800"/>
            <a:ext cx="5000625" cy="838200"/>
          </a:xfrm>
          <a:prstGeom prst="roundRect">
            <a:avLst>
              <a:gd name="adj" fmla="val 7955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41C706F-082C-46C2-901F-9ACE7E0EF237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11430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F6912AE-36AB-47E2-8CE4-6886AF4F522F}"/>
              </a:ext>
            </a:extLst>
          </p:cNvPr>
          <p:cNvSpPr>
            <a:spLocks noGrp="1"/>
          </p:cNvSpPr>
          <p:nvPr/>
        </p:nvSpPr>
        <p:spPr>
          <a:xfrm>
            <a:off x="7810500" y="2295525"/>
            <a:ext cx="3400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Identificação e propósito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FE785F1-8E98-4714-AE85-0101CED65D8B}"/>
              </a:ext>
            </a:extLst>
          </p:cNvPr>
          <p:cNvSpPr>
            <a:spLocks noGrp="1"/>
          </p:cNvSpPr>
          <p:nvPr/>
        </p:nvSpPr>
        <p:spPr>
          <a:xfrm>
            <a:off x="7810500" y="2600325"/>
            <a:ext cx="34004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68049"/>
          </a:bodyPr>
          <a:lstStyle/>
          <a:p>
            <a:pPr algn="l">
              <a:lnSpc>
                <a:spcPct val="105000"/>
              </a:lnSpc>
              <a:buNone/>
              <a:defRPr sz="114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4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bloco explica qual é o projeto, que problema procura resolver, onde se localiza, quando deverá operar e com quais temas e programas se relaciona.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784BF84-F2F0-4B7F-831B-91842368DD09}"/>
              </a:ext>
            </a:extLst>
          </p:cNvPr>
          <p:cNvSpPr>
            <a:spLocks noGrp="1"/>
          </p:cNvSpPr>
          <p:nvPr/>
        </p:nvSpPr>
        <p:spPr>
          <a:xfrm>
            <a:off x="6381750" y="3133725"/>
            <a:ext cx="5000625" cy="971550"/>
          </a:xfrm>
          <a:prstGeom prst="roundRect">
            <a:avLst>
              <a:gd name="adj" fmla="val 6863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256F6C4-2357-4B40-9774-4425DC3AA5C4}"/>
              </a:ext>
            </a:extLst>
          </p:cNvPr>
          <p:cNvSpPr>
            <a:spLocks noGrp="1"/>
          </p:cNvSpPr>
          <p:nvPr/>
        </p:nvSpPr>
        <p:spPr>
          <a:xfrm>
            <a:off x="6515100" y="3248025"/>
            <a:ext cx="1143000" cy="74295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FC64DD4-FEA1-4A26-ACB1-5CF05C002BF2}"/>
              </a:ext>
            </a:extLst>
          </p:cNvPr>
          <p:cNvSpPr>
            <a:spLocks noGrp="1"/>
          </p:cNvSpPr>
          <p:nvPr/>
        </p:nvSpPr>
        <p:spPr>
          <a:xfrm>
            <a:off x="7810500" y="3219450"/>
            <a:ext cx="3400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Evidências e impactos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F00E9C3-33F5-4922-AB5C-15392D1335DA}"/>
              </a:ext>
            </a:extLst>
          </p:cNvPr>
          <p:cNvSpPr>
            <a:spLocks noGrp="1"/>
          </p:cNvSpPr>
          <p:nvPr/>
        </p:nvSpPr>
        <p:spPr>
          <a:xfrm>
            <a:off x="7810500" y="3524250"/>
            <a:ext cx="3400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85283"/>
          </a:bodyPr>
          <a:lstStyle/>
          <a:p>
            <a:pPr algn="l">
              <a:lnSpc>
                <a:spcPct val="105000"/>
              </a:lnSpc>
              <a:buNone/>
              <a:defRPr sz="114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4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bloco reúne os resultados da rede, quando aplicáveis, e as análises territoriais, ambientais, climáticas, atmosféricas, sociais e econômicas produzidas para o projeto.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C515DF82-2F80-4603-A178-26F56DB5BD36}"/>
              </a:ext>
            </a:extLst>
          </p:cNvPr>
          <p:cNvSpPr>
            <a:spLocks noGrp="1"/>
          </p:cNvSpPr>
          <p:nvPr/>
        </p:nvSpPr>
        <p:spPr>
          <a:xfrm>
            <a:off x="6381750" y="4191000"/>
            <a:ext cx="5000625" cy="1143000"/>
          </a:xfrm>
          <a:prstGeom prst="roundRect">
            <a:avLst>
              <a:gd name="adj" fmla="val 583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CFB4A6D-4ABA-4653-BC1A-491A57218F61}"/>
              </a:ext>
            </a:extLst>
          </p:cNvPr>
          <p:cNvSpPr>
            <a:spLocks noGrp="1"/>
          </p:cNvSpPr>
          <p:nvPr/>
        </p:nvSpPr>
        <p:spPr>
          <a:xfrm>
            <a:off x="6515100" y="4305300"/>
            <a:ext cx="1143000" cy="91440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3E2725A6-3AE5-439D-BF9C-2C3CA8AF65F2}"/>
              </a:ext>
            </a:extLst>
          </p:cNvPr>
          <p:cNvSpPr>
            <a:spLocks noGrp="1"/>
          </p:cNvSpPr>
          <p:nvPr/>
        </p:nvSpPr>
        <p:spPr>
          <a:xfrm>
            <a:off x="7810500" y="4276725"/>
            <a:ext cx="34004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Condições para avançar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919EF19-1B57-41D8-AE10-35D7807BFFEF}"/>
              </a:ext>
            </a:extLst>
          </p:cNvPr>
          <p:cNvSpPr>
            <a:spLocks noGrp="1"/>
          </p:cNvSpPr>
          <p:nvPr/>
        </p:nvSpPr>
        <p:spPr>
          <a:xfrm>
            <a:off x="7810500" y="4581525"/>
            <a:ext cx="340042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87458"/>
          </a:bodyPr>
          <a:lstStyle/>
          <a:p>
            <a:pPr algn="l">
              <a:lnSpc>
                <a:spcPct val="105000"/>
              </a:lnSpc>
              <a:buNone/>
              <a:defRPr sz="114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4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bloco registra a maturidade, as dependências institucionais, as incertezas e as informações ainda necessárias para que os Produtos D15, D16 e D17 prossigam com segurança.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1B4004A-6104-49E1-8837-8809E8668B3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91C29C8-7D85-47CC-9D6E-3ED06C697B8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sintetiza evidências. Ela não gera nota global, ranking ou decisão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99541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5C3EDF2-19B2-48FB-925B-EEBA2277D42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64F5217-4514-41B6-8370-1C0C0CC08CE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960E9CE-74F5-4D54-AD8D-3B870189A8C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7E21735-E8CC-4474-A57F-70C4A161369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Vocabulário essencial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CAD88D9-5BCA-45A5-BF73-2A334AF068B7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6DDB80-3708-4210-A737-D5BB84557CF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BA71FE4-EB62-400B-8D94-FC3819F75847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B7CF6E0-462F-426F-960B-736053840189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1896"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Esta apresentação utiliza termos próprios da organização do PLI. As definições abaixo permitem compreender o documento sem conhecimento prévio dos trabalhos.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CD3770A-6987-45BA-AA1C-57A4DB7E9A32}"/>
              </a:ext>
            </a:extLst>
          </p:cNvPr>
          <p:cNvSpPr>
            <a:spLocks noGrp="1"/>
          </p:cNvSpPr>
          <p:nvPr/>
        </p:nvSpPr>
        <p:spPr>
          <a:xfrm>
            <a:off x="476250" y="2178050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09CE203-A218-48E1-9221-38F11282C33B}"/>
              </a:ext>
            </a:extLst>
          </p:cNvPr>
          <p:cNvSpPr>
            <a:spLocks noGrp="1"/>
          </p:cNvSpPr>
          <p:nvPr/>
        </p:nvSpPr>
        <p:spPr>
          <a:xfrm>
            <a:off x="571500" y="2235200"/>
            <a:ext cx="21621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Tema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957AC9B3-C3A5-4DA4-B647-F497FFBA44B0}"/>
              </a:ext>
            </a:extLst>
          </p:cNvPr>
          <p:cNvSpPr>
            <a:spLocks noGrp="1"/>
          </p:cNvSpPr>
          <p:nvPr/>
        </p:nvSpPr>
        <p:spPr>
          <a:xfrm>
            <a:off x="2809875" y="2244725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457DB76-618B-4699-B9EB-8739B1E9973D}"/>
              </a:ext>
            </a:extLst>
          </p:cNvPr>
          <p:cNvSpPr>
            <a:spLocks noGrp="1"/>
          </p:cNvSpPr>
          <p:nvPr/>
        </p:nvSpPr>
        <p:spPr>
          <a:xfrm>
            <a:off x="2924175" y="2225675"/>
            <a:ext cx="8582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tema representa um problema ou uma necessidade recorrente identificada nas escutas e nos diagnósticos. Ele descreve o que precisa ser enfrentado, sem impor uma única solução.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FBBCA8F-6A60-4423-BADF-12382148EFE4}"/>
              </a:ext>
            </a:extLst>
          </p:cNvPr>
          <p:cNvSpPr>
            <a:spLocks noGrp="1"/>
          </p:cNvSpPr>
          <p:nvPr/>
        </p:nvSpPr>
        <p:spPr>
          <a:xfrm>
            <a:off x="476250" y="2797175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987C404-4E4D-419A-8E3B-E0C60AB59829}"/>
              </a:ext>
            </a:extLst>
          </p:cNvPr>
          <p:cNvSpPr>
            <a:spLocks noGrp="1"/>
          </p:cNvSpPr>
          <p:nvPr/>
        </p:nvSpPr>
        <p:spPr>
          <a:xfrm>
            <a:off x="571500" y="2854325"/>
            <a:ext cx="21621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 ou ação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416790B1-A27B-4A24-BBE7-FB745CE26D85}"/>
              </a:ext>
            </a:extLst>
          </p:cNvPr>
          <p:cNvSpPr>
            <a:spLocks noGrp="1"/>
          </p:cNvSpPr>
          <p:nvPr/>
        </p:nvSpPr>
        <p:spPr>
          <a:xfrm>
            <a:off x="2809875" y="2863850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A7C805F-AD3B-45C2-B658-37753E564191}"/>
              </a:ext>
            </a:extLst>
          </p:cNvPr>
          <p:cNvSpPr>
            <a:spLocks noGrp="1"/>
          </p:cNvSpPr>
          <p:nvPr/>
        </p:nvSpPr>
        <p:spPr>
          <a:xfrm>
            <a:off x="2924175" y="2844800"/>
            <a:ext cx="8582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projeto ou uma ação corresponde a uma resposta possível ao tema. A resposta pode envolver infraestrutura, operação, regulação, organização institucional ou financiamento.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8F8C62A-6401-4679-A7B2-7814530711F9}"/>
              </a:ext>
            </a:extLst>
          </p:cNvPr>
          <p:cNvSpPr>
            <a:spLocks noGrp="1"/>
          </p:cNvSpPr>
          <p:nvPr/>
        </p:nvSpPr>
        <p:spPr>
          <a:xfrm>
            <a:off x="476250" y="3416300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3B561F2-16AF-4F56-B02F-7D89F0A81E79}"/>
              </a:ext>
            </a:extLst>
          </p:cNvPr>
          <p:cNvSpPr>
            <a:spLocks noGrp="1"/>
          </p:cNvSpPr>
          <p:nvPr/>
        </p:nvSpPr>
        <p:spPr>
          <a:xfrm>
            <a:off x="571500" y="3473450"/>
            <a:ext cx="21621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FAP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CA01295B-8B7C-48FF-8434-9A353D4EF63E}"/>
              </a:ext>
            </a:extLst>
          </p:cNvPr>
          <p:cNvSpPr>
            <a:spLocks noGrp="1"/>
          </p:cNvSpPr>
          <p:nvPr/>
        </p:nvSpPr>
        <p:spPr>
          <a:xfrm>
            <a:off x="2809875" y="3482975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E1AA4E0-BD5C-4431-9151-CEB56ED3DBD8}"/>
              </a:ext>
            </a:extLst>
          </p:cNvPr>
          <p:cNvSpPr>
            <a:spLocks noGrp="1"/>
          </p:cNvSpPr>
          <p:nvPr/>
        </p:nvSpPr>
        <p:spPr>
          <a:xfrm>
            <a:off x="2924175" y="3463925"/>
            <a:ext cx="8582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Analítica de Projeto é o registro único que reúne a identidade, as evidências, as restrições, as incertezas e o estágio de preparação de cada projeto ou ação, inclusive quando a iniciativa não envolve uma obra física.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85632A1-622C-4066-85B8-11B479463EA7}"/>
              </a:ext>
            </a:extLst>
          </p:cNvPr>
          <p:cNvSpPr>
            <a:spLocks noGrp="1"/>
          </p:cNvSpPr>
          <p:nvPr/>
        </p:nvSpPr>
        <p:spPr>
          <a:xfrm>
            <a:off x="476250" y="4035425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3D4AF18-25AB-410F-B108-BCB41CE7F7AE}"/>
              </a:ext>
            </a:extLst>
          </p:cNvPr>
          <p:cNvSpPr>
            <a:spLocks noGrp="1"/>
          </p:cNvSpPr>
          <p:nvPr/>
        </p:nvSpPr>
        <p:spPr>
          <a:xfrm>
            <a:off x="571500" y="4092575"/>
            <a:ext cx="21621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 de Estado</a:t>
            </a:r>
          </a:p>
        </p:txBody>
      </p:sp>
      <p:sp>
        <p:nvSpPr>
          <p:cNvPr id="34" name="Conector reto 33">
            <a:extLst>
              <a:ext uri="{FF2B5EF4-FFF2-40B4-BE49-F238E27FC236}">
                <a16:creationId xmlns:a16="http://schemas.microsoft.com/office/drawing/2014/main" id="{4915D7E8-38FF-4D57-BE3D-A7235464EF72}"/>
              </a:ext>
            </a:extLst>
          </p:cNvPr>
          <p:cNvSpPr>
            <a:spLocks noGrp="1"/>
          </p:cNvSpPr>
          <p:nvPr/>
        </p:nvSpPr>
        <p:spPr>
          <a:xfrm>
            <a:off x="2809875" y="4102100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8027C0DA-5C2F-40FE-B771-E546968C3B3B}"/>
              </a:ext>
            </a:extLst>
          </p:cNvPr>
          <p:cNvSpPr>
            <a:spLocks noGrp="1"/>
          </p:cNvSpPr>
          <p:nvPr/>
        </p:nvSpPr>
        <p:spPr>
          <a:xfrm>
            <a:off x="2924175" y="4083050"/>
            <a:ext cx="85820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Programa de Estado combina projetos e ações que, em conjunto, procuram enfrentar um problema público amplo. O mesmo projeto pode contribuir para mais de um programa.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8B92EC86-EFD7-4A5E-97A1-8C813422F9C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7946E4F-6EEA-440C-B829-317B241A0248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códigos dos projetos, como A2.3.6 ou A4.8, funcionam como identificadores cadastrais e sempre aparecem acompanhados do nome da iniciativa.</a:t>
            </a:r>
          </a:p>
        </p:txBody>
      </p:sp>
    </p:spTree>
    <p:extLst>
      <p:ext uri="{BB962C8B-B14F-4D97-AF65-F5344CB8AC3E}">
        <p14:creationId xmlns:p14="http://schemas.microsoft.com/office/powerpoint/2010/main" val="197391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DFB5DFF-8035-487A-979B-ED7CF30FFA7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869F81-E578-4751-BDD3-5C14EECF8CD9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B6440D9-CA43-40C5-AE59-EA74696A9C7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39E60C5-51ED-4791-9B77-AC021889AB1C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Vocabulário operacional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FCEC5745-27F2-48C5-998D-9F55E9C409BB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B0FA559-65E0-43BD-92F3-2E9757AFCC7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E82D6E9-FA9C-4051-AC05-CC6BA8948E7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9B35E7-836D-4202-872F-5CEADF18F704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Estes termos explicam como as informações serão registradas e utilizadas entre os Produtos do PLI.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B8C03A8-8E61-440C-9B14-0CD4DA290276}"/>
              </a:ext>
            </a:extLst>
          </p:cNvPr>
          <p:cNvSpPr>
            <a:spLocks noGrp="1"/>
          </p:cNvSpPr>
          <p:nvPr/>
        </p:nvSpPr>
        <p:spPr>
          <a:xfrm>
            <a:off x="476250" y="2209800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902B243-36C8-429C-9A3D-16F7B7E16114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2400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Carteira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54D91B53-D325-4622-992B-01E511B67E7A}"/>
              </a:ext>
            </a:extLst>
          </p:cNvPr>
          <p:cNvSpPr>
            <a:spLocks noGrp="1"/>
          </p:cNvSpPr>
          <p:nvPr/>
        </p:nvSpPr>
        <p:spPr>
          <a:xfrm>
            <a:off x="3048000" y="2276475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FC1869F-B52D-4D72-BAAB-CBA8647C6CE1}"/>
              </a:ext>
            </a:extLst>
          </p:cNvPr>
          <p:cNvSpPr>
            <a:spLocks noGrp="1"/>
          </p:cNvSpPr>
          <p:nvPr/>
        </p:nvSpPr>
        <p:spPr>
          <a:xfrm>
            <a:off x="3162300" y="2257425"/>
            <a:ext cx="8343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é o conjunto de projetos e ações que um Programa de Estado organizará para implantação no curto, no médio e no longo prazo, depois da avaliação e da priorização.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7DA85B5-3212-4203-9007-04177AB96932}"/>
              </a:ext>
            </a:extLst>
          </p:cNvPr>
          <p:cNvSpPr>
            <a:spLocks noGrp="1"/>
          </p:cNvSpPr>
          <p:nvPr/>
        </p:nvSpPr>
        <p:spPr>
          <a:xfrm>
            <a:off x="476250" y="2828925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84883C9-83C1-40C0-A236-A48B12056514}"/>
              </a:ext>
            </a:extLst>
          </p:cNvPr>
          <p:cNvSpPr>
            <a:spLocks noGrp="1"/>
          </p:cNvSpPr>
          <p:nvPr/>
        </p:nvSpPr>
        <p:spPr>
          <a:xfrm>
            <a:off x="571500" y="2886075"/>
            <a:ext cx="2400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 finalístico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1BCB743C-AE5C-482F-BD6C-AFB10C837AA9}"/>
              </a:ext>
            </a:extLst>
          </p:cNvPr>
          <p:cNvSpPr>
            <a:spLocks noGrp="1"/>
          </p:cNvSpPr>
          <p:nvPr/>
        </p:nvSpPr>
        <p:spPr>
          <a:xfrm>
            <a:off x="3048000" y="2895600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F6522C6-6602-4405-9FCD-8DB196C66F72}"/>
              </a:ext>
            </a:extLst>
          </p:cNvPr>
          <p:cNvSpPr>
            <a:spLocks noGrp="1"/>
          </p:cNvSpPr>
          <p:nvPr/>
        </p:nvSpPr>
        <p:spPr>
          <a:xfrm>
            <a:off x="3162300" y="2876550"/>
            <a:ext cx="8343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programa finalístico reúne soluções que produzem resultados diretamente percebidos pelos usuários, pelo sistema produtivo ou pelos territórios.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F629D20-01CF-4950-A413-3F866C047457}"/>
              </a:ext>
            </a:extLst>
          </p:cNvPr>
          <p:cNvSpPr>
            <a:spLocks noGrp="1"/>
          </p:cNvSpPr>
          <p:nvPr/>
        </p:nvSpPr>
        <p:spPr>
          <a:xfrm>
            <a:off x="476250" y="3448050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3C65D3F-7566-4816-8724-4036D1AB4D42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2400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 habilitador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8F33F92B-966D-4CF9-BE73-49819E86F6A4}"/>
              </a:ext>
            </a:extLst>
          </p:cNvPr>
          <p:cNvSpPr>
            <a:spLocks noGrp="1"/>
          </p:cNvSpPr>
          <p:nvPr/>
        </p:nvSpPr>
        <p:spPr>
          <a:xfrm>
            <a:off x="3048000" y="3514725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43FB19C-CC75-440F-8833-32F6C02D024A}"/>
              </a:ext>
            </a:extLst>
          </p:cNvPr>
          <p:cNvSpPr>
            <a:spLocks noGrp="1"/>
          </p:cNvSpPr>
          <p:nvPr/>
        </p:nvSpPr>
        <p:spPr>
          <a:xfrm>
            <a:off x="3162300" y="3495675"/>
            <a:ext cx="8343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programa habilitador reúne regras, capacidades, salvaguardas e instrumentos transversais necessários para que os projetos finalísticos possam ser implantados e operados.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E5A827F-0603-4318-85D9-8D10900A6B91}"/>
              </a:ext>
            </a:extLst>
          </p:cNvPr>
          <p:cNvSpPr>
            <a:spLocks noGrp="1"/>
          </p:cNvSpPr>
          <p:nvPr/>
        </p:nvSpPr>
        <p:spPr>
          <a:xfrm>
            <a:off x="476250" y="4067175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7655A2F-49F8-48CA-9095-D72C377A6DAB}"/>
              </a:ext>
            </a:extLst>
          </p:cNvPr>
          <p:cNvSpPr>
            <a:spLocks noGrp="1"/>
          </p:cNvSpPr>
          <p:nvPr/>
        </p:nvSpPr>
        <p:spPr>
          <a:xfrm>
            <a:off x="571500" y="4124325"/>
            <a:ext cx="2400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Contrafactual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D5F98C72-EBA1-4FFF-B7EB-DC01A4624A19}"/>
              </a:ext>
            </a:extLst>
          </p:cNvPr>
          <p:cNvSpPr>
            <a:spLocks noGrp="1"/>
          </p:cNvSpPr>
          <p:nvPr/>
        </p:nvSpPr>
        <p:spPr>
          <a:xfrm>
            <a:off x="3048000" y="4133850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8E51303-1374-4245-AAEB-2710BF337EDD}"/>
              </a:ext>
            </a:extLst>
          </p:cNvPr>
          <p:cNvSpPr>
            <a:spLocks noGrp="1"/>
          </p:cNvSpPr>
          <p:nvPr/>
        </p:nvSpPr>
        <p:spPr>
          <a:xfrm>
            <a:off x="3162300" y="4114800"/>
            <a:ext cx="8343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contrafactual é o cenário de referência que mostra o que ocorreria sem o projeto analisado. A comparação entre o cenário com projeto e esse cenário sem projeto permite isolar o efeito incremental da intervenção.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3FA928E-A5CA-46DF-BA76-EC7B6341E416}"/>
              </a:ext>
            </a:extLst>
          </p:cNvPr>
          <p:cNvSpPr>
            <a:spLocks noGrp="1"/>
          </p:cNvSpPr>
          <p:nvPr/>
        </p:nvSpPr>
        <p:spPr>
          <a:xfrm>
            <a:off x="476250" y="4686300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6CE87AC-E133-4954-87DD-C309AAB0F80C}"/>
              </a:ext>
            </a:extLst>
          </p:cNvPr>
          <p:cNvSpPr>
            <a:spLocks noGrp="1"/>
          </p:cNvSpPr>
          <p:nvPr/>
        </p:nvSpPr>
        <p:spPr>
          <a:xfrm>
            <a:off x="571500" y="4743450"/>
            <a:ext cx="2400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Diligência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2960E4FE-C88B-44D5-8720-0A83DEE5D34D}"/>
              </a:ext>
            </a:extLst>
          </p:cNvPr>
          <p:cNvSpPr>
            <a:spLocks noGrp="1"/>
          </p:cNvSpPr>
          <p:nvPr/>
        </p:nvSpPr>
        <p:spPr>
          <a:xfrm>
            <a:off x="3048000" y="4752975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EDEBEB6-7EBA-4EB3-BE57-6987A3A5AA7E}"/>
              </a:ext>
            </a:extLst>
          </p:cNvPr>
          <p:cNvSpPr>
            <a:spLocks noGrp="1"/>
          </p:cNvSpPr>
          <p:nvPr/>
        </p:nvSpPr>
        <p:spPr>
          <a:xfrm>
            <a:off x="3162300" y="4733925"/>
            <a:ext cx="8343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Uma diligência é uma solicitação objetiva de informação, estudo, validação ou decisão, acompanhada do responsável, da evidência esperada e do Produto que utilizará a resposta.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A461192-3906-4444-B63D-529962A16EAF}"/>
              </a:ext>
            </a:extLst>
          </p:cNvPr>
          <p:cNvSpPr>
            <a:spLocks noGrp="1"/>
          </p:cNvSpPr>
          <p:nvPr/>
        </p:nvSpPr>
        <p:spPr>
          <a:xfrm>
            <a:off x="476250" y="5305425"/>
            <a:ext cx="11144250" cy="581025"/>
          </a:xfrm>
          <a:prstGeom prst="roundRect">
            <a:avLst>
              <a:gd name="adj" fmla="val 655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AA86ECC-77F4-4852-AD16-916662902387}"/>
              </a:ext>
            </a:extLst>
          </p:cNvPr>
          <p:cNvSpPr>
            <a:spLocks noGrp="1"/>
          </p:cNvSpPr>
          <p:nvPr/>
        </p:nvSpPr>
        <p:spPr>
          <a:xfrm>
            <a:off x="571500" y="5362575"/>
            <a:ext cx="24003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Modelo macroscópico</a:t>
            </a:r>
          </a:p>
        </p:txBody>
      </p:sp>
      <p:sp>
        <p:nvSpPr>
          <p:cNvPr id="34" name="Conector reto 33">
            <a:extLst>
              <a:ext uri="{FF2B5EF4-FFF2-40B4-BE49-F238E27FC236}">
                <a16:creationId xmlns:a16="http://schemas.microsoft.com/office/drawing/2014/main" id="{6088FCA6-79F6-4B89-8341-C85F7566F78A}"/>
              </a:ext>
            </a:extLst>
          </p:cNvPr>
          <p:cNvSpPr>
            <a:spLocks noGrp="1"/>
          </p:cNvSpPr>
          <p:nvPr/>
        </p:nvSpPr>
        <p:spPr>
          <a:xfrm>
            <a:off x="3048000" y="5372100"/>
            <a:ext cx="0" cy="447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A4F350FB-324F-45AB-8809-5BB991D98B0F}"/>
              </a:ext>
            </a:extLst>
          </p:cNvPr>
          <p:cNvSpPr>
            <a:spLocks noGrp="1"/>
          </p:cNvSpPr>
          <p:nvPr/>
        </p:nvSpPr>
        <p:spPr>
          <a:xfrm>
            <a:off x="3162300" y="5353050"/>
            <a:ext cx="8343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modelo macroscópico de transportes representa fluxos e capacidades em escala estadual ou regional. Ele é adequado a intervenções estruturantes, mas não reproduz com precisão todas as obras locais ou ações institucionais.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0229D0ED-DB7C-438F-91E3-EC07493FBB5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1EC3D0D-6098-4A0E-A8E8-2380213400A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Essas definições acompanham toda a Nota Técnica e evitam que expressões metodológicas recebam interpretações diferentes entre as equipes.</a:t>
            </a:r>
          </a:p>
        </p:txBody>
      </p:sp>
    </p:spTree>
    <p:extLst>
      <p:ext uri="{BB962C8B-B14F-4D97-AF65-F5344CB8AC3E}">
        <p14:creationId xmlns:p14="http://schemas.microsoft.com/office/powerpoint/2010/main" val="25027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7451820-6EEA-40DB-BE77-8C83B9BCB8D4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804899D-B650-44E5-9C3B-1EC52C22248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7CF19B0-D76A-46D9-8F1A-DF2B3DAA01B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58DFC7-8880-46F5-90E8-54A5764FC1D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O PLI e a posição do D14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4B62E962-08A3-4660-9FBB-F0F70877B433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318244-9819-4439-873F-32282B6690E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49C5907-AE48-482F-AA4F-F94308B7E21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5B34179-0BFC-4A33-AAB6-D0F12B049216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PLI-SP 2050 organiza uma sequência de Produtos para transformar diagnósticos e propostas em programas de investimento que possam ser avaliados, priorizados e implementados pelo Estado.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105B238-6E49-42DE-9BAF-47E8A6F50ECD}"/>
              </a:ext>
            </a:extLst>
          </p:cNvPr>
          <p:cNvSpPr>
            <a:spLocks noGrp="1"/>
          </p:cNvSpPr>
          <p:nvPr/>
        </p:nvSpPr>
        <p:spPr>
          <a:xfrm>
            <a:off x="476250" y="2266950"/>
            <a:ext cx="11144250" cy="990600"/>
          </a:xfrm>
          <a:prstGeom prst="roundRect">
            <a:avLst>
              <a:gd name="adj" fmla="val 6731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8BA1246-D518-469B-86CC-D132705DAC92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143000" cy="762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D8–D11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71C2EE7-6262-4573-9458-430148C87518}"/>
              </a:ext>
            </a:extLst>
          </p:cNvPr>
          <p:cNvSpPr>
            <a:spLocks noGrp="1"/>
          </p:cNvSpPr>
          <p:nvPr/>
        </p:nvSpPr>
        <p:spPr>
          <a:xfrm>
            <a:off x="1905000" y="23526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Formação da carteira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16FDF86-F7EC-48F2-9AAE-D8DBBEF3FC3B}"/>
              </a:ext>
            </a:extLst>
          </p:cNvPr>
          <p:cNvSpPr>
            <a:spLocks noGrp="1"/>
          </p:cNvSpPr>
          <p:nvPr/>
        </p:nvSpPr>
        <p:spPr>
          <a:xfrm>
            <a:off x="1905000" y="2657475"/>
            <a:ext cx="9544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D8 a D10 estruturam o modelo, a demanda e a oferta de referência. O D11 reúne os problemas, as propostas e os condicionantes obtidos nas análises técnicas e nos processos de escuta.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00CB41B-7591-456C-81C4-820FDF9E7F62}"/>
              </a:ext>
            </a:extLst>
          </p:cNvPr>
          <p:cNvSpPr>
            <a:spLocks noGrp="1"/>
          </p:cNvSpPr>
          <p:nvPr/>
        </p:nvSpPr>
        <p:spPr>
          <a:xfrm>
            <a:off x="476250" y="3390900"/>
            <a:ext cx="11144250" cy="990600"/>
          </a:xfrm>
          <a:prstGeom prst="roundRect">
            <a:avLst>
              <a:gd name="adj" fmla="val 6731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522D423-00D7-4952-831F-F4A53CF49A33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1143000" cy="762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D12–D14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8BC18EF-1D4F-4ECB-B396-86D674676908}"/>
              </a:ext>
            </a:extLst>
          </p:cNvPr>
          <p:cNvSpPr>
            <a:spLocks noGrp="1"/>
          </p:cNvSpPr>
          <p:nvPr/>
        </p:nvSpPr>
        <p:spPr>
          <a:xfrm>
            <a:off x="1905000" y="34766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Qualificação dos projetos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2677E08-0A6E-43EB-86A1-54D738D8E56E}"/>
              </a:ext>
            </a:extLst>
          </p:cNvPr>
          <p:cNvSpPr>
            <a:spLocks noGrp="1"/>
          </p:cNvSpPr>
          <p:nvPr/>
        </p:nvSpPr>
        <p:spPr>
          <a:xfrm>
            <a:off x="1905000" y="3781425"/>
            <a:ext cx="9544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D12 simula as intervenções representáveis no modelo macroscópico da rede de transportes, o D13 interpreta os gargalos remanescentes e o D14 consolida todos os projetos que não foram excluídos na triagem preliminar do D11, tenham eles passado ou não pela simulação.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75B3208-40D1-4B93-AEFD-F5D73D620233}"/>
              </a:ext>
            </a:extLst>
          </p:cNvPr>
          <p:cNvSpPr>
            <a:spLocks noGrp="1"/>
          </p:cNvSpPr>
          <p:nvPr/>
        </p:nvSpPr>
        <p:spPr>
          <a:xfrm>
            <a:off x="476250" y="4514850"/>
            <a:ext cx="11144250" cy="1085850"/>
          </a:xfrm>
          <a:prstGeom prst="roundRect">
            <a:avLst>
              <a:gd name="adj" fmla="val 614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31DE7FB-AA8E-461B-A49A-CC5E0EADABC6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1143000" cy="8572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D15–D18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2143C71-A522-491B-8E78-5C4B25877110}"/>
              </a:ext>
            </a:extLst>
          </p:cNvPr>
          <p:cNvSpPr>
            <a:spLocks noGrp="1"/>
          </p:cNvSpPr>
          <p:nvPr/>
        </p:nvSpPr>
        <p:spPr>
          <a:xfrm>
            <a:off x="1905000" y="46005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Avaliação e programação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CA142A7-33AC-4B84-A2A0-B2E8397F416E}"/>
              </a:ext>
            </a:extLst>
          </p:cNvPr>
          <p:cNvSpPr>
            <a:spLocks noGrp="1"/>
          </p:cNvSpPr>
          <p:nvPr/>
        </p:nvSpPr>
        <p:spPr>
          <a:xfrm>
            <a:off x="1905000" y="4905375"/>
            <a:ext cx="95440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D15 e D16 acrescentam custos e resultados socioeconômicos, o D17 prioriza soluções dentro dos Programas de Estado e o D18 aprofunda os condicionantes jurídicos e institucionais que exigirem tratamento específico.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2E59632-1C65-45E8-B840-13295DCA8D9D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4573E10-8320-4DFC-A968-AF5D8B6C75BE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qualifica os projetos e prepara as evidências necessárias para as etapas seguintes. Ele não produz nota global, ranking ou decisão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74443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0BAE6BB-F6F2-47C5-8B19-FC0377DDDF7F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385C6F3-C1B5-4498-85A7-2EFB2AEFCD2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C3E35B6-1EF1-4485-BC18-AB3E45CFA9A5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5F78B8B-D622-44BE-A77C-6076C4D5DF8D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Entregas do D14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2A29DD80-3459-4567-B351-ED1C0723184E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2FC4B15-A2C4-44F4-9A2D-6182CAAE7D9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F15B730-8BB6-4B25-95BC-7CC96BEF1D9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D2BC285-6A01-4695-ADEC-580C98D36096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11144250" cy="10668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864A870-2DF4-48EE-8F32-9E7A8C8A6DD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14300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DADC436-CDDE-4B59-9C15-6530A4CA719D}"/>
              </a:ext>
            </a:extLst>
          </p:cNvPr>
          <p:cNvSpPr>
            <a:spLocks noGrp="1"/>
          </p:cNvSpPr>
          <p:nvPr/>
        </p:nvSpPr>
        <p:spPr>
          <a:xfrm>
            <a:off x="1905000" y="17811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FAP por projeto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27E999E-47E9-4A56-921A-272F48AB1A34}"/>
              </a:ext>
            </a:extLst>
          </p:cNvPr>
          <p:cNvSpPr>
            <a:spLocks noGrp="1"/>
          </p:cNvSpPr>
          <p:nvPr/>
        </p:nvSpPr>
        <p:spPr>
          <a:xfrm>
            <a:off x="1905000" y="2085975"/>
            <a:ext cx="9544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produzirá uma ficha sintética e páginas de detalhamento para cada projeto. O mesmo conteúdo alimentará o relatório em Word e a base estruturada em Excel.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A5898CA-31AE-4FA9-8855-38B8F9F8DBE8}"/>
              </a:ext>
            </a:extLst>
          </p:cNvPr>
          <p:cNvSpPr>
            <a:spLocks noGrp="1"/>
          </p:cNvSpPr>
          <p:nvPr/>
        </p:nvSpPr>
        <p:spPr>
          <a:xfrm>
            <a:off x="476250" y="2895600"/>
            <a:ext cx="11144250" cy="1066800"/>
          </a:xfrm>
          <a:prstGeom prst="roundRect">
            <a:avLst>
              <a:gd name="adj" fmla="val 625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147F5E0-395C-43D7-B399-2113A2DB3BF1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14300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BC45EC6-53BF-411F-B5FB-32A199A722B7}"/>
              </a:ext>
            </a:extLst>
          </p:cNvPr>
          <p:cNvSpPr>
            <a:spLocks noGrp="1"/>
          </p:cNvSpPr>
          <p:nvPr/>
        </p:nvSpPr>
        <p:spPr>
          <a:xfrm>
            <a:off x="1905000" y="29813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Base mestra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4794B4B-7EA9-478F-9227-E3BF3025469B}"/>
              </a:ext>
            </a:extLst>
          </p:cNvPr>
          <p:cNvSpPr>
            <a:spLocks noGrp="1"/>
          </p:cNvSpPr>
          <p:nvPr/>
        </p:nvSpPr>
        <p:spPr>
          <a:xfrm>
            <a:off x="1905000" y="3286125"/>
            <a:ext cx="9544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base mestra manterá um cadastro único dos projetos e armazenará indicadores, fontes, versões, relações, vínculos programáticos, riscos, lacunas de informação e diligências pendentes.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11CE344-F109-4897-8682-2432D4ECCE13}"/>
              </a:ext>
            </a:extLst>
          </p:cNvPr>
          <p:cNvSpPr>
            <a:spLocks noGrp="1"/>
          </p:cNvSpPr>
          <p:nvPr/>
        </p:nvSpPr>
        <p:spPr>
          <a:xfrm>
            <a:off x="476250" y="4095750"/>
            <a:ext cx="11144250" cy="1066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65A8AC5-90E3-4F0F-951F-7FDF578BBDE2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143000" cy="838200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D14BCE2-800A-4712-AF10-34F3F77AD838}"/>
              </a:ext>
            </a:extLst>
          </p:cNvPr>
          <p:cNvSpPr>
            <a:spLocks noGrp="1"/>
          </p:cNvSpPr>
          <p:nvPr/>
        </p:nvSpPr>
        <p:spPr>
          <a:xfrm>
            <a:off x="1905000" y="41814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Programas de Estado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E7E2929-AB52-4967-BBBC-5571F16C925B}"/>
              </a:ext>
            </a:extLst>
          </p:cNvPr>
          <p:cNvSpPr>
            <a:spLocks noGrp="1"/>
          </p:cNvSpPr>
          <p:nvPr/>
        </p:nvSpPr>
        <p:spPr>
          <a:xfrm>
            <a:off x="1905000" y="4486275"/>
            <a:ext cx="9544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organizará os projetos e as ações em programas finalísticos e habilitadores. Cada projeto continuará associado a uma única FAP, embora possa participar de vários programas.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46D4938-7FFB-4ABB-9682-3A777F2AD30D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00B9972-F3D6-4B3E-B5D2-FA67B5ED66B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produz a base comum que permite comparar alternativas sem apagar a diversidade dos projetos.</a:t>
            </a:r>
          </a:p>
        </p:txBody>
      </p:sp>
    </p:spTree>
    <p:extLst>
      <p:ext uri="{BB962C8B-B14F-4D97-AF65-F5344CB8AC3E}">
        <p14:creationId xmlns:p14="http://schemas.microsoft.com/office/powerpoint/2010/main" val="141006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2C98BC4-64F5-428A-B339-68051867C70E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68C9DC2-0A7F-4700-ACB2-B9B45B15A24C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2175BB3-E1B6-4F27-BB85-EFB88093CF1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8D4EFB2-E544-4963-B663-E1D4CAEFB75D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Escopo e limites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480D445-1F5D-44A5-A1D9-BAF2DE508765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104D84-AAAF-42F6-A68F-AAC334F0DBB9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0BA7988-37B7-473A-AE82-AA7C56C3B90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1C4BD2D-822E-407F-9D78-0802C6CF91FE}"/>
              </a:ext>
            </a:extLst>
          </p:cNvPr>
          <p:cNvSpPr>
            <a:spLocks noGrp="1"/>
          </p:cNvSpPr>
          <p:nvPr/>
        </p:nvSpPr>
        <p:spPr>
          <a:xfrm>
            <a:off x="476250" y="1714500"/>
            <a:ext cx="5381625" cy="4000500"/>
          </a:xfrm>
          <a:prstGeom prst="roundRect">
            <a:avLst>
              <a:gd name="adj" fmla="val 1905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2082C39-FEDB-4F26-9E78-67375EB873A0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381625" cy="4000500"/>
          </a:xfrm>
          <a:prstGeom prst="roundRect">
            <a:avLst>
              <a:gd name="adj" fmla="val 1905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AFA2E1D-1AAC-4811-A719-BE6563651FC7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realiza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374085-9DE5-48D5-A290-5FF094614185}"/>
              </a:ext>
            </a:extLst>
          </p:cNvPr>
          <p:cNvSpPr>
            <a:spLocks noGrp="1"/>
          </p:cNvSpPr>
          <p:nvPr/>
        </p:nvSpPr>
        <p:spPr>
          <a:xfrm>
            <a:off x="6353175" y="179070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que será realizado nos produtos seguintes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45AE84E-D2A8-4170-A68D-281735193D33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5153025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do D14 concilia os registros existentes e define com precisão qual objeto poderá ser avaliado e decidido pelo Governo.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o projeto tiver sido simulado, o D14 traduz os resultados do D12 e os pontos críticos do D13 para uma leitura utilizável nas etapas seguintes.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produz análises territoriais, ambientais, climáticas, atmosféricas, sociais, econômicas e institucionais compatíveis com a natureza de cada projeto.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registra a maturidade, as dependências, as restrições, as incertezas e as lacunas que condicionam a avaliação ou a implantação.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vincula cada projeto aos Programas de Estado em que ele desempenha uma função concreta.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E897925-1251-4B48-BFD2-52220B62DDC7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5153025" cy="3409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D15 estimará o investimento necessário, denominado CAPEX, e os custos de operação e manutenção, denominados OPEX.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D16 monetizará os benefícios defensáveis e calculará os indicadores de viabilidade socioeconômica.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D17 definirá, com orientação do Governo, os pesos dos critérios e realizará a hierarquização dentro de cada programa.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decisão de implantar, excluir ou definir o horizonte de implantação de cada projeto ocorrerá depois que custos, benefícios, riscos e prioridades tiverem sido analisados em conjunto.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BB57641-6851-49D0-84E3-88E274756A6C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AD81301-0D57-4459-83B8-06D28F0852A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1724"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título contratual “projetos selecionados” refere-se aos projetos mantidos na carteira após a triagem preliminar do D11, e não a uma seleção comparativa produzida pelo D14.</a:t>
            </a:r>
          </a:p>
        </p:txBody>
      </p:sp>
    </p:spTree>
    <p:extLst>
      <p:ext uri="{BB962C8B-B14F-4D97-AF65-F5344CB8AC3E}">
        <p14:creationId xmlns:p14="http://schemas.microsoft.com/office/powerpoint/2010/main" val="121313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D144A55-1543-432E-BF42-27F9133BDB13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E994E97-6315-4692-B79A-73008301296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C2C09D8-2DD8-4D3F-89EB-6BAE235A661A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42FFE5-B668-4E5B-90D4-DC0A239F0D1B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Lugar do D14 no PLI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A1EA0B0-D163-402E-B177-42854DB5D08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3C5AC0F-5F69-4A77-A081-009EB03E20B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27F34B8-EEE5-4EC1-B747-C4E7813E179C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409BF5C-BF9F-4276-A876-BB19839C92C3}"/>
              </a:ext>
            </a:extLst>
          </p:cNvPr>
          <p:cNvSpPr>
            <a:spLocks noGrp="1"/>
          </p:cNvSpPr>
          <p:nvPr/>
        </p:nvSpPr>
        <p:spPr>
          <a:xfrm>
            <a:off x="523875" y="1647825"/>
            <a:ext cx="109537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2593"/>
          </a:bodyPr>
          <a:lstStyle/>
          <a:p>
            <a:pPr algn="l">
              <a:lnSpc>
                <a:spcPct val="105000"/>
              </a:lnSpc>
              <a:buNone/>
              <a:defRPr sz="15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PLI percorre cinco objetivos complementares. O D14 ocupa a transição entre identificar e qualificar respostas e criar condições para sua avaliação e priorização.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5AF560D-ED29-4C63-B57B-9B0FC417EFBB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3613150" cy="1495425"/>
          </a:xfrm>
          <a:prstGeom prst="roundRect">
            <a:avLst>
              <a:gd name="adj" fmla="val 5732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C329DC6-A6EC-4AC7-B3D2-F31FDD68AAAE}"/>
              </a:ext>
            </a:extLst>
          </p:cNvPr>
          <p:cNvSpPr>
            <a:spLocks noGrp="1"/>
          </p:cNvSpPr>
          <p:nvPr/>
        </p:nvSpPr>
        <p:spPr>
          <a:xfrm>
            <a:off x="638175" y="24479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BC82A1A-1259-44D7-A6CD-FBA83301C083}"/>
              </a:ext>
            </a:extLst>
          </p:cNvPr>
          <p:cNvSpPr>
            <a:spLocks noGrp="1"/>
          </p:cNvSpPr>
          <p:nvPr/>
        </p:nvSpPr>
        <p:spPr>
          <a:xfrm>
            <a:off x="1076325" y="24193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Diagnosticar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AEC6B57-6868-4EB9-9C24-478CBE01C7BA}"/>
              </a:ext>
            </a:extLst>
          </p:cNvPr>
          <p:cNvSpPr>
            <a:spLocks noGrp="1"/>
          </p:cNvSpPr>
          <p:nvPr/>
        </p:nvSpPr>
        <p:spPr>
          <a:xfrm>
            <a:off x="676275" y="2867025"/>
            <a:ext cx="3308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iniciais descrevem a infraestrutura, os serviços e os problemas observados no sistema logístico atual.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C517FC1-7545-40A0-AC74-DBC2DEA0A82E}"/>
              </a:ext>
            </a:extLst>
          </p:cNvPr>
          <p:cNvSpPr>
            <a:spLocks noGrp="1"/>
          </p:cNvSpPr>
          <p:nvPr/>
        </p:nvSpPr>
        <p:spPr>
          <a:xfrm>
            <a:off x="4289425" y="2333625"/>
            <a:ext cx="3613150" cy="1495425"/>
          </a:xfrm>
          <a:prstGeom prst="roundRect">
            <a:avLst>
              <a:gd name="adj" fmla="val 5732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C1E5560-B2D6-4A73-80E5-D1F9EDAD8F41}"/>
              </a:ext>
            </a:extLst>
          </p:cNvPr>
          <p:cNvSpPr>
            <a:spLocks noGrp="1"/>
          </p:cNvSpPr>
          <p:nvPr/>
        </p:nvSpPr>
        <p:spPr>
          <a:xfrm>
            <a:off x="4403725" y="24479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9AC1DAA-4F23-497F-9813-98B60DC7A828}"/>
              </a:ext>
            </a:extLst>
          </p:cNvPr>
          <p:cNvSpPr>
            <a:spLocks noGrp="1"/>
          </p:cNvSpPr>
          <p:nvPr/>
        </p:nvSpPr>
        <p:spPr>
          <a:xfrm>
            <a:off x="4841875" y="24193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Antecipar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1FFCF61-8F89-4A77-9299-F07FE85C3343}"/>
              </a:ext>
            </a:extLst>
          </p:cNvPr>
          <p:cNvSpPr>
            <a:spLocks noGrp="1"/>
          </p:cNvSpPr>
          <p:nvPr/>
        </p:nvSpPr>
        <p:spPr>
          <a:xfrm>
            <a:off x="4441825" y="2867025"/>
            <a:ext cx="3308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projeções mostram como a demanda, a oferta e os desafios poderão evoluir até 2050.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8F3D0EF-C2B0-41E0-8083-3835D04E4AA6}"/>
              </a:ext>
            </a:extLst>
          </p:cNvPr>
          <p:cNvSpPr>
            <a:spLocks noGrp="1"/>
          </p:cNvSpPr>
          <p:nvPr/>
        </p:nvSpPr>
        <p:spPr>
          <a:xfrm>
            <a:off x="8054975" y="2333625"/>
            <a:ext cx="3613150" cy="1495425"/>
          </a:xfrm>
          <a:prstGeom prst="roundRect">
            <a:avLst>
              <a:gd name="adj" fmla="val 5732"/>
            </a:avLst>
          </a:prstGeom>
          <a:solidFill>
            <a:srgbClr val="E2F0D9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026F1B6-A84D-4BA8-BA62-3D37D8C78769}"/>
              </a:ext>
            </a:extLst>
          </p:cNvPr>
          <p:cNvSpPr>
            <a:spLocks noGrp="1"/>
          </p:cNvSpPr>
          <p:nvPr/>
        </p:nvSpPr>
        <p:spPr>
          <a:xfrm>
            <a:off x="8169275" y="24479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5542034-5FDF-4127-B206-CC77F08FF59A}"/>
              </a:ext>
            </a:extLst>
          </p:cNvPr>
          <p:cNvSpPr>
            <a:spLocks noGrp="1"/>
          </p:cNvSpPr>
          <p:nvPr/>
        </p:nvSpPr>
        <p:spPr>
          <a:xfrm>
            <a:off x="8607425" y="24193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Qualificar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296F55F-E1B6-47E3-9599-BC877111B113}"/>
              </a:ext>
            </a:extLst>
          </p:cNvPr>
          <p:cNvSpPr>
            <a:spLocks noGrp="1"/>
          </p:cNvSpPr>
          <p:nvPr/>
        </p:nvSpPr>
        <p:spPr>
          <a:xfrm>
            <a:off x="8207375" y="2867025"/>
            <a:ext cx="3308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organiza cada proposta, reúne suas evidências e explicita as condições necessárias para avaliá-la.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0D3E115-86AD-42AD-820B-85567BD266C0}"/>
              </a:ext>
            </a:extLst>
          </p:cNvPr>
          <p:cNvSpPr>
            <a:spLocks noGrp="1"/>
          </p:cNvSpPr>
          <p:nvPr/>
        </p:nvSpPr>
        <p:spPr>
          <a:xfrm>
            <a:off x="2406650" y="3981450"/>
            <a:ext cx="3613150" cy="1495425"/>
          </a:xfrm>
          <a:prstGeom prst="roundRect">
            <a:avLst>
              <a:gd name="adj" fmla="val 5732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0F3E04B-2C07-4B35-A6BC-20C436F19BE5}"/>
              </a:ext>
            </a:extLst>
          </p:cNvPr>
          <p:cNvSpPr>
            <a:spLocks noGrp="1"/>
          </p:cNvSpPr>
          <p:nvPr/>
        </p:nvSpPr>
        <p:spPr>
          <a:xfrm>
            <a:off x="2520950" y="4095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AB6B2CC-AA03-4D1F-9B5B-420636433930}"/>
              </a:ext>
            </a:extLst>
          </p:cNvPr>
          <p:cNvSpPr>
            <a:spLocks noGrp="1"/>
          </p:cNvSpPr>
          <p:nvPr/>
        </p:nvSpPr>
        <p:spPr>
          <a:xfrm>
            <a:off x="2959100" y="4067175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Avaliar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4370F2A-D796-4E29-99B4-1AD2C2D8793D}"/>
              </a:ext>
            </a:extLst>
          </p:cNvPr>
          <p:cNvSpPr>
            <a:spLocks noGrp="1"/>
          </p:cNvSpPr>
          <p:nvPr/>
        </p:nvSpPr>
        <p:spPr>
          <a:xfrm>
            <a:off x="2559050" y="4514850"/>
            <a:ext cx="3308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D15, D16 e D17 acrescentam custos, benefícios socioeconômicos e critérios de decisão definidos pelo Estado.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2D949D5-EDC7-4ACD-A160-69775C1583CE}"/>
              </a:ext>
            </a:extLst>
          </p:cNvPr>
          <p:cNvSpPr>
            <a:spLocks noGrp="1"/>
          </p:cNvSpPr>
          <p:nvPr/>
        </p:nvSpPr>
        <p:spPr>
          <a:xfrm>
            <a:off x="6172200" y="3981450"/>
            <a:ext cx="3613150" cy="1495425"/>
          </a:xfrm>
          <a:prstGeom prst="roundRect">
            <a:avLst>
              <a:gd name="adj" fmla="val 5732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427E2C6D-988D-48FE-84E2-C3BE09F20D5D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9CA0AA6-5FB9-4FCE-8C75-23E1BDB009B4}"/>
              </a:ext>
            </a:extLst>
          </p:cNvPr>
          <p:cNvSpPr>
            <a:spLocks noGrp="1"/>
          </p:cNvSpPr>
          <p:nvPr/>
        </p:nvSpPr>
        <p:spPr>
          <a:xfrm>
            <a:off x="6724650" y="4067175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0C18FBB-A2E7-4116-AF58-005292E7E071}"/>
              </a:ext>
            </a:extLst>
          </p:cNvPr>
          <p:cNvSpPr>
            <a:spLocks noGrp="1"/>
          </p:cNvSpPr>
          <p:nvPr/>
        </p:nvSpPr>
        <p:spPr>
          <a:xfrm>
            <a:off x="6324600" y="4514850"/>
            <a:ext cx="3308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PLI converte os resultados em carteiras de curto, médio e longo prazo para cada Programa de Estado.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747C0BD-1522-460A-8C38-A930809F916E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733A272-F57B-46F4-A160-4F3AC9012973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não encerra a decisão. Ele fornece a descrição, as evidências e os condicionantes necessários para que a decisão seja explicável.</a:t>
            </a:r>
          </a:p>
        </p:txBody>
      </p:sp>
    </p:spTree>
    <p:extLst>
      <p:ext uri="{BB962C8B-B14F-4D97-AF65-F5344CB8AC3E}">
        <p14:creationId xmlns:p14="http://schemas.microsoft.com/office/powerpoint/2010/main" val="731755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2B0DEC2-DE0A-48EE-9441-2A9B4F74008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F02585B-58D4-4EC6-A2D1-C9FDFD8BBB5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AC788EC-6028-48AB-AD00-8A3096024824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533400" cy="5200650"/>
          </a:xfrm>
          <a:prstGeom prst="rect">
            <a:avLst/>
          </a:prstGeom>
          <a:solidFill>
            <a:srgbClr val="55B77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39C2DD-F6F0-4017-BEE8-D54576582035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2000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defRPr>
            </a:pPr>
            <a:r>
              <a: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52A055-9CD2-4D6B-9093-381CFECFC55F}"/>
              </a:ext>
            </a:extLst>
          </p:cNvPr>
          <p:cNvSpPr>
            <a:spLocks noGrp="1"/>
          </p:cNvSpPr>
          <p:nvPr/>
        </p:nvSpPr>
        <p:spPr>
          <a:xfrm>
            <a:off x="2809875" y="1943100"/>
            <a:ext cx="809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Integração dos produtos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AE9F2BC6-3457-4AB8-9043-076241F7111E}"/>
              </a:ext>
            </a:extLst>
          </p:cNvPr>
          <p:cNvSpPr>
            <a:spLocks noGrp="1"/>
          </p:cNvSpPr>
          <p:nvPr/>
        </p:nvSpPr>
        <p:spPr>
          <a:xfrm>
            <a:off x="2857500" y="2924175"/>
            <a:ext cx="7810500" cy="0"/>
          </a:xfrm>
          <a:prstGeom prst="line">
            <a:avLst/>
          </a:prstGeom>
          <a:noFill/>
          <a:ln w="28575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80C0B46-DEED-4984-B39E-0E79C8378483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7715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57150" rIns="3810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recebe uma carteira heterogênea. Parte dos projetos chega acompanhada de simulações e diagnósticos de rede. Outra parte chega diretamente do D11 e recebe somente os blocos analíticos aplicáveis.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53001F3-04FB-4D03-A699-65C6583CD4A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8DF9B32-B78D-4AAE-8824-D889C8B8017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571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307F8C6-827F-4709-9BB2-A21A8F504A92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825FEBD-A5A6-4355-B019-A8B1C949E972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7A2923E-C6B6-47B9-9429-C3696B5F243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E0CAA7A-E047-425D-9B85-0D18C9FF957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Encadeamento do PLI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1D44883-2F9F-4343-B19D-D9D8053ECF3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AB0424-6C1A-4702-8EAA-1095DC319F0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C0A2ABE-AB9A-4F36-A8A2-62A4C34DB62C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69251AD-7E9C-4439-8C8A-6C69006EF0C6}"/>
              </a:ext>
            </a:extLst>
          </p:cNvPr>
          <p:cNvSpPr>
            <a:spLocks noGrp="1"/>
          </p:cNvSpPr>
          <p:nvPr/>
        </p:nvSpPr>
        <p:spPr>
          <a:xfrm>
            <a:off x="523875" y="1695450"/>
            <a:ext cx="3613150" cy="1519238"/>
          </a:xfrm>
          <a:prstGeom prst="roundRect">
            <a:avLst>
              <a:gd name="adj" fmla="val 5643"/>
            </a:avLst>
          </a:prstGeom>
          <a:solidFill>
            <a:srgbClr val="EEF1F3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75D981D-1F84-4771-9047-3688DE22E7A3}"/>
              </a:ext>
            </a:extLst>
          </p:cNvPr>
          <p:cNvSpPr>
            <a:spLocks noGrp="1"/>
          </p:cNvSpPr>
          <p:nvPr/>
        </p:nvSpPr>
        <p:spPr>
          <a:xfrm>
            <a:off x="638175" y="1809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C2E1D87-B74D-4B1F-A429-8A2CFDEE8B8C}"/>
              </a:ext>
            </a:extLst>
          </p:cNvPr>
          <p:cNvSpPr>
            <a:spLocks noGrp="1"/>
          </p:cNvSpPr>
          <p:nvPr/>
        </p:nvSpPr>
        <p:spPr>
          <a:xfrm>
            <a:off x="1076325" y="1781175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D8–D10 · Base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1E0C267-A8CE-408A-B615-03E78A3014D3}"/>
              </a:ext>
            </a:extLst>
          </p:cNvPr>
          <p:cNvSpPr>
            <a:spLocks noGrp="1"/>
          </p:cNvSpPr>
          <p:nvPr/>
        </p:nvSpPr>
        <p:spPr>
          <a:xfrm>
            <a:off x="676275" y="2228850"/>
            <a:ext cx="3308350" cy="871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Esses produtos constroem o modelo de transportes e definem a demanda futura e a oferta que servirá de referência para as comparações.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3B106C9-F761-43E0-8CB4-370D4B7951AD}"/>
              </a:ext>
            </a:extLst>
          </p:cNvPr>
          <p:cNvSpPr>
            <a:spLocks noGrp="1"/>
          </p:cNvSpPr>
          <p:nvPr/>
        </p:nvSpPr>
        <p:spPr>
          <a:xfrm>
            <a:off x="4289425" y="1695450"/>
            <a:ext cx="3613150" cy="1519238"/>
          </a:xfrm>
          <a:prstGeom prst="roundRect">
            <a:avLst>
              <a:gd name="adj" fmla="val 5643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03D6E34-D880-45DE-89A8-121DEC458811}"/>
              </a:ext>
            </a:extLst>
          </p:cNvPr>
          <p:cNvSpPr>
            <a:spLocks noGrp="1"/>
          </p:cNvSpPr>
          <p:nvPr/>
        </p:nvSpPr>
        <p:spPr>
          <a:xfrm>
            <a:off x="4403725" y="1809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E671A16-2EAA-4454-99F8-9253F36CB34C}"/>
              </a:ext>
            </a:extLst>
          </p:cNvPr>
          <p:cNvSpPr>
            <a:spLocks noGrp="1"/>
          </p:cNvSpPr>
          <p:nvPr/>
        </p:nvSpPr>
        <p:spPr>
          <a:xfrm>
            <a:off x="4841875" y="1781175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D11 · Origem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61A5D8A-A72F-4FA1-B403-C4C562C922DC}"/>
              </a:ext>
            </a:extLst>
          </p:cNvPr>
          <p:cNvSpPr>
            <a:spLocks noGrp="1"/>
          </p:cNvSpPr>
          <p:nvPr/>
        </p:nvSpPr>
        <p:spPr>
          <a:xfrm>
            <a:off x="4441825" y="2228850"/>
            <a:ext cx="3308350" cy="871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D11 transforma as escutas e os diagnósticos em temas, propostas e condicionantes que compõem a carteira inicial.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4BE0AF7-649F-4D63-9EFC-E3500F998CB4}"/>
              </a:ext>
            </a:extLst>
          </p:cNvPr>
          <p:cNvSpPr>
            <a:spLocks noGrp="1"/>
          </p:cNvSpPr>
          <p:nvPr/>
        </p:nvSpPr>
        <p:spPr>
          <a:xfrm>
            <a:off x="8054975" y="1695450"/>
            <a:ext cx="3613150" cy="1519238"/>
          </a:xfrm>
          <a:prstGeom prst="roundRect">
            <a:avLst>
              <a:gd name="adj" fmla="val 5643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C15E5D7-0EBD-4FD2-9572-13BFCC16C476}"/>
              </a:ext>
            </a:extLst>
          </p:cNvPr>
          <p:cNvSpPr>
            <a:spLocks noGrp="1"/>
          </p:cNvSpPr>
          <p:nvPr/>
        </p:nvSpPr>
        <p:spPr>
          <a:xfrm>
            <a:off x="8169275" y="1809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B0D68A4-D8ED-476E-9E81-6570B9743506}"/>
              </a:ext>
            </a:extLst>
          </p:cNvPr>
          <p:cNvSpPr>
            <a:spLocks noGrp="1"/>
          </p:cNvSpPr>
          <p:nvPr/>
        </p:nvSpPr>
        <p:spPr>
          <a:xfrm>
            <a:off x="8607425" y="1781175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D12–D13 · Teste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175901D-E4CC-49FB-8B4A-BC1DAC6D845E}"/>
              </a:ext>
            </a:extLst>
          </p:cNvPr>
          <p:cNvSpPr>
            <a:spLocks noGrp="1"/>
          </p:cNvSpPr>
          <p:nvPr/>
        </p:nvSpPr>
        <p:spPr>
          <a:xfrm>
            <a:off x="8207375" y="2228850"/>
            <a:ext cx="3308350" cy="871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D12 simula as alternativas representáveis na rede estadual ou regional, e o D13 interpreta os gargalos e as premissas que permanecem relevantes.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FED2298-8C16-4E28-A870-AD1BCAECD9AB}"/>
              </a:ext>
            </a:extLst>
          </p:cNvPr>
          <p:cNvSpPr>
            <a:spLocks noGrp="1"/>
          </p:cNvSpPr>
          <p:nvPr/>
        </p:nvSpPr>
        <p:spPr>
          <a:xfrm>
            <a:off x="2406650" y="3367088"/>
            <a:ext cx="3613150" cy="1519238"/>
          </a:xfrm>
          <a:prstGeom prst="roundRect">
            <a:avLst>
              <a:gd name="adj" fmla="val 5643"/>
            </a:avLst>
          </a:prstGeom>
          <a:solidFill>
            <a:srgbClr val="E2F0D9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DE0D521-BF64-4F40-8C7B-B3B160F51C9D}"/>
              </a:ext>
            </a:extLst>
          </p:cNvPr>
          <p:cNvSpPr>
            <a:spLocks noGrp="1"/>
          </p:cNvSpPr>
          <p:nvPr/>
        </p:nvSpPr>
        <p:spPr>
          <a:xfrm>
            <a:off x="2520950" y="3481388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AA9D2B2-37C6-4E65-A135-F91FF15F525A}"/>
              </a:ext>
            </a:extLst>
          </p:cNvPr>
          <p:cNvSpPr>
            <a:spLocks noGrp="1"/>
          </p:cNvSpPr>
          <p:nvPr/>
        </p:nvSpPr>
        <p:spPr>
          <a:xfrm>
            <a:off x="2959100" y="3452813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D14 · Consolidação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545E93F-2CD0-4687-A652-7255D8CEEF90}"/>
              </a:ext>
            </a:extLst>
          </p:cNvPr>
          <p:cNvSpPr>
            <a:spLocks noGrp="1"/>
          </p:cNvSpPr>
          <p:nvPr/>
        </p:nvSpPr>
        <p:spPr>
          <a:xfrm>
            <a:off x="2559050" y="3900488"/>
            <a:ext cx="3308350" cy="871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reúne a identidade, as evidências e as análises próprias na FAP e organiza os projetos em Programas de Estado.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55E35F5-ECBE-41BA-BD60-DF97ECB1FA58}"/>
              </a:ext>
            </a:extLst>
          </p:cNvPr>
          <p:cNvSpPr>
            <a:spLocks noGrp="1"/>
          </p:cNvSpPr>
          <p:nvPr/>
        </p:nvSpPr>
        <p:spPr>
          <a:xfrm>
            <a:off x="6172200" y="3367088"/>
            <a:ext cx="3613150" cy="1519238"/>
          </a:xfrm>
          <a:prstGeom prst="roundRect">
            <a:avLst>
              <a:gd name="adj" fmla="val 5643"/>
            </a:avLst>
          </a:prstGeom>
          <a:solidFill>
            <a:srgbClr val="EEF1F3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73BC2D3-2CCC-41C9-948F-A58A4CB055D8}"/>
              </a:ext>
            </a:extLst>
          </p:cNvPr>
          <p:cNvSpPr>
            <a:spLocks noGrp="1"/>
          </p:cNvSpPr>
          <p:nvPr/>
        </p:nvSpPr>
        <p:spPr>
          <a:xfrm>
            <a:off x="6286500" y="3481388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5D46D36-AD2A-413D-9DE5-B9C4E262DCEB}"/>
              </a:ext>
            </a:extLst>
          </p:cNvPr>
          <p:cNvSpPr>
            <a:spLocks noGrp="1"/>
          </p:cNvSpPr>
          <p:nvPr/>
        </p:nvSpPr>
        <p:spPr>
          <a:xfrm>
            <a:off x="6724650" y="3452813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D15–D17 · Avaliação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CFBE886-A278-4B09-962A-B40996AA354D}"/>
              </a:ext>
            </a:extLst>
          </p:cNvPr>
          <p:cNvSpPr>
            <a:spLocks noGrp="1"/>
          </p:cNvSpPr>
          <p:nvPr/>
        </p:nvSpPr>
        <p:spPr>
          <a:xfrm>
            <a:off x="6324600" y="3900488"/>
            <a:ext cx="3308350" cy="871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três produtos seguintes estimam custos, avaliam a viabilidade socioeconômica e hierarquizam soluções dentro dos programas.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CB83D7B-63BB-4937-A434-562D1EB35F4B}"/>
              </a:ext>
            </a:extLst>
          </p:cNvPr>
          <p:cNvSpPr>
            <a:spLocks noGrp="1"/>
          </p:cNvSpPr>
          <p:nvPr/>
        </p:nvSpPr>
        <p:spPr>
          <a:xfrm>
            <a:off x="1047750" y="5067300"/>
            <a:ext cx="10096500" cy="628650"/>
          </a:xfrm>
          <a:prstGeom prst="roundRect">
            <a:avLst>
              <a:gd name="adj" fmla="val 9091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D18 funciona como uma interface paralela e aprofunda os condicionantes jurídicos, institucionais e regulatórios que o D14 identifica nas FAPs.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193633E-420D-4DA3-A7DD-9E0EAE07338A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170AFD-5BAD-4B32-B7FD-92BB438E73DE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informação circula entre produtos, mas cada etapa mantém responsabilidade metodológica própria.</a:t>
            </a:r>
          </a:p>
        </p:txBody>
      </p:sp>
    </p:spTree>
    <p:extLst>
      <p:ext uri="{BB962C8B-B14F-4D97-AF65-F5344CB8AC3E}">
        <p14:creationId xmlns:p14="http://schemas.microsoft.com/office/powerpoint/2010/main" val="17775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6F945D1-9D17-485E-A6E6-DC1C3D30BF33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7CAC5B7-8F30-4A75-AA0F-96D581BDE0C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1A6611B-067A-4ABC-BBEA-8C6ED27658A3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84C7A0F-F5FC-4103-AE51-E294CB39C0D4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Base de modelagem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E0198C9-2FD9-4930-B2D3-5E90C733FEB5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4AD89B5-989F-481C-B44B-45685C46EE8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3FF2554-02C9-4EDD-BF93-F515D4D3237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89ECBCB-FA63-4973-8AD3-00A9D6BDB893}"/>
              </a:ext>
            </a:extLst>
          </p:cNvPr>
          <p:cNvSpPr>
            <a:spLocks noGrp="1"/>
          </p:cNvSpPr>
          <p:nvPr/>
        </p:nvSpPr>
        <p:spPr>
          <a:xfrm>
            <a:off x="476250" y="1743075"/>
            <a:ext cx="11144250" cy="1123950"/>
          </a:xfrm>
          <a:prstGeom prst="roundRect">
            <a:avLst>
              <a:gd name="adj" fmla="val 5932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81E43F8-9D48-4EED-9E81-E4FFF8213E57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143000" cy="89535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D8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60033F1-A6AA-4B4C-9577-2768C256413E}"/>
              </a:ext>
            </a:extLst>
          </p:cNvPr>
          <p:cNvSpPr>
            <a:spLocks noGrp="1"/>
          </p:cNvSpPr>
          <p:nvPr/>
        </p:nvSpPr>
        <p:spPr>
          <a:xfrm>
            <a:off x="1905000" y="18288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Modelo de transportes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E5AC8D1-1F10-4A31-B46B-5747BB42E0B1}"/>
              </a:ext>
            </a:extLst>
          </p:cNvPr>
          <p:cNvSpPr>
            <a:spLocks noGrp="1"/>
          </p:cNvSpPr>
          <p:nvPr/>
        </p:nvSpPr>
        <p:spPr>
          <a:xfrm>
            <a:off x="1905000" y="2133600"/>
            <a:ext cx="95440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D8 representa a rede, os fluxos entre origens e destinos e as decisões de rota e modo de transporte. O modelo é ajustado para reproduzir o ano-base e calcula o custo percebido das viagens, que combina tempo, tarifa, distância, confiabilidade e outros componentes. Ele fornece a infraestrutura computacional das análises, mas não formula nem seleciona projetos.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C0AF6A1-DD5E-4EA8-9765-457C24CD31CC}"/>
              </a:ext>
            </a:extLst>
          </p:cNvPr>
          <p:cNvSpPr>
            <a:spLocks noGrp="1"/>
          </p:cNvSpPr>
          <p:nvPr/>
        </p:nvSpPr>
        <p:spPr>
          <a:xfrm>
            <a:off x="476250" y="3009900"/>
            <a:ext cx="11144250" cy="1123950"/>
          </a:xfrm>
          <a:prstGeom prst="roundRect">
            <a:avLst>
              <a:gd name="adj" fmla="val 593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3893C86-C2C7-453F-A373-B99D715C60A4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1143000" cy="89535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D9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BC1F388-72FB-4F3B-AD7D-7D303D3E4B93}"/>
              </a:ext>
            </a:extLst>
          </p:cNvPr>
          <p:cNvSpPr>
            <a:spLocks noGrp="1"/>
          </p:cNvSpPr>
          <p:nvPr/>
        </p:nvSpPr>
        <p:spPr>
          <a:xfrm>
            <a:off x="1905000" y="30956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Demanda futura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22BBE12-56E8-4D56-A373-A10752B4DA00}"/>
              </a:ext>
            </a:extLst>
          </p:cNvPr>
          <p:cNvSpPr>
            <a:spLocks noGrp="1"/>
          </p:cNvSpPr>
          <p:nvPr/>
        </p:nvSpPr>
        <p:spPr>
          <a:xfrm>
            <a:off x="1905000" y="3400425"/>
            <a:ext cx="95440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D9 projeta a demanda tendencial de cargas e passageiros para os horizontes do PLI. O D12 utiliza a mesma demanda em todas as alternativas de oferta de um mesmo horizonte.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3B2D836-4F8C-48E1-B9F4-6F255D9196C6}"/>
              </a:ext>
            </a:extLst>
          </p:cNvPr>
          <p:cNvSpPr>
            <a:spLocks noGrp="1"/>
          </p:cNvSpPr>
          <p:nvPr/>
        </p:nvSpPr>
        <p:spPr>
          <a:xfrm>
            <a:off x="476250" y="4276725"/>
            <a:ext cx="11144250" cy="1257300"/>
          </a:xfrm>
          <a:prstGeom prst="roundRect">
            <a:avLst>
              <a:gd name="adj" fmla="val 5303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2C4FE7C-7636-4397-B914-829369C30088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114300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D10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CA4BB44-E779-47C6-850A-629A1BB6E89C}"/>
              </a:ext>
            </a:extLst>
          </p:cNvPr>
          <p:cNvSpPr>
            <a:spLocks noGrp="1"/>
          </p:cNvSpPr>
          <p:nvPr/>
        </p:nvSpPr>
        <p:spPr>
          <a:xfrm>
            <a:off x="1905000" y="436245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Oferta futura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C44920F-2AA1-47C5-B36A-95DC972618B6}"/>
              </a:ext>
            </a:extLst>
          </p:cNvPr>
          <p:cNvSpPr>
            <a:spLocks noGrp="1"/>
          </p:cNvSpPr>
          <p:nvPr/>
        </p:nvSpPr>
        <p:spPr>
          <a:xfrm>
            <a:off x="1905000" y="4667250"/>
            <a:ext cx="95440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D10 organiza a rede atual e as obras comprometidas, incluindo iniciativas contratadas, em licitação ou governamentais em estágio avançado. Essas obras integram a situação de referência, denominada contrafactual, e não podem ser atribuídas aos projetos do PLI.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19DB66A-D5B0-41E1-AFBF-2E07472D0915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A77EFE3-2B4C-488A-A102-DF36AF795CFC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Uma base comum evita que crescimento da demanda ou obras independentes sejam contabilizados como efeito do projeto analisado.</a:t>
            </a:r>
          </a:p>
        </p:txBody>
      </p:sp>
    </p:spTree>
    <p:extLst>
      <p:ext uri="{BB962C8B-B14F-4D97-AF65-F5344CB8AC3E}">
        <p14:creationId xmlns:p14="http://schemas.microsoft.com/office/powerpoint/2010/main" val="72142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09D4A13-2E58-4190-925F-05B586E0409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4C4E8DD-00B3-4808-8845-3D7F19E6065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C1E2684-B825-4097-8577-1DAF68C2994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D00F45E-8DBE-4469-9461-A768CAE68EEF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A matéria-prima do D11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D2FF8F95-8288-46D9-80AA-E72CC0A57A3D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DC677FD-4B70-414A-996F-D4221A7AA2D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2F00F6-69F3-4508-B493-4539A4A2038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DC9985E-EF9F-4D50-939F-307C7050206F}"/>
              </a:ext>
            </a:extLst>
          </p:cNvPr>
          <p:cNvSpPr>
            <a:spLocks noGrp="1"/>
          </p:cNvSpPr>
          <p:nvPr/>
        </p:nvSpPr>
        <p:spPr>
          <a:xfrm>
            <a:off x="523875" y="1647825"/>
            <a:ext cx="10953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D11 reúne propostas e condicionantes provenientes de diferentes processos de escuta e análise. A presença de uma proposta no D11 preserva sua origem e justifica sua avaliação, mas não representa decisão sobre implantação ou prioridade.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EBD79FE-D21E-4DF9-8D47-6259A66D6203}"/>
              </a:ext>
            </a:extLst>
          </p:cNvPr>
          <p:cNvSpPr>
            <a:spLocks noGrp="1"/>
          </p:cNvSpPr>
          <p:nvPr/>
        </p:nvSpPr>
        <p:spPr>
          <a:xfrm>
            <a:off x="476250" y="2686050"/>
            <a:ext cx="5381625" cy="3048000"/>
          </a:xfrm>
          <a:prstGeom prst="roundRect">
            <a:avLst>
              <a:gd name="adj" fmla="val 25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CA8172D-CACB-421E-9CDF-45B5B4AE36D2}"/>
              </a:ext>
            </a:extLst>
          </p:cNvPr>
          <p:cNvSpPr>
            <a:spLocks noGrp="1"/>
          </p:cNvSpPr>
          <p:nvPr/>
        </p:nvSpPr>
        <p:spPr>
          <a:xfrm>
            <a:off x="6238875" y="2686050"/>
            <a:ext cx="5381625" cy="3048000"/>
          </a:xfrm>
          <a:prstGeom prst="roundRect">
            <a:avLst>
              <a:gd name="adj" fmla="val 25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3083EBF-D288-4DD6-A228-D8C32C9A6D07}"/>
              </a:ext>
            </a:extLst>
          </p:cNvPr>
          <p:cNvSpPr>
            <a:spLocks noGrp="1"/>
          </p:cNvSpPr>
          <p:nvPr/>
        </p:nvSpPr>
        <p:spPr>
          <a:xfrm>
            <a:off x="590550" y="27622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Fontes principais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417054-A523-4CA4-835D-3C2ED20C2A3D}"/>
              </a:ext>
            </a:extLst>
          </p:cNvPr>
          <p:cNvSpPr>
            <a:spLocks noGrp="1"/>
          </p:cNvSpPr>
          <p:nvPr/>
        </p:nvSpPr>
        <p:spPr>
          <a:xfrm>
            <a:off x="6353175" y="27622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Tratamento no D14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63FA8C-16C4-4405-8921-41712B92A8E8}"/>
              </a:ext>
            </a:extLst>
          </p:cNvPr>
          <p:cNvSpPr>
            <a:spLocks noGrp="1"/>
          </p:cNvSpPr>
          <p:nvPr/>
        </p:nvSpPr>
        <p:spPr>
          <a:xfrm>
            <a:off x="590550" y="3181350"/>
            <a:ext cx="5153025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encontros setoriais registram as percepções e as propostas de embarcadores, indústrias, operadores e representantes institucionais.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workshops regionais identificam necessidades específicas dos diferentes territórios do Estado.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interlocução com órgãos e empresas públicas incorpora o conhecimento das instituições que executam diretamente as políticas estaduais.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anteriores também fornecem evidências sobre tendências tecnológicas, energéticas, produtivas e institucionais.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BF089D-ACB5-49E0-A88C-ABF8F46F960B}"/>
              </a:ext>
            </a:extLst>
          </p:cNvPr>
          <p:cNvSpPr>
            <a:spLocks noGrp="1"/>
          </p:cNvSpPr>
          <p:nvPr/>
        </p:nvSpPr>
        <p:spPr>
          <a:xfrm>
            <a:off x="6353175" y="3181350"/>
            <a:ext cx="5153025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padroniza a denominação de cada projeto sem eliminar o nome utilizado pela fonte original.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define se o objeto corresponde a um projeto isolado, a um componente, a uma alternativa ou a um sistema formado por vários projetos.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explica o propósito, o mecanismo esperado de mudança e os grupos que poderão ser beneficiados ou afetados.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distingue as afirmações apoiadas por evidência das questões que ainda exigem estudo ou validação.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985C7D7-F4C0-4544-8A12-FD56C35D3F84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22DD04A-98F5-4BE1-85A9-B6A1CEE9242A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D11 fornece a carteira bruta. O D14 transforma essa carteira em objetos analíticos documentados.</a:t>
            </a:r>
          </a:p>
        </p:txBody>
      </p:sp>
    </p:spTree>
    <p:extLst>
      <p:ext uri="{BB962C8B-B14F-4D97-AF65-F5344CB8AC3E}">
        <p14:creationId xmlns:p14="http://schemas.microsoft.com/office/powerpoint/2010/main" val="77086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9ACC17C-20D2-4368-A805-F5E741EE3C4F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2C28E66-C723-46F8-A459-36513A95CE2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7801143-2686-48E9-9A9B-F4F83F7F5E7C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4A47EA6-6717-4459-BCDB-2361D2140C5B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Base cadastral atual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444C1B7B-A733-4784-A797-68D42BCFEAA7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71170FA-2357-496D-82F4-D56425D50D3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75C3C43-839C-496B-AE0C-9848E86749E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1436178-2617-4445-91EE-2D96F5638F59}"/>
              </a:ext>
            </a:extLst>
          </p:cNvPr>
          <p:cNvSpPr>
            <a:spLocks noGrp="1"/>
          </p:cNvSpPr>
          <p:nvPr/>
        </p:nvSpPr>
        <p:spPr>
          <a:xfrm>
            <a:off x="571500" y="1828800"/>
            <a:ext cx="1428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4726"/>
          </a:bodyPr>
          <a:lstStyle/>
          <a:p>
            <a:pPr algn="ctr">
              <a:lnSpc>
                <a:spcPct val="105000"/>
              </a:lnSpc>
              <a:buNone/>
              <a:defRPr sz="46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33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0D98C1F-DEAC-4024-B099-C9AAADE746BC}"/>
              </a:ext>
            </a:extLst>
          </p:cNvPr>
          <p:cNvSpPr>
            <a:spLocks noGrp="1"/>
          </p:cNvSpPr>
          <p:nvPr/>
        </p:nvSpPr>
        <p:spPr>
          <a:xfrm>
            <a:off x="571500" y="2619375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7462"/>
          </a:bodyPr>
          <a:lstStyle/>
          <a:p>
            <a:pPr algn="ctr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versão atual da base contém 33 temas, incluindo T32 e T33.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61EAD01-65EA-419C-9F96-C5DBFD68DA0A}"/>
              </a:ext>
            </a:extLst>
          </p:cNvPr>
          <p:cNvSpPr>
            <a:spLocks noGrp="1"/>
          </p:cNvSpPr>
          <p:nvPr/>
        </p:nvSpPr>
        <p:spPr>
          <a:xfrm>
            <a:off x="2476500" y="1828800"/>
            <a:ext cx="1428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4726"/>
          </a:bodyPr>
          <a:lstStyle/>
          <a:p>
            <a:pPr algn="ctr">
              <a:lnSpc>
                <a:spcPct val="105000"/>
              </a:lnSpc>
              <a:buNone/>
              <a:defRPr sz="4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257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17F1398-CC02-4F5B-BA27-3A8AE4188C64}"/>
              </a:ext>
            </a:extLst>
          </p:cNvPr>
          <p:cNvSpPr>
            <a:spLocks noGrp="1"/>
          </p:cNvSpPr>
          <p:nvPr/>
        </p:nvSpPr>
        <p:spPr>
          <a:xfrm>
            <a:off x="2476500" y="2619375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4566"/>
          </a:bodyPr>
          <a:lstStyle/>
          <a:p>
            <a:pPr algn="ctr">
              <a:lnSpc>
                <a:spcPct val="105000"/>
              </a:lnSpc>
              <a:buNone/>
              <a:defRPr sz="113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3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Caderno de Ações registra 257 entradas com código próprio.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2E82E45-8DB5-4D87-A083-D3BA171FE1BC}"/>
              </a:ext>
            </a:extLst>
          </p:cNvPr>
          <p:cNvSpPr>
            <a:spLocks noGrp="1"/>
          </p:cNvSpPr>
          <p:nvPr/>
        </p:nvSpPr>
        <p:spPr>
          <a:xfrm>
            <a:off x="4381500" y="1828800"/>
            <a:ext cx="1428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4726"/>
          </a:bodyPr>
          <a:lstStyle/>
          <a:p>
            <a:pPr algn="ctr">
              <a:lnSpc>
                <a:spcPct val="105000"/>
              </a:lnSpc>
              <a:buNone/>
              <a:defRPr sz="46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246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F496E3-A31F-4C36-AB75-22B69F732756}"/>
              </a:ext>
            </a:extLst>
          </p:cNvPr>
          <p:cNvSpPr>
            <a:spLocks noGrp="1"/>
          </p:cNvSpPr>
          <p:nvPr/>
        </p:nvSpPr>
        <p:spPr>
          <a:xfrm>
            <a:off x="4381500" y="2619375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2126"/>
          </a:bodyPr>
          <a:lstStyle/>
          <a:p>
            <a:pPr algn="ctr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reúne 246 intervenções de natureza física.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E7ED618-8E13-4B1F-8C6B-B076206A3209}"/>
              </a:ext>
            </a:extLst>
          </p:cNvPr>
          <p:cNvSpPr>
            <a:spLocks noGrp="1"/>
          </p:cNvSpPr>
          <p:nvPr/>
        </p:nvSpPr>
        <p:spPr>
          <a:xfrm>
            <a:off x="6286500" y="1828800"/>
            <a:ext cx="1428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4726"/>
          </a:bodyPr>
          <a:lstStyle/>
          <a:p>
            <a:pPr algn="ctr">
              <a:lnSpc>
                <a:spcPct val="105000"/>
              </a:lnSpc>
              <a:buNone/>
              <a:defRPr sz="4650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D1D0EE3-7F4A-4967-A78B-D87F9FAACB7B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2394"/>
          </a:bodyPr>
          <a:lstStyle/>
          <a:p>
            <a:pPr algn="ctr">
              <a:lnSpc>
                <a:spcPct val="105000"/>
              </a:lnSpc>
              <a:buNone/>
              <a:defRPr sz="111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1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Onze registros do grupo cadastral A7 correspondem a ações institucionais ou regulatórias.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E462C64-D56D-41D4-B0CE-E041060A035C}"/>
              </a:ext>
            </a:extLst>
          </p:cNvPr>
          <p:cNvSpPr>
            <a:spLocks noGrp="1"/>
          </p:cNvSpPr>
          <p:nvPr/>
        </p:nvSpPr>
        <p:spPr>
          <a:xfrm>
            <a:off x="8191500" y="1828800"/>
            <a:ext cx="17621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43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46,7%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B414F1F-6649-475C-AA27-FC37C994A999}"/>
              </a:ext>
            </a:extLst>
          </p:cNvPr>
          <p:cNvSpPr>
            <a:spLocks noGrp="1"/>
          </p:cNvSpPr>
          <p:nvPr/>
        </p:nvSpPr>
        <p:spPr>
          <a:xfrm>
            <a:off x="8191500" y="2619375"/>
            <a:ext cx="1762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1390"/>
          </a:bodyPr>
          <a:lstStyle/>
          <a:p>
            <a:pPr algn="ctr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Quase metade dos projetos físicos já se relaciona com dois ou três temas.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0D5078C-366E-48A9-9774-24FE29023937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10572750" cy="1581150"/>
          </a:xfrm>
          <a:prstGeom prst="roundRect">
            <a:avLst>
              <a:gd name="adj" fmla="val 421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1DA37CA-A28F-429A-B26A-CB7511EBADFA}"/>
              </a:ext>
            </a:extLst>
          </p:cNvPr>
          <p:cNvSpPr>
            <a:spLocks noGrp="1"/>
          </p:cNvSpPr>
          <p:nvPr/>
        </p:nvSpPr>
        <p:spPr>
          <a:xfrm>
            <a:off x="838200" y="3705225"/>
            <a:ext cx="2333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3795"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Pontos de conciliação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7862DB3-0A63-4B24-B838-CCF9EB23DE3D}"/>
              </a:ext>
            </a:extLst>
          </p:cNvPr>
          <p:cNvSpPr>
            <a:spLocks noGrp="1"/>
          </p:cNvSpPr>
          <p:nvPr/>
        </p:nvSpPr>
        <p:spPr>
          <a:xfrm>
            <a:off x="3190875" y="3638550"/>
            <a:ext cx="790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base atual acrescentou o Tema T32, relacionado ao Plano Integrado de Transportes Urbanos, e o Tema T33, relacionado a ferrovias federais ou externas. A referência anterior de 31 temas deve ser atualizada.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registro cadastral B1.1.2 ainda não pôde ser associado a uma iniciativa nomeada no Caderno de Ações. Ele permanecerá marcado como “em conciliação” até que a equipe identifique o objeto correspondente.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Uma relação com mais de um tema ou programa não cria um novo projeto. Cada identificador mantém uma única FAP.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CBB1DC3-CDE8-4131-8A56-37441F1A68C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17DFFCF-807A-4B51-A9A5-0A28A7B7D81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3445"/>
          </a:bodyPr>
          <a:lstStyle/>
          <a:p>
            <a:pPr algn="l">
              <a:lnSpc>
                <a:spcPct val="105000"/>
              </a:lnSpc>
              <a:buNone/>
              <a:defRPr sz="1177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77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quantitativos correspondem ao retrato cadastral e ao Caderno de Ações recebidos em 4 de setembro de 2026. A primeira tarefa da FAP consiste em estabilizar a identidade do projeto antes de avaliar seus efeitos.</a:t>
            </a:r>
          </a:p>
        </p:txBody>
      </p:sp>
    </p:spTree>
    <p:extLst>
      <p:ext uri="{BB962C8B-B14F-4D97-AF65-F5344CB8AC3E}">
        <p14:creationId xmlns:p14="http://schemas.microsoft.com/office/powerpoint/2010/main" val="131406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990B802-44C3-47C7-AC98-C9D10F72564F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920F36F-666A-47C9-B5C8-73BC62A76FAA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0A1C221-EA01-4B1C-9053-F2C522D7187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1B2BE06-E77B-4966-A521-851A25449A7B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Duas rotas analíticas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D404665C-206C-47A0-8243-5104C2CC326A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013416-4C8A-4E8A-928C-B76811180D6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A7E127-1C92-476A-B45A-C414DBB16C0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14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71CC992-19A8-43E9-9D83-6E2923E8705D}"/>
              </a:ext>
            </a:extLst>
          </p:cNvPr>
          <p:cNvSpPr>
            <a:spLocks noGrp="1"/>
          </p:cNvSpPr>
          <p:nvPr/>
        </p:nvSpPr>
        <p:spPr>
          <a:xfrm>
            <a:off x="476250" y="1790700"/>
            <a:ext cx="5381625" cy="3371850"/>
          </a:xfrm>
          <a:prstGeom prst="roundRect">
            <a:avLst>
              <a:gd name="adj" fmla="val 226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6A529A0-0EF1-4C63-B5D9-A54382564D71}"/>
              </a:ext>
            </a:extLst>
          </p:cNvPr>
          <p:cNvSpPr>
            <a:spLocks noGrp="1"/>
          </p:cNvSpPr>
          <p:nvPr/>
        </p:nvSpPr>
        <p:spPr>
          <a:xfrm>
            <a:off x="6238875" y="1790700"/>
            <a:ext cx="5381625" cy="3371850"/>
          </a:xfrm>
          <a:prstGeom prst="roundRect">
            <a:avLst>
              <a:gd name="adj" fmla="val 226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47F68F5-33EF-40EF-9B44-06D2A297F7BF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simulados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019C791-303E-4C73-8F59-932EA8FB1B01}"/>
              </a:ext>
            </a:extLst>
          </p:cNvPr>
          <p:cNvSpPr>
            <a:spLocks noGrp="1"/>
          </p:cNvSpPr>
          <p:nvPr/>
        </p:nvSpPr>
        <p:spPr>
          <a:xfrm>
            <a:off x="6353175" y="186690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não simulados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B97E046-6664-478A-BF7E-0F74464224FB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5153025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Esses projetos são identificados no D11, representados na simulação do D12, examinados quanto aos gargalos no D13 e consolidados no D14. Essa rota abrange intervenções estruturantes que podem ser representadas no modelo macroscópico da rede de transportes.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7B4E62C-E435-4100-A4FE-699F01D290BF}"/>
              </a:ext>
            </a:extLst>
          </p:cNvPr>
          <p:cNvSpPr>
            <a:spLocks noGrp="1"/>
          </p:cNvSpPr>
          <p:nvPr/>
        </p:nvSpPr>
        <p:spPr>
          <a:xfrm>
            <a:off x="6353175" y="2286000"/>
            <a:ext cx="5153025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Esses projetos são identificados no D11 e seguem diretamente para o D14. Essa rota abrange intervenções físicas de menor escala, ações institucionais, regulatórias, financeiras, digitais ou operacionais e iniciativas ainda insuficientemente definidas para uma representação confiável no modelo.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5CD44DE-0763-412C-B9BE-A74D33F96759}"/>
              </a:ext>
            </a:extLst>
          </p:cNvPr>
          <p:cNvSpPr>
            <a:spLocks noGrp="1"/>
          </p:cNvSpPr>
          <p:nvPr/>
        </p:nvSpPr>
        <p:spPr>
          <a:xfrm>
            <a:off x="1047750" y="5314950"/>
            <a:ext cx="1009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8039"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estrutura cadastral permanece comum. Campos não aplicáveis são registrados como N/A. Informações ainda ausentes são registradas como N/D. “Não simulado” descreve o percurso metodológico e não o mérito do projeto.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C88736A-1658-452E-854A-E42E1A82902C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AAB75B2-1539-4413-B813-CF6757BC53BE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profundidade da análise varia, mas a rastreabilidade e as regras de registro permanecem iguais.</a:t>
            </a:r>
          </a:p>
        </p:txBody>
      </p:sp>
    </p:spTree>
    <p:extLst>
      <p:ext uri="{BB962C8B-B14F-4D97-AF65-F5344CB8AC3E}">
        <p14:creationId xmlns:p14="http://schemas.microsoft.com/office/powerpoint/2010/main" val="8945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30740C1-3CFD-4053-8BBA-E9371447D26E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1363BE3-842D-4A4C-B0BF-7C42D6BD82A9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F8F36E9-9BEF-4983-BCA6-FC8C6DAF80DB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D24155F-BC74-4906-B249-89B6D71418F8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Resultados do D12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93ADB9F1-437B-4819-808A-9D37246437B5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F7ADF4-DE20-4D53-9A45-C5213256606D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3D1B3E1-7455-4A58-8547-13FFC4D128E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9B00853-512B-4A69-83D5-4B87990B932E}"/>
              </a:ext>
            </a:extLst>
          </p:cNvPr>
          <p:cNvSpPr>
            <a:spLocks noGrp="1"/>
          </p:cNvSpPr>
          <p:nvPr/>
        </p:nvSpPr>
        <p:spPr>
          <a:xfrm>
            <a:off x="476250" y="1714500"/>
            <a:ext cx="5381625" cy="4048125"/>
          </a:xfrm>
          <a:prstGeom prst="roundRect">
            <a:avLst>
              <a:gd name="adj" fmla="val 1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6DF5C05-2239-4165-9467-A3C4EC3BD3E5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381625" cy="4048125"/>
          </a:xfrm>
          <a:prstGeom prst="roundRect">
            <a:avLst>
              <a:gd name="adj" fmla="val 188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8A617A9-AD23-47C9-91DB-EB114BD4AF12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Arquitetura de comparação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AE3BFE8-61E5-44D5-9BE0-24613C5EE3C4}"/>
              </a:ext>
            </a:extLst>
          </p:cNvPr>
          <p:cNvSpPr>
            <a:spLocks noGrp="1"/>
          </p:cNvSpPr>
          <p:nvPr/>
        </p:nvSpPr>
        <p:spPr>
          <a:xfrm>
            <a:off x="6353175" y="179070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Indicadores que chegam à FAP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B78ED20-908A-4ACD-B4F8-AF6457B2258F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5153025" cy="3457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C0: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cenário combina a demanda futura com a oferta existente e revela onde poderão surgir ou se agravar os estrangulamentos.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CMIN: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cenário acrescenta à oferta atual as obras comprometidas e funciona como o contrafactual comum para a avaliação dos projetos.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CK: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cenário CK acrescenta ao CMIN o projeto ou o pacote coerente que a equipe deseja examinar.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modelo utiliza 2023 como ano-base e produz resultados para 2028, 2033, 2038, 2043 e 2050.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8FC933A-683C-4819-9837-B4EC92FBD410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5153025" cy="3457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recebe os volumes de carga e de passageiros desagregados por modo de transporte, corredor e horizonte de análise.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resultados incluem distâncias e tempos acumulados pelos veículos, além de velocidades e custos de transporte calculados pelo modelo.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registra o fluxo alocado a cada trecho, a parcela da capacidade disponível que foi utilizada e o nível de serviço observado nos trechos relevantes.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identifica transferências entre rotas ou modos de transporte e verifica efeitos que aparecem antes ou depois do trecho diretamente tratado.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efeito é apresentado como uma variação em relação ao mesmo cenário de referência, o que permite comparar alternativas de forma consistente.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E7A7EF0-D5A4-4E65-B7B4-BAA04E5A1C91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9474786-5AFF-4386-889C-95BD90F140C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D12 mede mudanças técnicas da rede. O benefício socioeconômico será examinado no D16.</a:t>
            </a:r>
          </a:p>
        </p:txBody>
      </p:sp>
    </p:spTree>
    <p:extLst>
      <p:ext uri="{BB962C8B-B14F-4D97-AF65-F5344CB8AC3E}">
        <p14:creationId xmlns:p14="http://schemas.microsoft.com/office/powerpoint/2010/main" val="57909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B364954-037B-40D4-8C50-A900E6988C2E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AA5F800-A2F6-4577-AEAB-DE81D4493C4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02D7EA6-0950-47F5-93F4-AE13480DE26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A52EF17-06A6-49B1-A2EA-A56251E51F0F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Pontos críticos do D13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5A97AFDD-A971-4435-942E-F92A6FA8A85B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5090A7-9D15-43E4-A4AC-746E6ADAA32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37CDFA3-5DA8-4EF7-BEFD-69F0CFCFAB3E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16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8526A22-CD2F-48DF-85CE-AC3CC0499F62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B98B081-3560-4792-AFF2-3F1FAC54A150}"/>
              </a:ext>
            </a:extLst>
          </p:cNvPr>
          <p:cNvSpPr>
            <a:spLocks noGrp="1"/>
          </p:cNvSpPr>
          <p:nvPr/>
        </p:nvSpPr>
        <p:spPr>
          <a:xfrm>
            <a:off x="638175" y="1800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9E76A7C-22D3-4699-B900-B89DF603ED5E}"/>
              </a:ext>
            </a:extLst>
          </p:cNvPr>
          <p:cNvSpPr>
            <a:spLocks noGrp="1"/>
          </p:cNvSpPr>
          <p:nvPr/>
        </p:nvSpPr>
        <p:spPr>
          <a:xfrm>
            <a:off x="1076325" y="17716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Detecção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D78D90C-1F86-47C5-8205-7758DA2C1257}"/>
              </a:ext>
            </a:extLst>
          </p:cNvPr>
          <p:cNvSpPr>
            <a:spLocks noGrp="1"/>
          </p:cNvSpPr>
          <p:nvPr/>
        </p:nvSpPr>
        <p:spPr>
          <a:xfrm>
            <a:off x="676275" y="2219325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localiza situações em que capacidade, demanda, tempo de viagem, filas, utilização ou nível de serviço indicam uma restrição relevante.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16FF192-DCEF-4463-9D58-B81E90F02835}"/>
              </a:ext>
            </a:extLst>
          </p:cNvPr>
          <p:cNvSpPr>
            <a:spLocks noGrp="1"/>
          </p:cNvSpPr>
          <p:nvPr/>
        </p:nvSpPr>
        <p:spPr>
          <a:xfrm>
            <a:off x="4289425" y="1685925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42101CB-089A-4001-BE96-F9E7F32268F3}"/>
              </a:ext>
            </a:extLst>
          </p:cNvPr>
          <p:cNvSpPr>
            <a:spLocks noGrp="1"/>
          </p:cNvSpPr>
          <p:nvPr/>
        </p:nvSpPr>
        <p:spPr>
          <a:xfrm>
            <a:off x="4403725" y="1800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44B4A85-FEDC-4957-97EC-08726CE65573}"/>
              </a:ext>
            </a:extLst>
          </p:cNvPr>
          <p:cNvSpPr>
            <a:spLocks noGrp="1"/>
          </p:cNvSpPr>
          <p:nvPr/>
        </p:nvSpPr>
        <p:spPr>
          <a:xfrm>
            <a:off x="4841875" y="17716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Comparação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B1EF3A6-E952-4F87-BEED-15C8ED60B11F}"/>
              </a:ext>
            </a:extLst>
          </p:cNvPr>
          <p:cNvSpPr>
            <a:spLocks noGrp="1"/>
          </p:cNvSpPr>
          <p:nvPr/>
        </p:nvSpPr>
        <p:spPr>
          <a:xfrm>
            <a:off x="4441825" y="2219325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diagnóstico compara a rede com e sem o projeto e observa também os efeitos produzidos nos trechos conectados.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E0A7C8E-13B0-4227-90F6-19EF6CADDC6F}"/>
              </a:ext>
            </a:extLst>
          </p:cNvPr>
          <p:cNvSpPr>
            <a:spLocks noGrp="1"/>
          </p:cNvSpPr>
          <p:nvPr/>
        </p:nvSpPr>
        <p:spPr>
          <a:xfrm>
            <a:off x="8054975" y="1685925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986041C-CC1C-433C-966E-DAAF36112B57}"/>
              </a:ext>
            </a:extLst>
          </p:cNvPr>
          <p:cNvSpPr>
            <a:spLocks noGrp="1"/>
          </p:cNvSpPr>
          <p:nvPr/>
        </p:nvSpPr>
        <p:spPr>
          <a:xfrm>
            <a:off x="8169275" y="1800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A912857-F355-4AD7-A8D3-BC04DE24F565}"/>
              </a:ext>
            </a:extLst>
          </p:cNvPr>
          <p:cNvSpPr>
            <a:spLocks noGrp="1"/>
          </p:cNvSpPr>
          <p:nvPr/>
        </p:nvSpPr>
        <p:spPr>
          <a:xfrm>
            <a:off x="8607425" y="17716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Qualificação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CC98A6F-2AE3-41B5-837C-1AA64BAB1944}"/>
              </a:ext>
            </a:extLst>
          </p:cNvPr>
          <p:cNvSpPr>
            <a:spLocks noGrp="1"/>
          </p:cNvSpPr>
          <p:nvPr/>
        </p:nvSpPr>
        <p:spPr>
          <a:xfrm>
            <a:off x="8207375" y="2219325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ponto crítico é descrito segundo sua magnitude, duração, propagação, recorrência e sensibilidade às premissas.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7B199A0-6CE4-4048-B261-CC899A6830D6}"/>
              </a:ext>
            </a:extLst>
          </p:cNvPr>
          <p:cNvSpPr>
            <a:spLocks noGrp="1"/>
          </p:cNvSpPr>
          <p:nvPr/>
        </p:nvSpPr>
        <p:spPr>
          <a:xfrm>
            <a:off x="2406650" y="3262313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0FC3DE1-615B-4747-8B86-24239F489BCB}"/>
              </a:ext>
            </a:extLst>
          </p:cNvPr>
          <p:cNvSpPr>
            <a:spLocks noGrp="1"/>
          </p:cNvSpPr>
          <p:nvPr/>
        </p:nvSpPr>
        <p:spPr>
          <a:xfrm>
            <a:off x="2520950" y="3376613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AB47C99-456C-4F5E-B796-7E2852E42CED}"/>
              </a:ext>
            </a:extLst>
          </p:cNvPr>
          <p:cNvSpPr>
            <a:spLocks noGrp="1"/>
          </p:cNvSpPr>
          <p:nvPr/>
        </p:nvSpPr>
        <p:spPr>
          <a:xfrm>
            <a:off x="2959100" y="3348038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Classificação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53232C6-1F9A-44CB-8E48-E74BE016B447}"/>
              </a:ext>
            </a:extLst>
          </p:cNvPr>
          <p:cNvSpPr>
            <a:spLocks noGrp="1"/>
          </p:cNvSpPr>
          <p:nvPr/>
        </p:nvSpPr>
        <p:spPr>
          <a:xfrm>
            <a:off x="2559050" y="3795713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D13 distingue gargalos críticos ou residuais, premissas críticas, ociosidades e vulnerabilidades da rede.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4FF28A2-4951-4009-8CA7-071C4756C909}"/>
              </a:ext>
            </a:extLst>
          </p:cNvPr>
          <p:cNvSpPr>
            <a:spLocks noGrp="1"/>
          </p:cNvSpPr>
          <p:nvPr/>
        </p:nvSpPr>
        <p:spPr>
          <a:xfrm>
            <a:off x="6172200" y="3262313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B99A9D1-60C9-4936-8887-9F87A3EBD0C2}"/>
              </a:ext>
            </a:extLst>
          </p:cNvPr>
          <p:cNvSpPr>
            <a:spLocks noGrp="1"/>
          </p:cNvSpPr>
          <p:nvPr/>
        </p:nvSpPr>
        <p:spPr>
          <a:xfrm>
            <a:off x="6286500" y="3376613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CF76CCE-CE05-4A64-9BE5-6F76162C8440}"/>
              </a:ext>
            </a:extLst>
          </p:cNvPr>
          <p:cNvSpPr>
            <a:spLocks noGrp="1"/>
          </p:cNvSpPr>
          <p:nvPr/>
        </p:nvSpPr>
        <p:spPr>
          <a:xfrm>
            <a:off x="6724650" y="3348038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Registro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3BFA2CA-6CC9-4F44-94C5-2B93D4804C0A}"/>
              </a:ext>
            </a:extLst>
          </p:cNvPr>
          <p:cNvSpPr>
            <a:spLocks noGrp="1"/>
          </p:cNvSpPr>
          <p:nvPr/>
        </p:nvSpPr>
        <p:spPr>
          <a:xfrm>
            <a:off x="6324600" y="3795713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recebe a localização, a evidência, a causa provável, o grau de confiança e o encaminhamento proposto para cada ponto.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3672846-1976-47C7-AB7E-7F5883465653}"/>
              </a:ext>
            </a:extLst>
          </p:cNvPr>
          <p:cNvSpPr>
            <a:spLocks noGrp="1"/>
          </p:cNvSpPr>
          <p:nvPr/>
        </p:nvSpPr>
        <p:spPr>
          <a:xfrm>
            <a:off x="952500" y="4829175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16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16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limites de criticidade variam para cada modo de transporte e precisam permanecer associados à unidade de medida, ao horizonte e ao cenário.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16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16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validação combina equipe de modelagem, especialista modal, confronto com operadores e verificação institucional.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16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16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D13 também registra vulnerabilidades que a escala do modelo macroscópico de transportes não consegue representar diretamente.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2931E6C4-2B0A-481E-91AA-E2CEBA625BE5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07CDB34-3CE2-427A-94AB-17C0454E7E54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D13 converte resultados do modelo em um diagnóstico técnico utilizável pelos produtos seguintes.</a:t>
            </a:r>
          </a:p>
        </p:txBody>
      </p:sp>
    </p:spTree>
    <p:extLst>
      <p:ext uri="{BB962C8B-B14F-4D97-AF65-F5344CB8AC3E}">
        <p14:creationId xmlns:p14="http://schemas.microsoft.com/office/powerpoint/2010/main" val="188939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F6EBED16-1F97-4F2B-9E48-26EC562A93A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E1959D6-B6A3-4C15-99F0-8E90E0E1319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37DAC6E-1CFD-4BD8-A513-8EC0DC98B18E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BEB80A0-9D31-439B-9348-A1FD31F2540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Convergência no D14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C360C41D-6918-467B-94A1-1E750CBEAA39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E00BBE9-72C3-4DC6-9E46-B7743E146DD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64FA999-1263-45AE-83EF-916BF91D47FA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17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9EE7546-8ADB-413D-B93E-FF1A1A86395D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11144250" cy="876300"/>
          </a:xfrm>
          <a:prstGeom prst="roundRect">
            <a:avLst>
              <a:gd name="adj" fmla="val 7609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07B849B-5CBB-4F11-9BC8-839DAD1D2F0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14300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940697-C901-4CE9-8E8A-DEA0BC3D492C}"/>
              </a:ext>
            </a:extLst>
          </p:cNvPr>
          <p:cNvSpPr>
            <a:spLocks noGrp="1"/>
          </p:cNvSpPr>
          <p:nvPr/>
        </p:nvSpPr>
        <p:spPr>
          <a:xfrm>
            <a:off x="1905000" y="17811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Identidade e propósito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A2B64CB-10CD-4408-878F-99F222D233F6}"/>
              </a:ext>
            </a:extLst>
          </p:cNvPr>
          <p:cNvSpPr>
            <a:spLocks noGrp="1"/>
          </p:cNvSpPr>
          <p:nvPr/>
        </p:nvSpPr>
        <p:spPr>
          <a:xfrm>
            <a:off x="1905000" y="2085975"/>
            <a:ext cx="9544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532"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D11 fornece o tema de origem, a descrição do problema, a proposta inicial, as denominações usadas nas fontes, as justificativas, os agentes envolvidos e o grau inicial de definição.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F6E546F-983C-4DA5-B2F7-860E47AE084B}"/>
              </a:ext>
            </a:extLst>
          </p:cNvPr>
          <p:cNvSpPr>
            <a:spLocks noGrp="1"/>
          </p:cNvSpPr>
          <p:nvPr/>
        </p:nvSpPr>
        <p:spPr>
          <a:xfrm>
            <a:off x="476250" y="2686050"/>
            <a:ext cx="11144250" cy="876300"/>
          </a:xfrm>
          <a:prstGeom prst="roundRect">
            <a:avLst>
              <a:gd name="adj" fmla="val 7609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2660AFE-16EE-447A-860E-3A063B6DFB58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14300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BAA4C9B-B523-4F3F-B6E7-B74F1E53622F}"/>
              </a:ext>
            </a:extLst>
          </p:cNvPr>
          <p:cNvSpPr>
            <a:spLocks noGrp="1"/>
          </p:cNvSpPr>
          <p:nvPr/>
        </p:nvSpPr>
        <p:spPr>
          <a:xfrm>
            <a:off x="1905000" y="27717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Mudança na rede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DCBA7F5-3FAC-49D6-8E91-E1D45D1BC4B1}"/>
              </a:ext>
            </a:extLst>
          </p:cNvPr>
          <p:cNvSpPr>
            <a:spLocks noGrp="1"/>
          </p:cNvSpPr>
          <p:nvPr/>
        </p:nvSpPr>
        <p:spPr>
          <a:xfrm>
            <a:off x="1905000" y="3076575"/>
            <a:ext cx="9544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532"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D12 demonstra a mudança incremental produzida pelo projeto, compara o resultado com o contrafactual e informa o horizonte em que a intervenção se torna necessária.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B7585BC-4099-42A0-8B8F-F183D09449A5}"/>
              </a:ext>
            </a:extLst>
          </p:cNvPr>
          <p:cNvSpPr>
            <a:spLocks noGrp="1"/>
          </p:cNvSpPr>
          <p:nvPr/>
        </p:nvSpPr>
        <p:spPr>
          <a:xfrm>
            <a:off x="476250" y="3676650"/>
            <a:ext cx="11144250" cy="876300"/>
          </a:xfrm>
          <a:prstGeom prst="roundRect">
            <a:avLst>
              <a:gd name="adj" fmla="val 7609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E921217-EE31-4B72-9EDF-8FF802E64196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14300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C502432-8C05-434B-962A-7D1ACECD788E}"/>
              </a:ext>
            </a:extLst>
          </p:cNvPr>
          <p:cNvSpPr>
            <a:spLocks noGrp="1"/>
          </p:cNvSpPr>
          <p:nvPr/>
        </p:nvSpPr>
        <p:spPr>
          <a:xfrm>
            <a:off x="1905000" y="37623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Gargalos e premissas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5FAF590-50DF-46EA-A192-F38D26AE0B60}"/>
              </a:ext>
            </a:extLst>
          </p:cNvPr>
          <p:cNvSpPr>
            <a:spLocks noGrp="1"/>
          </p:cNvSpPr>
          <p:nvPr/>
        </p:nvSpPr>
        <p:spPr>
          <a:xfrm>
            <a:off x="1905000" y="4067175"/>
            <a:ext cx="9544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532"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D13 identifica os pontos críticos que permanecem, explica suas causas e registra a sensibilidade, a confiança, as ociosidades e as vulnerabilidades que precisam de investigação adicional.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DB0B9BA-DE0F-45E3-B26B-5CA13ACD469E}"/>
              </a:ext>
            </a:extLst>
          </p:cNvPr>
          <p:cNvSpPr>
            <a:spLocks noGrp="1"/>
          </p:cNvSpPr>
          <p:nvPr/>
        </p:nvSpPr>
        <p:spPr>
          <a:xfrm>
            <a:off x="476250" y="4667250"/>
            <a:ext cx="11144250" cy="1028700"/>
          </a:xfrm>
          <a:prstGeom prst="roundRect">
            <a:avLst>
              <a:gd name="adj" fmla="val 6481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73585B4-CB5E-44A3-B47E-81E1FA11054C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143000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D14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539342B-B1C3-4003-8661-17AC9D40C428}"/>
              </a:ext>
            </a:extLst>
          </p:cNvPr>
          <p:cNvSpPr>
            <a:spLocks noGrp="1"/>
          </p:cNvSpPr>
          <p:nvPr/>
        </p:nvSpPr>
        <p:spPr>
          <a:xfrm>
            <a:off x="1905000" y="47529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Análises próprias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04E4EFC-3E05-48A3-AF5F-5A8A29999CA2}"/>
              </a:ext>
            </a:extLst>
          </p:cNvPr>
          <p:cNvSpPr>
            <a:spLocks noGrp="1"/>
          </p:cNvSpPr>
          <p:nvPr/>
        </p:nvSpPr>
        <p:spPr>
          <a:xfrm>
            <a:off x="1905000" y="5057775"/>
            <a:ext cx="95440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058"/>
          </a:bodyPr>
          <a:lstStyle/>
          <a:p>
            <a:pPr algn="l">
              <a:lnSpc>
                <a:spcPct val="105000"/>
              </a:lnSpc>
              <a:buNone/>
              <a:defRPr sz="114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4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acrescenta a leitura territorial, ambiental, climática, atmosférica, econômica e institucional, incluindo a análise de como os efeitos se distribuem entre grupos sociais e territórios. A ficha também registra a maturidade, uma indicação inicial de quem poderia financiar a implantação e a operação e os vínculos programáticos.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4914F70-FA8A-4529-8C99-73296242853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CB0DBC8-EA19-43C8-936F-5F322ECF085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reúne as camadas em uma narrativa verificável e em registros estruturados.</a:t>
            </a:r>
          </a:p>
        </p:txBody>
      </p:sp>
    </p:spTree>
    <p:extLst>
      <p:ext uri="{BB962C8B-B14F-4D97-AF65-F5344CB8AC3E}">
        <p14:creationId xmlns:p14="http://schemas.microsoft.com/office/powerpoint/2010/main" val="24273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71B6004-B53E-41C6-891E-9719A52A28A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77FF27C-5C7E-47B5-989B-89C0A10A9699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29F97F2-C6AB-4222-8A7F-68979D81BD3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55DA62-A6D1-4683-A4E8-5E5C44606A3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Interface com o D15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CA5703C4-6E97-4CBF-B16E-CFC50EE0206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8F6FD07-C67F-427F-BC0D-C5C08DBCEA8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F00CB7C-F201-4FC6-9104-82B059593AD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18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A261E8F-9573-4C56-BBAA-99789F41154A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5381625" cy="3905250"/>
          </a:xfrm>
          <a:prstGeom prst="roundRect">
            <a:avLst>
              <a:gd name="adj" fmla="val 1951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069EB26-05C4-49F3-93D2-DB86054F2ABB}"/>
              </a:ext>
            </a:extLst>
          </p:cNvPr>
          <p:cNvSpPr>
            <a:spLocks noGrp="1"/>
          </p:cNvSpPr>
          <p:nvPr/>
        </p:nvSpPr>
        <p:spPr>
          <a:xfrm>
            <a:off x="6238875" y="1762125"/>
            <a:ext cx="5381625" cy="3905250"/>
          </a:xfrm>
          <a:prstGeom prst="roundRect">
            <a:avLst>
              <a:gd name="adj" fmla="val 1951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90E219-E0F5-4174-B522-36730ED703AF}"/>
              </a:ext>
            </a:extLst>
          </p:cNvPr>
          <p:cNvSpPr>
            <a:spLocks noGrp="1"/>
          </p:cNvSpPr>
          <p:nvPr/>
        </p:nvSpPr>
        <p:spPr>
          <a:xfrm>
            <a:off x="590550" y="183832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que o D14 entrega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EEA931C-1C84-4EAC-9466-FCDE43C6391D}"/>
              </a:ext>
            </a:extLst>
          </p:cNvPr>
          <p:cNvSpPr>
            <a:spLocks noGrp="1"/>
          </p:cNvSpPr>
          <p:nvPr/>
        </p:nvSpPr>
        <p:spPr>
          <a:xfrm>
            <a:off x="6353175" y="183832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que retorna do D15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6D74C9C-E105-43DD-81BF-F6B172E06842}"/>
              </a:ext>
            </a:extLst>
          </p:cNvPr>
          <p:cNvSpPr>
            <a:spLocks noGrp="1"/>
          </p:cNvSpPr>
          <p:nvPr/>
        </p:nvSpPr>
        <p:spPr>
          <a:xfrm>
            <a:off x="590550" y="2257425"/>
            <a:ext cx="5153025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descreve o escopo físico ou institucional do objeto que o Governo poderá efetivamente decidir e contratar.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identifica os componentes, as fases, a geometria disponível e o horizonte previsto para a implantação.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registro explicita as hipóteses operacionais, a vida útil esperada e as necessidades conhecidas de manutenção.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dependências que podem alterar quantidades, sequência de implantação ou risco construtivo permanecem associadas ao projeto.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formula uma hipótese preliminar sobre quem implantará, operará e financiará a solução.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70445A6-82CD-4A70-8D6A-3BE541A6B685}"/>
              </a:ext>
            </a:extLst>
          </p:cNvPr>
          <p:cNvSpPr>
            <a:spLocks noGrp="1"/>
          </p:cNvSpPr>
          <p:nvPr/>
        </p:nvSpPr>
        <p:spPr>
          <a:xfrm>
            <a:off x="6353175" y="2257425"/>
            <a:ext cx="5153025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D15 devolve a estimativa de CAPEX para cada componente, fase e horizonte de implantação.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produto também calcula o OPEX e os custos periódicos necessários para manter ou repor os ativos ao longo de sua vida útil.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estimativas apresentam as premissas de preço, as contingências e os riscos que podem alterar o custo.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cronograma de desembolsos é estruturado de forma compatível com a avaliação econômica do D16.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o escopo não estiver suficientemente definido, o D15 solicita à equipe do D14 as informações adicionais necessárias.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81FF994-1BBF-4349-B5F1-C34A5E872C9F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9810834-6D6B-46AA-BD95-266658DBD073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prepara as informações que determinam a estimativa dos custos. Os valores consolidados pertencem ao D15.</a:t>
            </a:r>
          </a:p>
        </p:txBody>
      </p:sp>
    </p:spTree>
    <p:extLst>
      <p:ext uri="{BB962C8B-B14F-4D97-AF65-F5344CB8AC3E}">
        <p14:creationId xmlns:p14="http://schemas.microsoft.com/office/powerpoint/2010/main" val="858305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F6D3F30-4EC4-42D2-A4CA-02684F7EC0D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m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C1A12A1-214C-4F1F-9EF3-615A8352534D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42" name="Imagem 4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22B9AC5-24C4-487B-A6BF-2F4F79097335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BBF9B8-8AF3-496C-82C1-A51CECF43B1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Interface com o D16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F5FE6A3-E579-4081-80EB-C2213AE0C081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3E5CC19-3C21-472A-89EB-B37133EA9F00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8957AF-0198-4ABE-A957-6BD8B31C5053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19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14D8440-FE8D-43C2-BBF9-C7264326FEFC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9835"/>
          </a:bodyPr>
          <a:lstStyle/>
          <a:p>
            <a:pPr algn="l">
              <a:lnSpc>
                <a:spcPct val="105000"/>
              </a:lnSpc>
              <a:buNone/>
              <a:defRPr sz="138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Produto D16 comparará os custos e os benefícios socioeconômicos atribuíveis a cada projeto, sempre em relação a uma situação de referência comum.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1FB3369-BD97-4B56-94BF-9754DF5B8FA6}"/>
              </a:ext>
            </a:extLst>
          </p:cNvPr>
          <p:cNvSpPr>
            <a:spLocks noGrp="1"/>
          </p:cNvSpPr>
          <p:nvPr/>
        </p:nvSpPr>
        <p:spPr>
          <a:xfrm>
            <a:off x="476250" y="2181225"/>
            <a:ext cx="11144250" cy="561975"/>
          </a:xfrm>
          <a:prstGeom prst="roundRect">
            <a:avLst>
              <a:gd name="adj" fmla="val 678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1030777-9AE3-4275-8DA4-80F6D07C4517}"/>
              </a:ext>
            </a:extLst>
          </p:cNvPr>
          <p:cNvSpPr>
            <a:spLocks noGrp="1"/>
          </p:cNvSpPr>
          <p:nvPr/>
        </p:nvSpPr>
        <p:spPr>
          <a:xfrm>
            <a:off x="571500" y="2238375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Contrafactual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C193B5F7-E398-4A99-BF32-69B6931BEBAE}"/>
              </a:ext>
            </a:extLst>
          </p:cNvPr>
          <p:cNvSpPr>
            <a:spLocks noGrp="1"/>
          </p:cNvSpPr>
          <p:nvPr/>
        </p:nvSpPr>
        <p:spPr>
          <a:xfrm>
            <a:off x="2809875" y="2247900"/>
            <a:ext cx="0" cy="4286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BB13BDB-331C-45A4-9743-EEDCFA5816D1}"/>
              </a:ext>
            </a:extLst>
          </p:cNvPr>
          <p:cNvSpPr>
            <a:spLocks noGrp="1"/>
          </p:cNvSpPr>
          <p:nvPr/>
        </p:nvSpPr>
        <p:spPr>
          <a:xfrm>
            <a:off x="2924175" y="2228850"/>
            <a:ext cx="8582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D16 utiliza a mesma demanda, a mesma oferta comprometida e o mesmo horizonte empregados na análise incremental do projeto.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66E6DA2-A46D-4DA8-B390-EE0C74421030}"/>
              </a:ext>
            </a:extLst>
          </p:cNvPr>
          <p:cNvSpPr>
            <a:spLocks noGrp="1"/>
          </p:cNvSpPr>
          <p:nvPr/>
        </p:nvSpPr>
        <p:spPr>
          <a:xfrm>
            <a:off x="476250" y="2781300"/>
            <a:ext cx="11144250" cy="561975"/>
          </a:xfrm>
          <a:prstGeom prst="roundRect">
            <a:avLst>
              <a:gd name="adj" fmla="val 678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928C152-D424-4CBD-8423-07C2D85B0B13}"/>
              </a:ext>
            </a:extLst>
          </p:cNvPr>
          <p:cNvSpPr>
            <a:spLocks noGrp="1"/>
          </p:cNvSpPr>
          <p:nvPr/>
        </p:nvSpPr>
        <p:spPr>
          <a:xfrm>
            <a:off x="571500" y="2838450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Efeito técnico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F138D4FA-14E9-4CA8-9188-150188AAECE6}"/>
              </a:ext>
            </a:extLst>
          </p:cNvPr>
          <p:cNvSpPr>
            <a:spLocks noGrp="1"/>
          </p:cNvSpPr>
          <p:nvPr/>
        </p:nvSpPr>
        <p:spPr>
          <a:xfrm>
            <a:off x="2809875" y="2847975"/>
            <a:ext cx="0" cy="4286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2693D9E-D20A-417E-8EDA-231A149CC57D}"/>
              </a:ext>
            </a:extLst>
          </p:cNvPr>
          <p:cNvSpPr>
            <a:spLocks noGrp="1"/>
          </p:cNvSpPr>
          <p:nvPr/>
        </p:nvSpPr>
        <p:spPr>
          <a:xfrm>
            <a:off x="2924175" y="2828925"/>
            <a:ext cx="8582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avaliação parte das mudanças demonstradas em tempo, custo, confiabilidade, segurança, acessibilidade, emissões, resiliência ou capacidade.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1A3AC59-EA97-4539-BB9F-A32BEB16596E}"/>
              </a:ext>
            </a:extLst>
          </p:cNvPr>
          <p:cNvSpPr>
            <a:spLocks noGrp="1"/>
          </p:cNvSpPr>
          <p:nvPr/>
        </p:nvSpPr>
        <p:spPr>
          <a:xfrm>
            <a:off x="476250" y="3381375"/>
            <a:ext cx="11144250" cy="561975"/>
          </a:xfrm>
          <a:prstGeom prst="roundRect">
            <a:avLst>
              <a:gd name="adj" fmla="val 678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8C4371D-291B-4E19-9B09-600B5324713A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Beneficiários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B4DA250A-9948-4432-9660-1605ABC587BB}"/>
              </a:ext>
            </a:extLst>
          </p:cNvPr>
          <p:cNvSpPr>
            <a:spLocks noGrp="1"/>
          </p:cNvSpPr>
          <p:nvPr/>
        </p:nvSpPr>
        <p:spPr>
          <a:xfrm>
            <a:off x="2809875" y="3448050"/>
            <a:ext cx="0" cy="4286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57C7660-2AD3-46E4-AAC7-12C0819F3AE1}"/>
              </a:ext>
            </a:extLst>
          </p:cNvPr>
          <p:cNvSpPr>
            <a:spLocks noGrp="1"/>
          </p:cNvSpPr>
          <p:nvPr/>
        </p:nvSpPr>
        <p:spPr>
          <a:xfrm>
            <a:off x="2924175" y="3429000"/>
            <a:ext cx="8582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identifica quais agentes, setores econômicos, grupos sociais e territórios estarão efetivamente expostos às mudanças.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BCEABA6-5259-40A4-8EBB-C735E9CFA343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1144250" cy="561975"/>
          </a:xfrm>
          <a:prstGeom prst="roundRect">
            <a:avLst>
              <a:gd name="adj" fmla="val 678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2317351-98A3-472F-B360-BE2830B596B9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Adicionalidade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41EF032A-6A90-4E0E-99C9-C385AD161990}"/>
              </a:ext>
            </a:extLst>
          </p:cNvPr>
          <p:cNvSpPr>
            <a:spLocks noGrp="1"/>
          </p:cNvSpPr>
          <p:nvPr/>
        </p:nvSpPr>
        <p:spPr>
          <a:xfrm>
            <a:off x="2809875" y="4048125"/>
            <a:ext cx="0" cy="4286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16DF3E1-B468-495E-8C09-2D896A714B9C}"/>
              </a:ext>
            </a:extLst>
          </p:cNvPr>
          <p:cNvSpPr>
            <a:spLocks noGrp="1"/>
          </p:cNvSpPr>
          <p:nvPr/>
        </p:nvSpPr>
        <p:spPr>
          <a:xfrm>
            <a:off x="2924175" y="4029075"/>
            <a:ext cx="8582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cálculo separa os efeitos do projeto daqueles decorrentes do crescimento tendencial, do deslocamento de atividades ou da antecipação temporal.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0166A46-3875-4A93-A58F-84F94E896EBC}"/>
              </a:ext>
            </a:extLst>
          </p:cNvPr>
          <p:cNvSpPr>
            <a:spLocks noGrp="1"/>
          </p:cNvSpPr>
          <p:nvPr/>
        </p:nvSpPr>
        <p:spPr>
          <a:xfrm>
            <a:off x="476250" y="4581525"/>
            <a:ext cx="11144250" cy="561975"/>
          </a:xfrm>
          <a:prstGeom prst="roundRect">
            <a:avLst>
              <a:gd name="adj" fmla="val 678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48DA8D9-8D76-4C6D-B04C-5EB6B64C78A1}"/>
              </a:ext>
            </a:extLst>
          </p:cNvPr>
          <p:cNvSpPr>
            <a:spLocks noGrp="1"/>
          </p:cNvSpPr>
          <p:nvPr/>
        </p:nvSpPr>
        <p:spPr>
          <a:xfrm>
            <a:off x="571500" y="4638675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Incerteza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8C5F9B34-7F6A-488D-BAD3-02C0FEF4DC55}"/>
              </a:ext>
            </a:extLst>
          </p:cNvPr>
          <p:cNvSpPr>
            <a:spLocks noGrp="1"/>
          </p:cNvSpPr>
          <p:nvPr/>
        </p:nvSpPr>
        <p:spPr>
          <a:xfrm>
            <a:off x="2809875" y="4648200"/>
            <a:ext cx="0" cy="4286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C8BE239-4F37-4010-8816-6D41A5F43417}"/>
              </a:ext>
            </a:extLst>
          </p:cNvPr>
          <p:cNvSpPr>
            <a:spLocks noGrp="1"/>
          </p:cNvSpPr>
          <p:nvPr/>
        </p:nvSpPr>
        <p:spPr>
          <a:xfrm>
            <a:off x="2924175" y="4629150"/>
            <a:ext cx="8582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condições de ocorrência, as faixas de sensibilidade e os pontos que podem alterar o resultado permanecem explícitos.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732603B-8EFA-42E5-9751-A19160877E95}"/>
              </a:ext>
            </a:extLst>
          </p:cNvPr>
          <p:cNvSpPr>
            <a:spLocks noGrp="1"/>
          </p:cNvSpPr>
          <p:nvPr/>
        </p:nvSpPr>
        <p:spPr>
          <a:xfrm>
            <a:off x="476250" y="5181600"/>
            <a:ext cx="11144250" cy="561975"/>
          </a:xfrm>
          <a:prstGeom prst="roundRect">
            <a:avLst>
              <a:gd name="adj" fmla="val 678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092BD4D-8D43-45B7-A280-3FC431ED4801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21621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Livro-razão</a:t>
            </a:r>
          </a:p>
        </p:txBody>
      </p:sp>
      <p:sp>
        <p:nvSpPr>
          <p:cNvPr id="34" name="Conector reto 33">
            <a:extLst>
              <a:ext uri="{FF2B5EF4-FFF2-40B4-BE49-F238E27FC236}">
                <a16:creationId xmlns:a16="http://schemas.microsoft.com/office/drawing/2014/main" id="{2769237C-B49F-48D9-BDDB-6D679F492C8D}"/>
              </a:ext>
            </a:extLst>
          </p:cNvPr>
          <p:cNvSpPr>
            <a:spLocks noGrp="1"/>
          </p:cNvSpPr>
          <p:nvPr/>
        </p:nvSpPr>
        <p:spPr>
          <a:xfrm>
            <a:off x="2809875" y="5248275"/>
            <a:ext cx="0" cy="4286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6CDA494-AE0A-49B6-9913-D8D57B674F3E}"/>
              </a:ext>
            </a:extLst>
          </p:cNvPr>
          <p:cNvSpPr>
            <a:spLocks noGrp="1"/>
          </p:cNvSpPr>
          <p:nvPr/>
        </p:nvSpPr>
        <p:spPr>
          <a:xfrm>
            <a:off x="2924175" y="5229225"/>
            <a:ext cx="85820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registro de sobreposições impede que o mesmo mecanismo seja contabilizado em mais de um benefício.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A1AA98B-3BAA-4554-870A-A301DD4DC45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F2CDE18-187E-43CA-8D40-2A27D16D7527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D16 monetiza apenas efeitos atribuíveis e defensáveis. Os demais permanecem como evidência qualitativa para o D17.</a:t>
            </a:r>
          </a:p>
        </p:txBody>
      </p:sp>
    </p:spTree>
    <p:extLst>
      <p:ext uri="{BB962C8B-B14F-4D97-AF65-F5344CB8AC3E}">
        <p14:creationId xmlns:p14="http://schemas.microsoft.com/office/powerpoint/2010/main" val="69539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93CF3DB-AF9C-4B61-84D3-CA9B080F5D17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806C34F-5FBA-476B-A34E-F53C98062CB7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CF4BB7C-1F45-41C6-9458-65694C6BD0AE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AEDB4D-F2C5-4900-B599-9AA1DAAE0F08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Interfaces com D17 e D18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607AF16-F2FD-497E-8212-2AE62FB19E6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3F94649-F26F-4AD1-A771-C59F759A23BF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1C1FAA-40FD-47C2-AA48-43B308E892D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57527A2-1BDA-4826-A93F-999AEF551FC9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5381625" cy="3905250"/>
          </a:xfrm>
          <a:prstGeom prst="roundRect">
            <a:avLst>
              <a:gd name="adj" fmla="val 1951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0002F1A-7F14-4955-85B4-6B4A60EAAE7A}"/>
              </a:ext>
            </a:extLst>
          </p:cNvPr>
          <p:cNvSpPr>
            <a:spLocks noGrp="1"/>
          </p:cNvSpPr>
          <p:nvPr/>
        </p:nvSpPr>
        <p:spPr>
          <a:xfrm>
            <a:off x="6238875" y="1762125"/>
            <a:ext cx="5381625" cy="3905250"/>
          </a:xfrm>
          <a:prstGeom prst="roundRect">
            <a:avLst>
              <a:gd name="adj" fmla="val 1951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E7AFB9B-2F44-4CBD-BE0F-74491E6D29BE}"/>
              </a:ext>
            </a:extLst>
          </p:cNvPr>
          <p:cNvSpPr>
            <a:spLocks noGrp="1"/>
          </p:cNvSpPr>
          <p:nvPr/>
        </p:nvSpPr>
        <p:spPr>
          <a:xfrm>
            <a:off x="590550" y="183832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D17 · priorização programática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74E3767-A4FA-4142-9B1C-A1709B7CE654}"/>
              </a:ext>
            </a:extLst>
          </p:cNvPr>
          <p:cNvSpPr>
            <a:spLocks noGrp="1"/>
          </p:cNvSpPr>
          <p:nvPr/>
        </p:nvSpPr>
        <p:spPr>
          <a:xfrm>
            <a:off x="6353175" y="183832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D18 · aprofundamento institucional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190949E-0E75-4071-98B1-0DD42EFCC1BF}"/>
              </a:ext>
            </a:extLst>
          </p:cNvPr>
          <p:cNvSpPr>
            <a:spLocks noGrp="1"/>
          </p:cNvSpPr>
          <p:nvPr/>
        </p:nvSpPr>
        <p:spPr>
          <a:xfrm>
            <a:off x="590550" y="2257425"/>
            <a:ext cx="5153025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D17 recebe os indicadores da FAP, os custos do D15, os resultados socioeconômicos do D16 e os registros de risco, maturidade e condicionantes.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Governo define os pesos dos critérios, e a equipe verifica por meio de testes de sensibilidade como esses pesos influenciam o resultado.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comparação ocorre entre projetos e ações que desempenham funções comparáveis dentro de cada Programa de Estado.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mantém visíveis as relações de dependência, complementaridade e concorrência entre as soluções.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resultado organiza uma carteira de curto, médio e longo prazo para cada programa.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7C4F630-0554-4450-B0D3-FE6B19EB9100}"/>
              </a:ext>
            </a:extLst>
          </p:cNvPr>
          <p:cNvSpPr>
            <a:spLocks noGrp="1"/>
          </p:cNvSpPr>
          <p:nvPr/>
        </p:nvSpPr>
        <p:spPr>
          <a:xfrm>
            <a:off x="6353175" y="2257425"/>
            <a:ext cx="5153025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D18 recebe as normas, as competências e os conflitos institucionais que a FAP identificou durante a análise.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Esse produto aprofunda as questões jurídicas e regulatórias e as questões que exigem articulação entre União, Estado e municípios.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D18 devolve evidências sobre a possibilidade de implantação, os instrumentos jurídicos disponíveis e as responsabilidades de cada agente.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Essas evidências ajudam o D17 a interpretar os riscos e as dependências que podem afetar a prioridade ou a sequência de implantação.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8D8C130-E7B5-4A59-93AA-63572F5B538C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251AAF0-4FC2-4E5C-85A6-A4ECFB523C8E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5573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No D17, o Processo de Análise Hierárquica, conhecido pela sigla AHP, pondera preferências de decisão. O método não cria evidências ausentes nem substitui as análises anteriores.</a:t>
            </a:r>
          </a:p>
        </p:txBody>
      </p:sp>
    </p:spTree>
    <p:extLst>
      <p:ext uri="{BB962C8B-B14F-4D97-AF65-F5344CB8AC3E}">
        <p14:creationId xmlns:p14="http://schemas.microsoft.com/office/powerpoint/2010/main" val="711577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63AEBB8-61E9-4267-BD1F-C71E9B171E5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310E144-C3AB-4E6C-A8E6-76F741739BD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2C69750-6862-4F53-8DD1-EBAF37B373F8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533400" cy="5200650"/>
          </a:xfrm>
          <a:prstGeom prst="rect">
            <a:avLst/>
          </a:prstGeom>
          <a:solidFill>
            <a:srgbClr val="55B77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F0BA303-405B-445A-A351-AB99A04A1AC1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2000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defRPr>
            </a:pPr>
            <a:r>
              <a: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229AA58-ED42-4319-9060-E249F5965B14}"/>
              </a:ext>
            </a:extLst>
          </p:cNvPr>
          <p:cNvSpPr>
            <a:spLocks noGrp="1"/>
          </p:cNvSpPr>
          <p:nvPr/>
        </p:nvSpPr>
        <p:spPr>
          <a:xfrm>
            <a:off x="2809875" y="1943100"/>
            <a:ext cx="809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Ficha Analítica de Projeto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49A48C7F-600A-4438-BF49-8C8809757DB8}"/>
              </a:ext>
            </a:extLst>
          </p:cNvPr>
          <p:cNvSpPr>
            <a:spLocks noGrp="1"/>
          </p:cNvSpPr>
          <p:nvPr/>
        </p:nvSpPr>
        <p:spPr>
          <a:xfrm>
            <a:off x="2857500" y="2924175"/>
            <a:ext cx="7810500" cy="0"/>
          </a:xfrm>
          <a:prstGeom prst="line">
            <a:avLst/>
          </a:prstGeom>
          <a:noFill/>
          <a:ln w="28575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C905CE9-142F-4187-BE87-E5DD3B85403E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7715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57150" rIns="3810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Analítica de Projeto utiliza uma única arquitetura de informação e oferece duas formas de consulta. O relatório em Word apresenta a leitura crítica de cada projeto, enquanto a base em Excel preserva os registros detalhados que alimentarão os Produtos D15, D16 e D17.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9441A78-C67D-49F7-B271-6A62CD0FCA5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992D1C8-F8D8-4689-BE84-A40B748A1BC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81262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874F570-1648-464C-8BCA-43DC11B951E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4994220-002A-43E4-8683-E4F9F78B61C3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274069A-6F0C-4DD5-957E-5D9F49239FA8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03BA274-C297-48F4-A657-66297C31DCE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Face da FAP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F3D0DA99-50B2-4335-A691-4ED2AE1BCCBA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2DB747D-A8EE-44AD-B136-0E537B54BFC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B1AB9BB-5703-4268-A987-BFF4086AB60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CB5ADC4-4541-49BB-9CE3-4C282E59A77F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0287000" cy="417195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1430">
            <a:solidFill>
              <a:srgbClr val="BAC3C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A14EB77-4463-494C-B3A2-531BF3757F40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10287000" cy="523875"/>
          </a:xfrm>
          <a:prstGeom prst="roundRect">
            <a:avLst>
              <a:gd name="adj" fmla="val 14545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67DAC47-6040-4D13-BB6C-73CBE1A6F068}"/>
              </a:ext>
            </a:extLst>
          </p:cNvPr>
          <p:cNvSpPr>
            <a:spLocks noGrp="1"/>
          </p:cNvSpPr>
          <p:nvPr/>
        </p:nvSpPr>
        <p:spPr>
          <a:xfrm>
            <a:off x="1143000" y="172402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2751"/>
          </a:bodyPr>
          <a:lstStyle/>
          <a:p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FICHA ANALÍTICA DE PROJETO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2875A3A-9FB4-4B0F-B414-616517620042}"/>
              </a:ext>
            </a:extLst>
          </p:cNvPr>
          <p:cNvSpPr>
            <a:spLocks noGrp="1"/>
          </p:cNvSpPr>
          <p:nvPr/>
        </p:nvSpPr>
        <p:spPr>
          <a:xfrm>
            <a:off x="6715125" y="1724025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116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 ficha informa o identificador, o nome e a versão vigente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BDF2AF1-8F04-4770-B91D-0E4B47A89BEF}"/>
              </a:ext>
            </a:extLst>
          </p:cNvPr>
          <p:cNvSpPr>
            <a:spLocks noGrp="1"/>
          </p:cNvSpPr>
          <p:nvPr/>
        </p:nvSpPr>
        <p:spPr>
          <a:xfrm>
            <a:off x="1104900" y="2286000"/>
            <a:ext cx="9982200" cy="838200"/>
          </a:xfrm>
          <a:prstGeom prst="roundRect">
            <a:avLst>
              <a:gd name="adj" fmla="val 4545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A812649-CA31-44F8-A040-355C6F894C77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9365"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 · OBJETO E ENQUADRAMENTO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93C375-7160-4823-87BE-DFD2D8CB45A7}"/>
              </a:ext>
            </a:extLst>
          </p:cNvPr>
          <p:cNvSpPr>
            <a:spLocks noGrp="1"/>
          </p:cNvSpPr>
          <p:nvPr/>
        </p:nvSpPr>
        <p:spPr>
          <a:xfrm>
            <a:off x="1257300" y="2628900"/>
            <a:ext cx="9667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5973"/>
          </a:bodyPr>
          <a:lstStyle/>
          <a:p>
            <a:pPr algn="l">
              <a:lnSpc>
                <a:spcPct val="105000"/>
              </a:lnSpc>
              <a:buNone/>
              <a:defRPr sz="1177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7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bloco identifica o tema que originou o projeto, explica o problema que ele procura enfrentar e registra seu propósito, seu escopo, seu território, seu horizonte e suas relações com programas e outros projetos.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12660BC-0753-456D-B507-4DA44D65F965}"/>
              </a:ext>
            </a:extLst>
          </p:cNvPr>
          <p:cNvSpPr>
            <a:spLocks noGrp="1"/>
          </p:cNvSpPr>
          <p:nvPr/>
        </p:nvSpPr>
        <p:spPr>
          <a:xfrm>
            <a:off x="1104900" y="3257550"/>
            <a:ext cx="9982200" cy="1323975"/>
          </a:xfrm>
          <a:prstGeom prst="roundRect">
            <a:avLst>
              <a:gd name="adj" fmla="val 287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E8AC0FA-98BF-44B2-AFB7-020D3FCE52B4}"/>
              </a:ext>
            </a:extLst>
          </p:cNvPr>
          <p:cNvSpPr>
            <a:spLocks noGrp="1"/>
          </p:cNvSpPr>
          <p:nvPr/>
        </p:nvSpPr>
        <p:spPr>
          <a:xfrm>
            <a:off x="1257300" y="334327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9365"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2 · EVIDÊNCIAS E IMPACTOS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D1EA343-2D20-442C-BC73-586D77070721}"/>
              </a:ext>
            </a:extLst>
          </p:cNvPr>
          <p:cNvSpPr>
            <a:spLocks noGrp="1"/>
          </p:cNvSpPr>
          <p:nvPr/>
        </p:nvSpPr>
        <p:spPr>
          <a:xfrm>
            <a:off x="1257300" y="3705225"/>
            <a:ext cx="1714500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rPr>
              <a:t>Rede e gargalos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7CA6A32-BEFE-4D51-BD8F-FF742B32BFAA}"/>
              </a:ext>
            </a:extLst>
          </p:cNvPr>
          <p:cNvSpPr>
            <a:spLocks noGrp="1"/>
          </p:cNvSpPr>
          <p:nvPr/>
        </p:nvSpPr>
        <p:spPr>
          <a:xfrm>
            <a:off x="3067050" y="3705225"/>
            <a:ext cx="1714500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rPr>
              <a:t>Território e ambiente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8642A6B-9272-43BD-870B-1244C90B3383}"/>
              </a:ext>
            </a:extLst>
          </p:cNvPr>
          <p:cNvSpPr>
            <a:spLocks noGrp="1"/>
          </p:cNvSpPr>
          <p:nvPr/>
        </p:nvSpPr>
        <p:spPr>
          <a:xfrm>
            <a:off x="4876800" y="3705225"/>
            <a:ext cx="1714500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rPr>
              <a:t>Clima e resiliência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B373FFF-C0F9-4356-852F-20EA11BE9565}"/>
              </a:ext>
            </a:extLst>
          </p:cNvPr>
          <p:cNvSpPr>
            <a:spLocks noGrp="1"/>
          </p:cNvSpPr>
          <p:nvPr/>
        </p:nvSpPr>
        <p:spPr>
          <a:xfrm>
            <a:off x="6686550" y="3705225"/>
            <a:ext cx="1714500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rPr>
              <a:t>Emissões e energia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49ED695-03B2-4BE8-BEB3-6E8B44F726BB}"/>
              </a:ext>
            </a:extLst>
          </p:cNvPr>
          <p:cNvSpPr>
            <a:spLocks noGrp="1"/>
          </p:cNvSpPr>
          <p:nvPr/>
        </p:nvSpPr>
        <p:spPr>
          <a:xfrm>
            <a:off x="8496300" y="3705225"/>
            <a:ext cx="2428875" cy="295275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17365D"/>
                </a:solidFill>
                <a:latin typeface="Nimbus Sans"/>
                <a:ea typeface="Nimbus Sans"/>
                <a:cs typeface="Nimbus Sans"/>
              </a:rPr>
              <a:t>Economia e sociedade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12979CD-2EEB-40AA-9BDD-FA283382CA4C}"/>
              </a:ext>
            </a:extLst>
          </p:cNvPr>
          <p:cNvSpPr>
            <a:spLocks noGrp="1"/>
          </p:cNvSpPr>
          <p:nvPr/>
        </p:nvSpPr>
        <p:spPr>
          <a:xfrm>
            <a:off x="1257300" y="4095750"/>
            <a:ext cx="9667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1431"/>
          </a:bodyPr>
          <a:lstStyle/>
          <a:p>
            <a:pPr algn="ctr">
              <a:lnSpc>
                <a:spcPct val="105000"/>
              </a:lnSpc>
              <a:buNone/>
              <a:defRPr sz="113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3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bloco analítico informa o resultado observado, a fonte, a unidade de medida, o cenário, o horizonte, a qualidade da evidência, as incertezas e as lacunas que ainda impedem uma conclusão.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6E50023-6ED0-467B-B56A-10382BA7FA02}"/>
              </a:ext>
            </a:extLst>
          </p:cNvPr>
          <p:cNvSpPr>
            <a:spLocks noGrp="1"/>
          </p:cNvSpPr>
          <p:nvPr/>
        </p:nvSpPr>
        <p:spPr>
          <a:xfrm>
            <a:off x="1104900" y="4714875"/>
            <a:ext cx="9982200" cy="895350"/>
          </a:xfrm>
          <a:prstGeom prst="roundRect">
            <a:avLst>
              <a:gd name="adj" fmla="val 4255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44AF8FF-4BAA-4A9D-99C7-020B1CB94AE8}"/>
              </a:ext>
            </a:extLst>
          </p:cNvPr>
          <p:cNvSpPr>
            <a:spLocks noGrp="1"/>
          </p:cNvSpPr>
          <p:nvPr/>
        </p:nvSpPr>
        <p:spPr>
          <a:xfrm>
            <a:off x="1257300" y="48006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79365"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6D777D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6D777D"/>
                </a:solidFill>
                <a:latin typeface="Nimbus Sans"/>
                <a:ea typeface="Nimbus Sans"/>
                <a:cs typeface="Nimbus Sans"/>
              </a:rPr>
              <a:t>3 · CONDIÇÕES PARA AVANÇAR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96CBE7F-E6A7-44CA-BE0A-C67BC2090A6D}"/>
              </a:ext>
            </a:extLst>
          </p:cNvPr>
          <p:cNvSpPr>
            <a:spLocks noGrp="1"/>
          </p:cNvSpPr>
          <p:nvPr/>
        </p:nvSpPr>
        <p:spPr>
          <a:xfrm>
            <a:off x="1257300" y="5067300"/>
            <a:ext cx="966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3559"/>
          </a:bodyPr>
          <a:lstStyle/>
          <a:p>
            <a:pPr algn="l">
              <a:lnSpc>
                <a:spcPct val="105000"/>
              </a:lnSpc>
              <a:buNone/>
              <a:defRPr sz="1177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7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bloco registra as condições institucionais, o grau de maturidade, as dependências, os riscos, as hipóteses preliminares de financiamento e as informações ainda requeridas pelos Produtos D15, D16 e D17.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01BDD503-6865-4AE4-BD97-C301DE919BC1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DFF7474-FE59-4C90-9201-939942885237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mesma nomenclatura, os mesmos códigos e as mesmas regras de qualidade devem existir no relatório e na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468101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F634D845-4CA0-4EB3-9592-D8FF82DEDD69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246352A-BD87-4586-8ACD-30746F51F57A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9E8EE8B-04CE-4F11-BF2D-3531437671C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00838FF-587D-40FF-9F17-FF5073EFE4C7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Duas interfaces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EA73FD4-5073-4B4A-8437-8570B8C3BD4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96D7B41-0E9B-404D-B1D3-8764D6D20134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7ADE7F0-47EB-457E-AEDF-466854974A45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23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4D6A79E-A1A8-493E-82D0-EC241C84A112}"/>
              </a:ext>
            </a:extLst>
          </p:cNvPr>
          <p:cNvSpPr>
            <a:spLocks noGrp="1"/>
          </p:cNvSpPr>
          <p:nvPr/>
        </p:nvSpPr>
        <p:spPr>
          <a:xfrm>
            <a:off x="476250" y="1733550"/>
            <a:ext cx="5381625" cy="4019550"/>
          </a:xfrm>
          <a:prstGeom prst="roundRect">
            <a:avLst>
              <a:gd name="adj" fmla="val 189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B45BCED-3E0F-472C-8C98-E503FE4BE280}"/>
              </a:ext>
            </a:extLst>
          </p:cNvPr>
          <p:cNvSpPr>
            <a:spLocks noGrp="1"/>
          </p:cNvSpPr>
          <p:nvPr/>
        </p:nvSpPr>
        <p:spPr>
          <a:xfrm>
            <a:off x="6238875" y="1733550"/>
            <a:ext cx="5381625" cy="4019550"/>
          </a:xfrm>
          <a:prstGeom prst="roundRect">
            <a:avLst>
              <a:gd name="adj" fmla="val 1896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E14DC5-AD3E-4805-8EBD-E82661F491A5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Relatório em Word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AA6E124-12B3-40C9-B929-C06B71EB39CE}"/>
              </a:ext>
            </a:extLst>
          </p:cNvPr>
          <p:cNvSpPr>
            <a:spLocks noGrp="1"/>
          </p:cNvSpPr>
          <p:nvPr/>
        </p:nvSpPr>
        <p:spPr>
          <a:xfrm>
            <a:off x="6353175" y="18097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Base em Excel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3535C7-F40D-4383-AAC6-E348648C0D96}"/>
              </a:ext>
            </a:extLst>
          </p:cNvPr>
          <p:cNvSpPr>
            <a:spLocks noGrp="1"/>
          </p:cNvSpPr>
          <p:nvPr/>
        </p:nvSpPr>
        <p:spPr>
          <a:xfrm>
            <a:off x="590550" y="2228850"/>
            <a:ext cx="5153025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relatório apresentará uma página de síntese que permita compreender rapidamente o objeto, a situação analítica e as principais questões de cada projeto.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páginas seguintes detalharão cada bloco por meio de textos, mapas, resultados, fontes e justificativas.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narrativa explicará os mecanismos causais, as restrições e os limites das evidências disponíveis.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documento distinguirá as informações confirmadas das questões que ainda exigem diligência ou decisão.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Essa interface apoiará reuniões técnicas, validação institucional e comunicação com a Secretaria de Meio Ambiente, Infraestrutura e Logística, a SEMIL.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9AA8A63-564B-428F-94A1-345BA5BF84DC}"/>
              </a:ext>
            </a:extLst>
          </p:cNvPr>
          <p:cNvSpPr>
            <a:spLocks noGrp="1"/>
          </p:cNvSpPr>
          <p:nvPr/>
        </p:nvSpPr>
        <p:spPr>
          <a:xfrm>
            <a:off x="6353175" y="2228850"/>
            <a:ext cx="5153025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mestra manterá uma única linha para cada projeto e utilizará um identificador estável em todas as etapas do PLI.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indicadores serão armazenados em formato longo, no qual cada combinação de projeto, cenário, horizonte, território e indicador ocupa uma linha própria.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Tabelas específicas registrarão as evidências, as relações entre projetos, os vínculos programáticos, os riscos, as dependências e as lacunas.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Campos padronizados preservarão a fonte, a versão, a unidade, a aplicabilidade e a qualidade de cada informação.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Essa estrutura permitirá realizar cálculos, aplicar filtros, auditar alterações e transferir informações para os Produtos D15, D16 e D17.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6697893-4C79-45C9-8DA6-2635B7B8093F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E3F53EE-6D8C-489F-B140-F8846747A397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6041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base em Excel será o registro estruturado de referência. O relatório em Word será produzido a partir dela, e toda correção validada deverá ser incorporada à base antes da atualização do texto.</a:t>
            </a:r>
          </a:p>
        </p:txBody>
      </p:sp>
    </p:spTree>
    <p:extLst>
      <p:ext uri="{BB962C8B-B14F-4D97-AF65-F5344CB8AC3E}">
        <p14:creationId xmlns:p14="http://schemas.microsoft.com/office/powerpoint/2010/main" val="317506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EDDE91BF-7B99-4CBA-AA90-8ABEFCADF107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0683D48-5BD1-4B09-80D4-6893AD5A141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ADA408A-6848-4FFE-AD57-83D317807D8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A89C1DC-76EF-4962-A327-FF5F5320F109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Arquitetura da base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BE4AABA1-EA48-40CF-91E1-6027491991F1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A1F703-BC90-49CD-A93A-64A2C3EA3F7D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6A0EDB-582E-47D2-BECC-0843DA9F132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65E69AB-5C6C-4773-80C1-B6CAF6615498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base em Excel será composta por tabelas relacionadas por um identificador estável. Essa organização permite atualizar uma informação sem duplicá-la em todas as FAPs.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DA1C80A-295C-46FC-A9DB-7B7D25C6B749}"/>
              </a:ext>
            </a:extLst>
          </p:cNvPr>
          <p:cNvSpPr>
            <a:spLocks noGrp="1"/>
          </p:cNvSpPr>
          <p:nvPr/>
        </p:nvSpPr>
        <p:spPr>
          <a:xfrm>
            <a:off x="476250" y="2324100"/>
            <a:ext cx="11144250" cy="990600"/>
          </a:xfrm>
          <a:prstGeom prst="roundRect">
            <a:avLst>
              <a:gd name="adj" fmla="val 384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302A699-68FD-463D-8983-9BAB2456FEB7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1924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B9358D8-2646-4107-881C-73EDD6FB037D}"/>
              </a:ext>
            </a:extLst>
          </p:cNvPr>
          <p:cNvSpPr>
            <a:spLocks noGrp="1"/>
          </p:cNvSpPr>
          <p:nvPr/>
        </p:nvSpPr>
        <p:spPr>
          <a:xfrm>
            <a:off x="2571750" y="2390775"/>
            <a:ext cx="0" cy="857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11858A5-650C-42A1-8024-8551D39CDAE7}"/>
              </a:ext>
            </a:extLst>
          </p:cNvPr>
          <p:cNvSpPr>
            <a:spLocks noGrp="1"/>
          </p:cNvSpPr>
          <p:nvPr/>
        </p:nvSpPr>
        <p:spPr>
          <a:xfrm>
            <a:off x="2686050" y="2371725"/>
            <a:ext cx="8820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PROJETOS manterá um único registro por projeto e reunirá seu identificador, suas denominações, sua natureza, seu modo de transporte, seu tema de origem, seu objeto, seu responsável, seu horizonte e a versão vigente.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DD7FE34-0FF2-4C21-AECF-216DDB5ECBC9}"/>
              </a:ext>
            </a:extLst>
          </p:cNvPr>
          <p:cNvSpPr>
            <a:spLocks noGrp="1"/>
          </p:cNvSpPr>
          <p:nvPr/>
        </p:nvSpPr>
        <p:spPr>
          <a:xfrm>
            <a:off x="476250" y="3352800"/>
            <a:ext cx="11144250" cy="990600"/>
          </a:xfrm>
          <a:prstGeom prst="roundRect">
            <a:avLst>
              <a:gd name="adj" fmla="val 3846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F9CFB6-85F2-46A3-9160-91016B5634C6}"/>
              </a:ext>
            </a:extLst>
          </p:cNvPr>
          <p:cNvSpPr>
            <a:spLocks noGrp="1"/>
          </p:cNvSpPr>
          <p:nvPr/>
        </p:nvSpPr>
        <p:spPr>
          <a:xfrm>
            <a:off x="571500" y="3409950"/>
            <a:ext cx="1924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INDICADORES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C8FAEA46-65B8-4461-9689-811B501CA41D}"/>
              </a:ext>
            </a:extLst>
          </p:cNvPr>
          <p:cNvSpPr>
            <a:spLocks noGrp="1"/>
          </p:cNvSpPr>
          <p:nvPr/>
        </p:nvSpPr>
        <p:spPr>
          <a:xfrm>
            <a:off x="2571750" y="3419475"/>
            <a:ext cx="0" cy="857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C600133-515D-4DD5-B707-ACCFB22FB4D1}"/>
              </a:ext>
            </a:extLst>
          </p:cNvPr>
          <p:cNvSpPr>
            <a:spLocks noGrp="1"/>
          </p:cNvSpPr>
          <p:nvPr/>
        </p:nvSpPr>
        <p:spPr>
          <a:xfrm>
            <a:off x="2686050" y="3400425"/>
            <a:ext cx="8820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INDICADORES armazenará uma linha para cada medição e identificará o projeto, o cenário, o contrafactual, o horizonte, o território, a unidade, o valor, a fonte e a qualidade da informação.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3BDF2B4-FF76-42CC-B2F3-2E0F9B32C650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1144250" cy="990600"/>
          </a:xfrm>
          <a:prstGeom prst="roundRect">
            <a:avLst>
              <a:gd name="adj" fmla="val 384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6ECAC6-71CB-4D02-AE1D-D6E127A4D700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1924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EVIDÊNCIAS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DD75079B-DD53-41B5-BA0A-C20168180844}"/>
              </a:ext>
            </a:extLst>
          </p:cNvPr>
          <p:cNvSpPr>
            <a:spLocks noGrp="1"/>
          </p:cNvSpPr>
          <p:nvPr/>
        </p:nvSpPr>
        <p:spPr>
          <a:xfrm>
            <a:off x="2571750" y="4448175"/>
            <a:ext cx="0" cy="857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38A6591-BB49-4A01-A234-BAAAE175F41B}"/>
              </a:ext>
            </a:extLst>
          </p:cNvPr>
          <p:cNvSpPr>
            <a:spLocks noGrp="1"/>
          </p:cNvSpPr>
          <p:nvPr/>
        </p:nvSpPr>
        <p:spPr>
          <a:xfrm>
            <a:off x="2686050" y="4429125"/>
            <a:ext cx="8820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EVIDÊNCIAS relacionará cada afirmação ao mecanismo causal, ao documento ou dado utilizado, ao método de análise, à classe da evidência, aos limites para aplicar essa evidência a outro projeto ou contexto, à data e ao responsável pela validação.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3C01CAC4-466F-44A1-A98B-5F4D00BFDFA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967B1EE-0B83-44FA-BD1F-5A085820607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Essas três tabelas preservam a identidade do projeto e a origem de cada resultado utilizado na análise.</a:t>
            </a:r>
          </a:p>
        </p:txBody>
      </p:sp>
    </p:spTree>
    <p:extLst>
      <p:ext uri="{BB962C8B-B14F-4D97-AF65-F5344CB8AC3E}">
        <p14:creationId xmlns:p14="http://schemas.microsoft.com/office/powerpoint/2010/main" val="167217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DF4A591-317F-493F-B0CC-5A3F0CEF0B1F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9DEB3F3-8319-4E60-B73C-364BD8D060F5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77560AD-14F3-4457-82F7-B53B38A2644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C129F42-E2D0-4B9C-8B51-CDFE728910D0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Relações e pendências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66E7E886-E6B5-4D76-8EFD-108425CDE309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865616-2246-4201-8665-84311359262F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366D363-1321-4DE8-9C4C-37F6CC033AD9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3D726EC-1A5A-4E7E-AE9A-C1B891DE8D23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demais tabelas registram como o projeto depende de outras iniciativas, em quais programas ele atua e quais questões ainda impedem o fechamento da análise.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F87ED1E-6283-476C-9D4D-51493876BE2B}"/>
              </a:ext>
            </a:extLst>
          </p:cNvPr>
          <p:cNvSpPr>
            <a:spLocks noGrp="1"/>
          </p:cNvSpPr>
          <p:nvPr/>
        </p:nvSpPr>
        <p:spPr>
          <a:xfrm>
            <a:off x="476250" y="2324100"/>
            <a:ext cx="11144250" cy="990600"/>
          </a:xfrm>
          <a:prstGeom prst="roundRect">
            <a:avLst>
              <a:gd name="adj" fmla="val 384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911CA08-E46C-46B6-9ADA-EE1FAB1B6FF5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RELAÇÕES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061FD826-F2E7-450C-BB5F-19E91DF43BF5}"/>
              </a:ext>
            </a:extLst>
          </p:cNvPr>
          <p:cNvSpPr>
            <a:spLocks noGrp="1"/>
          </p:cNvSpPr>
          <p:nvPr/>
        </p:nvSpPr>
        <p:spPr>
          <a:xfrm>
            <a:off x="2952750" y="2390775"/>
            <a:ext cx="0" cy="857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0637588-6C25-4F84-8C0A-0CC3B7FF5650}"/>
              </a:ext>
            </a:extLst>
          </p:cNvPr>
          <p:cNvSpPr>
            <a:spLocks noGrp="1"/>
          </p:cNvSpPr>
          <p:nvPr/>
        </p:nvSpPr>
        <p:spPr>
          <a:xfrm>
            <a:off x="3067050" y="2371725"/>
            <a:ext cx="8439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RELAÇÕES registrará se um projeto depende de outro, se eles se complementam ou competem, qual deles condiciona o outro, em qual horizonte a relação se torna relevante e qual justificativa sustenta essa interpretação.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C8B7AFA-BE2C-4EB7-9D4E-E51D6FF5929D}"/>
              </a:ext>
            </a:extLst>
          </p:cNvPr>
          <p:cNvSpPr>
            <a:spLocks noGrp="1"/>
          </p:cNvSpPr>
          <p:nvPr/>
        </p:nvSpPr>
        <p:spPr>
          <a:xfrm>
            <a:off x="476250" y="3352800"/>
            <a:ext cx="11144250" cy="990600"/>
          </a:xfrm>
          <a:prstGeom prst="roundRect">
            <a:avLst>
              <a:gd name="adj" fmla="val 3846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140E21-E293-4891-8DD4-36A89D37AC50}"/>
              </a:ext>
            </a:extLst>
          </p:cNvPr>
          <p:cNvSpPr>
            <a:spLocks noGrp="1"/>
          </p:cNvSpPr>
          <p:nvPr/>
        </p:nvSpPr>
        <p:spPr>
          <a:xfrm>
            <a:off x="571500" y="34099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C9B069D7-2278-40DE-8ADF-C333135FF972}"/>
              </a:ext>
            </a:extLst>
          </p:cNvPr>
          <p:cNvSpPr>
            <a:spLocks noGrp="1"/>
          </p:cNvSpPr>
          <p:nvPr/>
        </p:nvSpPr>
        <p:spPr>
          <a:xfrm>
            <a:off x="2952750" y="3419475"/>
            <a:ext cx="0" cy="857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B2A587F-BFA5-4CBF-9E2F-559392B18E82}"/>
              </a:ext>
            </a:extLst>
          </p:cNvPr>
          <p:cNvSpPr>
            <a:spLocks noGrp="1"/>
          </p:cNvSpPr>
          <p:nvPr/>
        </p:nvSpPr>
        <p:spPr>
          <a:xfrm>
            <a:off x="3067050" y="3400425"/>
            <a:ext cx="8439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PROGRAMAS identificará o programa principal proposto para o projeto, denominado programa-âncora, seus vínculos secundários e a função que o projeto desempenha em cada relação.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F67DE9E-EFBF-47A8-BEA9-9D67FB30D091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1144250" cy="990600"/>
          </a:xfrm>
          <a:prstGeom prst="roundRect">
            <a:avLst>
              <a:gd name="adj" fmla="val 384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E093253-CD5A-4531-B93A-242171B2F3E5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2305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RISCOS E LACUNAS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482DF985-BF00-4F3C-80C7-5358A09489F9}"/>
              </a:ext>
            </a:extLst>
          </p:cNvPr>
          <p:cNvSpPr>
            <a:spLocks noGrp="1"/>
          </p:cNvSpPr>
          <p:nvPr/>
        </p:nvSpPr>
        <p:spPr>
          <a:xfrm>
            <a:off x="2952750" y="4448175"/>
            <a:ext cx="0" cy="857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340991E-174D-42C1-9EF0-C3AE43856C19}"/>
              </a:ext>
            </a:extLst>
          </p:cNvPr>
          <p:cNvSpPr>
            <a:spLocks noGrp="1"/>
          </p:cNvSpPr>
          <p:nvPr/>
        </p:nvSpPr>
        <p:spPr>
          <a:xfrm>
            <a:off x="3067050" y="4429125"/>
            <a:ext cx="84391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tabela RISCOS E LACUNAS registrará cada restrição ou incerteza, seu efeito potencial, a diligência necessária, o responsável pelo encaminhamento, a situação da pendência e o Produto que deverá receber a resposta.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EFAAA8B-C9B0-48D5-94D8-E907E3277AF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0B2CFED-F229-4D3E-8F84-DEDD221FA48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registro explícito das pendências permite que outra equipe saiba o que falta, por que falta e quem deverá produzir 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469144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6EFF00A-7509-4B34-83BA-F15AAAD675DC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E29C1CE-7D8E-4E1C-8366-0049C05172F4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E334D44-841D-4481-BD1B-E22B93FEB802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7784225-8EC0-460B-BF06-C9F52737D889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Rotas de aplicação da FAP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87EA5C6-C798-469F-837A-39D60264DA36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0149107-6F60-4B0E-B924-BD0BD0B49B8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D926F0B-B146-4B9A-BC06-7A0C71BDAAF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26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7FACEEC-6814-4CEF-AF59-CA9C5F39FE84}"/>
              </a:ext>
            </a:extLst>
          </p:cNvPr>
          <p:cNvSpPr>
            <a:spLocks noGrp="1"/>
          </p:cNvSpPr>
          <p:nvPr/>
        </p:nvSpPr>
        <p:spPr>
          <a:xfrm>
            <a:off x="476250" y="1685925"/>
            <a:ext cx="11144250" cy="971550"/>
          </a:xfrm>
          <a:prstGeom prst="roundRect">
            <a:avLst>
              <a:gd name="adj" fmla="val 6863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2A97491-A0AD-43B9-B6DF-57618969AD83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1143000" cy="74295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30B0B44-48CC-442E-9FDA-975A8D5927CF}"/>
              </a:ext>
            </a:extLst>
          </p:cNvPr>
          <p:cNvSpPr>
            <a:spLocks noGrp="1"/>
          </p:cNvSpPr>
          <p:nvPr/>
        </p:nvSpPr>
        <p:spPr>
          <a:xfrm>
            <a:off x="1905000" y="177165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Intervenção física simulada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3A8BBC1-2EFF-48B0-B0DA-BAAC20D49126}"/>
              </a:ext>
            </a:extLst>
          </p:cNvPr>
          <p:cNvSpPr>
            <a:spLocks noGrp="1"/>
          </p:cNvSpPr>
          <p:nvPr/>
        </p:nvSpPr>
        <p:spPr>
          <a:xfrm>
            <a:off x="1905000" y="2076450"/>
            <a:ext cx="9544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uma intervenção puder ser representada no modelo macroscópico de transportes, a FAP incorporará os resultados do D12 e do D13, além das análises territoriais, ambientais, econômicas, institucionais e de maturidade.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AAEF0A3-E56F-494D-B9FE-8713AE526BDB}"/>
              </a:ext>
            </a:extLst>
          </p:cNvPr>
          <p:cNvSpPr>
            <a:spLocks noGrp="1"/>
          </p:cNvSpPr>
          <p:nvPr/>
        </p:nvSpPr>
        <p:spPr>
          <a:xfrm>
            <a:off x="476250" y="2752725"/>
            <a:ext cx="11144250" cy="1028700"/>
          </a:xfrm>
          <a:prstGeom prst="roundRect">
            <a:avLst>
              <a:gd name="adj" fmla="val 6481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AB2A30B-5CB1-4377-A508-B0988EE2E954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143000" cy="8001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1A6A38F-858C-46C6-9004-768A0FD79B67}"/>
              </a:ext>
            </a:extLst>
          </p:cNvPr>
          <p:cNvSpPr>
            <a:spLocks noGrp="1"/>
          </p:cNvSpPr>
          <p:nvPr/>
        </p:nvSpPr>
        <p:spPr>
          <a:xfrm>
            <a:off x="1905000" y="283845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Intervenção física não simulada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42E37D0-6402-4461-8DC5-6DA8C47672A0}"/>
              </a:ext>
            </a:extLst>
          </p:cNvPr>
          <p:cNvSpPr>
            <a:spLocks noGrp="1"/>
          </p:cNvSpPr>
          <p:nvPr/>
        </p:nvSpPr>
        <p:spPr>
          <a:xfrm>
            <a:off x="1905000" y="3143250"/>
            <a:ext cx="95440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a intervenção tiver menor escala ou não puder ser representada de forma confiável no modelo, a FAP utilizará indicadores de segurança, acessibilidade, território, engenharia e beneficiários compatíveis com sua natureza.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BC698F4-B685-4414-A490-932F43D77A2B}"/>
              </a:ext>
            </a:extLst>
          </p:cNvPr>
          <p:cNvSpPr>
            <a:spLocks noGrp="1"/>
          </p:cNvSpPr>
          <p:nvPr/>
        </p:nvSpPr>
        <p:spPr>
          <a:xfrm>
            <a:off x="476250" y="3876675"/>
            <a:ext cx="11144250" cy="971550"/>
          </a:xfrm>
          <a:prstGeom prst="roundRect">
            <a:avLst>
              <a:gd name="adj" fmla="val 686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6BCCD28-8562-4CAD-94C0-634D6C3A1FA1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1143000" cy="74295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7548435-3CF4-459C-AEFC-CAD80EFE86F2}"/>
              </a:ext>
            </a:extLst>
          </p:cNvPr>
          <p:cNvSpPr>
            <a:spLocks noGrp="1"/>
          </p:cNvSpPr>
          <p:nvPr/>
        </p:nvSpPr>
        <p:spPr>
          <a:xfrm>
            <a:off x="1905000" y="39624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Ação institucional, regulatória ou financeira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13904B8-2EDD-4A51-A30A-A91FDE9F7DB3}"/>
              </a:ext>
            </a:extLst>
          </p:cNvPr>
          <p:cNvSpPr>
            <a:spLocks noGrp="1"/>
          </p:cNvSpPr>
          <p:nvPr/>
        </p:nvSpPr>
        <p:spPr>
          <a:xfrm>
            <a:off x="1905000" y="4267200"/>
            <a:ext cx="9544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Para esse tipo de ação, a ficha analisará a mudança normativa ou organizacional pretendida e explicará as competências, os instrumentos, os prazos, os agentes afetados, as dependências e o mecanismo esperado de resultado.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11C78B8-9A64-487E-9A9C-8D30B61E89B8}"/>
              </a:ext>
            </a:extLst>
          </p:cNvPr>
          <p:cNvSpPr>
            <a:spLocks noGrp="1"/>
          </p:cNvSpPr>
          <p:nvPr/>
        </p:nvSpPr>
        <p:spPr>
          <a:xfrm>
            <a:off x="476250" y="4886325"/>
            <a:ext cx="11144250" cy="971550"/>
          </a:xfrm>
          <a:prstGeom prst="roundRect">
            <a:avLst>
              <a:gd name="adj" fmla="val 6863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589671E-A2E6-4C9A-A2E0-345DF94183EF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143000" cy="74295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F1BB9A6-90F3-400F-B74B-7D84D440F11A}"/>
              </a:ext>
            </a:extLst>
          </p:cNvPr>
          <p:cNvSpPr>
            <a:spLocks noGrp="1"/>
          </p:cNvSpPr>
          <p:nvPr/>
        </p:nvSpPr>
        <p:spPr>
          <a:xfrm>
            <a:off x="1905000" y="497205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Ação habilitadora ou contínua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62ECEC7-85AB-47E6-A63D-22C3C1FFD821}"/>
              </a:ext>
            </a:extLst>
          </p:cNvPr>
          <p:cNvSpPr>
            <a:spLocks noGrp="1"/>
          </p:cNvSpPr>
          <p:nvPr/>
        </p:nvSpPr>
        <p:spPr>
          <a:xfrm>
            <a:off x="1905000" y="5276850"/>
            <a:ext cx="9544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Para uma ação transversal ou contínua, a FAP registrará quais projetos ou instituições serão atendidos, quais capacidades deverão ser criadas e quais indicadores permitirão verificar sua implementação.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47AE321-16D7-4AA8-A951-1717C986DD1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F2ED1F2-8CB1-43EA-BB7B-340129A4223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arquitetura permanece comum. A aplicabilidade dos blocos e a natureza das evidências variam.</a:t>
            </a:r>
          </a:p>
        </p:txBody>
      </p:sp>
    </p:spTree>
    <p:extLst>
      <p:ext uri="{BB962C8B-B14F-4D97-AF65-F5344CB8AC3E}">
        <p14:creationId xmlns:p14="http://schemas.microsoft.com/office/powerpoint/2010/main" val="1875438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F2BC785-98ED-49D8-AE48-15E2C6A1446D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3B1B36-88E3-47A7-A9EB-A4A9DB68C4E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41" name="Imagem 4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C11F335-B0FE-446E-9A14-7198AA2AE514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F4B983C-B8C9-4409-A89F-3535C4B49E22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Situação da informação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B326AB7C-9F6D-4297-85ED-91DA8F618EC6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E717BA-98BB-41D1-A65B-00F200BAA5DF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E083A07-09DC-4A23-BD70-BC7848E42B2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27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D30B80C-09DE-4569-AB52-C3B4D4AD357A}"/>
              </a:ext>
            </a:extLst>
          </p:cNvPr>
          <p:cNvSpPr>
            <a:spLocks noGrp="1"/>
          </p:cNvSpPr>
          <p:nvPr/>
        </p:nvSpPr>
        <p:spPr>
          <a:xfrm>
            <a:off x="476250" y="16859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650E614-8DC5-4092-B3A4-1AB8E9C96F54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 · Confirmado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C50059B9-C643-4E0E-B1A2-9B5A6E2A26EA}"/>
              </a:ext>
            </a:extLst>
          </p:cNvPr>
          <p:cNvSpPr>
            <a:spLocks noGrp="1"/>
          </p:cNvSpPr>
          <p:nvPr/>
        </p:nvSpPr>
        <p:spPr>
          <a:xfrm>
            <a:off x="2905125" y="17526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8F29A11-8644-45ED-A250-18AEB40CA946}"/>
              </a:ext>
            </a:extLst>
          </p:cNvPr>
          <p:cNvSpPr>
            <a:spLocks noGrp="1"/>
          </p:cNvSpPr>
          <p:nvPr/>
        </p:nvSpPr>
        <p:spPr>
          <a:xfrm>
            <a:off x="3019425" y="1733550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atribui este código quando uma fonte oficial ou primária ou uma validação técnica registrada confirma o conteúdo do campo.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89D5E65-D0B0-4DD6-9432-00C79FE25368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D742751-2EE7-4A81-BF26-15EB5F5393CF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 · Estimado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66CA1B84-138D-4F1F-8208-85044BDFE69B}"/>
              </a:ext>
            </a:extLst>
          </p:cNvPr>
          <p:cNvSpPr>
            <a:spLocks noGrp="1"/>
          </p:cNvSpPr>
          <p:nvPr/>
        </p:nvSpPr>
        <p:spPr>
          <a:xfrm>
            <a:off x="2905125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56B392A-8630-4E2F-8667-A1A494ECD41C}"/>
              </a:ext>
            </a:extLst>
          </p:cNvPr>
          <p:cNvSpPr>
            <a:spLocks noGrp="1"/>
          </p:cNvSpPr>
          <p:nvPr/>
        </p:nvSpPr>
        <p:spPr>
          <a:xfrm>
            <a:off x="3019425" y="2390775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utiliza este código quando calcula ou projeta um valor e documenta o método, as premissas, o horizonte e o responsável pela estimativa.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2B85A13-6B72-442B-BC30-01AED09E2715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9BD32B5-881E-42C6-8647-BF21AB148018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 · Proxy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49D4606B-22D6-4C58-B6CF-CEF0722CD25F}"/>
              </a:ext>
            </a:extLst>
          </p:cNvPr>
          <p:cNvSpPr>
            <a:spLocks noGrp="1"/>
          </p:cNvSpPr>
          <p:nvPr/>
        </p:nvSpPr>
        <p:spPr>
          <a:xfrm>
            <a:off x="2905125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69B33EF-EF2E-408E-A58F-0BADB44313FA}"/>
              </a:ext>
            </a:extLst>
          </p:cNvPr>
          <p:cNvSpPr>
            <a:spLocks noGrp="1"/>
          </p:cNvSpPr>
          <p:nvPr/>
        </p:nvSpPr>
        <p:spPr>
          <a:xfrm>
            <a:off x="3019425" y="3048000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utiliza provisoriamente um dado substituto e explica por que ele pode ser usado e quais diferenças limitam sua aplicação ao projeto.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35EBE4B-D485-49C5-A2F9-20CC4D478AB2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F281F46-F3A6-4F71-BA29-D03A50231682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N/D · Não disponível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A7C4C88A-626B-4982-B3EA-99F09B506675}"/>
              </a:ext>
            </a:extLst>
          </p:cNvPr>
          <p:cNvSpPr>
            <a:spLocks noGrp="1"/>
          </p:cNvSpPr>
          <p:nvPr/>
        </p:nvSpPr>
        <p:spPr>
          <a:xfrm>
            <a:off x="2905125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CAF0FF6-4D0E-4123-89BE-9BD62A7DD8AB}"/>
              </a:ext>
            </a:extLst>
          </p:cNvPr>
          <p:cNvSpPr>
            <a:spLocks noGrp="1"/>
          </p:cNvSpPr>
          <p:nvPr/>
        </p:nvSpPr>
        <p:spPr>
          <a:xfrm>
            <a:off x="3019425" y="3705225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campo se aplica ao projeto, mas a equipe ainda não dispõe de informação suficiente para preenchê-lo de forma responsável.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A143CF3-78B0-42A9-BF54-4640FED1FA48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EE3C500-E6A6-427B-9FBB-6D65225C15C0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N/A · Não aplicável</a:t>
            </a:r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EA4BAC6C-54F8-4785-A9F8-7767D4BB7C87}"/>
              </a:ext>
            </a:extLst>
          </p:cNvPr>
          <p:cNvSpPr>
            <a:spLocks noGrp="1"/>
          </p:cNvSpPr>
          <p:nvPr/>
        </p:nvSpPr>
        <p:spPr>
          <a:xfrm>
            <a:off x="2905125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9CCC582-D37A-48C1-8A2A-8FAC9FB359B5}"/>
              </a:ext>
            </a:extLst>
          </p:cNvPr>
          <p:cNvSpPr>
            <a:spLocks noGrp="1"/>
          </p:cNvSpPr>
          <p:nvPr/>
        </p:nvSpPr>
        <p:spPr>
          <a:xfrm>
            <a:off x="3019425" y="4362450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natureza do projeto torna o campo incompatível com a análise, e a FAP registra a justificativa para essa ausência.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759A6E4-C9C1-42E3-A911-0DF15E7A1BC2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CE4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A88DDAC-0B6D-465F-AE14-6141C1C1D6BD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Δ · Divergência</a:t>
            </a:r>
          </a:p>
        </p:txBody>
      </p:sp>
      <p:sp>
        <p:nvSpPr>
          <p:cNvPr id="33" name="Conector reto 32">
            <a:extLst>
              <a:ext uri="{FF2B5EF4-FFF2-40B4-BE49-F238E27FC236}">
                <a16:creationId xmlns:a16="http://schemas.microsoft.com/office/drawing/2014/main" id="{BA2B5F27-7FFB-4296-BD9D-651CF1391E64}"/>
              </a:ext>
            </a:extLst>
          </p:cNvPr>
          <p:cNvSpPr>
            <a:spLocks noGrp="1"/>
          </p:cNvSpPr>
          <p:nvPr/>
        </p:nvSpPr>
        <p:spPr>
          <a:xfrm>
            <a:off x="2905125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49142D9-7EB6-49EC-8838-2B72B51A9C51}"/>
              </a:ext>
            </a:extLst>
          </p:cNvPr>
          <p:cNvSpPr>
            <a:spLocks noGrp="1"/>
          </p:cNvSpPr>
          <p:nvPr/>
        </p:nvSpPr>
        <p:spPr>
          <a:xfrm>
            <a:off x="3019425" y="5019675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Duas ou mais fontes descrevem nomes, valores, versões ou escopos diferentes, e a FAP preserva a divergência registrada até que a equipe conclua a conciliação.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3FEBEC3-E3E8-4939-AAA4-44DE1CD0676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C546213-4BD6-4F07-B676-B3E8FE20EAC4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códigos qualificam a informação. Eles não representam pontuação ou desempenho do projeto.</a:t>
            </a:r>
          </a:p>
        </p:txBody>
      </p:sp>
    </p:spTree>
    <p:extLst>
      <p:ext uri="{BB962C8B-B14F-4D97-AF65-F5344CB8AC3E}">
        <p14:creationId xmlns:p14="http://schemas.microsoft.com/office/powerpoint/2010/main" val="1775004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151DD48-CA1A-4DED-B3EC-92018421D19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241B21A-244A-447F-ADB1-12B4F9E61537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5A5848E-7254-4EA3-A075-4EB95FA8950B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69271B-49F3-4B42-A44E-A69730393CB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O que temos e o que falta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1C00148-D951-48E6-B76B-ED725CB63264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E66021B-6121-47BC-ABA6-5E84F5CD3D5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DCEC99-28D5-48B7-80CD-1AADB13A9C6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28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E44A490-A839-4342-8B98-873BC66E6057}"/>
              </a:ext>
            </a:extLst>
          </p:cNvPr>
          <p:cNvSpPr>
            <a:spLocks noGrp="1"/>
          </p:cNvSpPr>
          <p:nvPr/>
        </p:nvSpPr>
        <p:spPr>
          <a:xfrm>
            <a:off x="476250" y="1771650"/>
            <a:ext cx="5381625" cy="3905250"/>
          </a:xfrm>
          <a:prstGeom prst="roundRect">
            <a:avLst>
              <a:gd name="adj" fmla="val 1951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C8BB66C-04D6-4D91-8BA6-2D0FA5376B30}"/>
              </a:ext>
            </a:extLst>
          </p:cNvPr>
          <p:cNvSpPr>
            <a:spLocks noGrp="1"/>
          </p:cNvSpPr>
          <p:nvPr/>
        </p:nvSpPr>
        <p:spPr>
          <a:xfrm>
            <a:off x="6238875" y="1771650"/>
            <a:ext cx="5381625" cy="3905250"/>
          </a:xfrm>
          <a:prstGeom prst="roundRect">
            <a:avLst>
              <a:gd name="adj" fmla="val 1951"/>
            </a:avLst>
          </a:prstGeom>
          <a:solidFill>
            <a:srgbClr val="FCE4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1BB086A-524B-48BE-B7C0-ABB09CB088FE}"/>
              </a:ext>
            </a:extLst>
          </p:cNvPr>
          <p:cNvSpPr>
            <a:spLocks noGrp="1"/>
          </p:cNvSpPr>
          <p:nvPr/>
        </p:nvSpPr>
        <p:spPr>
          <a:xfrm>
            <a:off x="590550" y="18478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que temos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C9619F-2581-48C4-838B-4DE4617CB2BA}"/>
              </a:ext>
            </a:extLst>
          </p:cNvPr>
          <p:cNvSpPr>
            <a:spLocks noGrp="1"/>
          </p:cNvSpPr>
          <p:nvPr/>
        </p:nvSpPr>
        <p:spPr>
          <a:xfrm>
            <a:off x="6353175" y="18478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que falta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CC0103A-0EE7-425A-83A8-1C676D7196CC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5153025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reúne as informações confirmadas e as estimativas que já possuem fonte, versão, unidade e método de cálculo identificados.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hipóteses permanecem vinculadas ao cenário e ao horizonte para os quais foram formuladas.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resultados produzidos pelos Produtos D11, D12 e D13 são incorporados quando se aplicam ao projeto.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análises próprias do D14 aparecem como concluídas, em validação ou ainda não iniciadas.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relações conhecidas com outros projetos e programas permanecem registradas junto ao objeto analisado.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0D8A777-E068-4AC5-8A41-6C9BA5CA185D}"/>
              </a:ext>
            </a:extLst>
          </p:cNvPr>
          <p:cNvSpPr>
            <a:spLocks noGrp="1"/>
          </p:cNvSpPr>
          <p:nvPr/>
        </p:nvSpPr>
        <p:spPr>
          <a:xfrm>
            <a:off x="6353175" y="2266950"/>
            <a:ext cx="5153025" cy="331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identifica as decisões que ainda precisam ser tomadas para estabilizar o objeto de análise.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dados, os estudos e as geometrias ainda indisponíveis são descritos como lacunas específicas, e não como ausências genéricas.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premissas críticas que ainda não possuem validação institucional permanecem visíveis para as equipes responsáveis.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indica quais resultados dependem da conclusão do D12, do D13, do D15 ou de aprofundamento jurídico no D18.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5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informação faltante gera uma diligência com responsável, produto de destino e evidência esperada.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C3913AA-35D4-4C22-9EB9-DA55F88343B4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0BF1EBA-A95D-4D5E-B741-58B9E4DA6131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Uma FAP parcial continua útil quando registra de forma precisa as decisões e informações que impedem seu fechamento.</a:t>
            </a:r>
          </a:p>
        </p:txBody>
      </p:sp>
    </p:spTree>
    <p:extLst>
      <p:ext uri="{BB962C8B-B14F-4D97-AF65-F5344CB8AC3E}">
        <p14:creationId xmlns:p14="http://schemas.microsoft.com/office/powerpoint/2010/main" val="288975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2EA378B-1F84-4FAE-AECA-128548FF31B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1FD046A-6881-4A50-872E-3D93C1FACFF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41" name="Imagem 4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670CBF7-C282-4048-91E2-0A772EDBB915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AC7717B-C062-48E5-9926-50AB3376C50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Identificação e enquadramento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78EA988-77EE-4747-AEA1-9DA95BDCE7FD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09D3EAD-AD06-465E-9EDA-631CFD10C2F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641DE2E-F354-46AF-90F9-16962ABCE80E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29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EDC469B-6284-436F-8993-93AEA6354D6F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39D8A05-3EB1-49AB-A31D-D0DDC4E1985C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Identidade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54E084CA-A51B-47A0-926B-AA55AA52B1BD}"/>
              </a:ext>
            </a:extLst>
          </p:cNvPr>
          <p:cNvSpPr>
            <a:spLocks noGrp="1"/>
          </p:cNvSpPr>
          <p:nvPr/>
        </p:nvSpPr>
        <p:spPr>
          <a:xfrm>
            <a:off x="2667000" y="176212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E95B51-4147-4DAE-AA82-D15C070D6651}"/>
              </a:ext>
            </a:extLst>
          </p:cNvPr>
          <p:cNvSpPr>
            <a:spLocks noGrp="1"/>
          </p:cNvSpPr>
          <p:nvPr/>
        </p:nvSpPr>
        <p:spPr>
          <a:xfrm>
            <a:off x="2781300" y="17430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campo mantém o identificador estável, o nome padronizado, os nomes encontrados nas fontes, a versão da ficha, a natureza da iniciativa e o modo de transporte envolvido.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8CE8F29-25E6-467A-AD42-991D7DAE4493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4D58F75-BB44-421B-8BA0-68823A608C3C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Origem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4FF10867-B87C-41AD-90FC-E65BC329082D}"/>
              </a:ext>
            </a:extLst>
          </p:cNvPr>
          <p:cNvSpPr>
            <a:spLocks noGrp="1"/>
          </p:cNvSpPr>
          <p:nvPr/>
        </p:nvSpPr>
        <p:spPr>
          <a:xfrm>
            <a:off x="2667000" y="240982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F6AFBDC-FD15-489A-9B3C-6024CE5610EC}"/>
              </a:ext>
            </a:extLst>
          </p:cNvPr>
          <p:cNvSpPr>
            <a:spLocks noGrp="1"/>
          </p:cNvSpPr>
          <p:nvPr/>
        </p:nvSpPr>
        <p:spPr>
          <a:xfrm>
            <a:off x="2781300" y="23907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campo informa qual tema deu origem à proposta, em qual processo de escuta ela apareceu, qual documento ou órgão a apresentou e qual justificativa foi registrada.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B998EA6-8DAA-43FC-B411-42C879E85D0F}"/>
              </a:ext>
            </a:extLst>
          </p:cNvPr>
          <p:cNvSpPr>
            <a:spLocks noGrp="1"/>
          </p:cNvSpPr>
          <p:nvPr/>
        </p:nvSpPr>
        <p:spPr>
          <a:xfrm>
            <a:off x="476250" y="299085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7797F71-92BC-4C84-8186-36B973838B91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Objeto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D84C9CA4-CF4B-4536-8873-1829F5140AFD}"/>
              </a:ext>
            </a:extLst>
          </p:cNvPr>
          <p:cNvSpPr>
            <a:spLocks noGrp="1"/>
          </p:cNvSpPr>
          <p:nvPr/>
        </p:nvSpPr>
        <p:spPr>
          <a:xfrm>
            <a:off x="2667000" y="305752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25FB381-2067-4477-9C32-1576D4031879}"/>
              </a:ext>
            </a:extLst>
          </p:cNvPr>
          <p:cNvSpPr>
            <a:spLocks noGrp="1"/>
          </p:cNvSpPr>
          <p:nvPr/>
        </p:nvSpPr>
        <p:spPr>
          <a:xfrm>
            <a:off x="2781300" y="30384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define se a decisão se refere a um projeto único, a um componente, a um pacote, a um sistema, a uma ação institucional ou a um programa contínuo.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12D01EA-0B41-4536-943A-0542DD5E06D4}"/>
              </a:ext>
            </a:extLst>
          </p:cNvPr>
          <p:cNvSpPr>
            <a:spLocks noGrp="1"/>
          </p:cNvSpPr>
          <p:nvPr/>
        </p:nvSpPr>
        <p:spPr>
          <a:xfrm>
            <a:off x="476250" y="363855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D2C6F1F-A4CA-4595-BA71-CC5C100A82EB}"/>
              </a:ext>
            </a:extLst>
          </p:cNvPr>
          <p:cNvSpPr>
            <a:spLocks noGrp="1"/>
          </p:cNvSpPr>
          <p:nvPr/>
        </p:nvSpPr>
        <p:spPr>
          <a:xfrm>
            <a:off x="571500" y="36957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Temporalidade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79FD019E-BA0F-4B00-8BE5-8E3B59AC66F6}"/>
              </a:ext>
            </a:extLst>
          </p:cNvPr>
          <p:cNvSpPr>
            <a:spLocks noGrp="1"/>
          </p:cNvSpPr>
          <p:nvPr/>
        </p:nvSpPr>
        <p:spPr>
          <a:xfrm>
            <a:off x="2667000" y="370522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A24D68B-3580-4D0A-9F30-41579A620571}"/>
              </a:ext>
            </a:extLst>
          </p:cNvPr>
          <p:cNvSpPr>
            <a:spLocks noGrp="1"/>
          </p:cNvSpPr>
          <p:nvPr/>
        </p:nvSpPr>
        <p:spPr>
          <a:xfrm>
            <a:off x="2781300" y="36861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registra a situação atual, o horizonte em que a solução poderá ser necessária, suas fases de implantação e a duração esperada de seus efeitos.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8A055D7-D84F-49BB-AC7B-F10309B6518C}"/>
              </a:ext>
            </a:extLst>
          </p:cNvPr>
          <p:cNvSpPr>
            <a:spLocks noGrp="1"/>
          </p:cNvSpPr>
          <p:nvPr/>
        </p:nvSpPr>
        <p:spPr>
          <a:xfrm>
            <a:off x="476250" y="428625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E236327-B9D5-4E27-9A09-E1ECC9CDDC15}"/>
              </a:ext>
            </a:extLst>
          </p:cNvPr>
          <p:cNvSpPr>
            <a:spLocks noGrp="1"/>
          </p:cNvSpPr>
          <p:nvPr/>
        </p:nvSpPr>
        <p:spPr>
          <a:xfrm>
            <a:off x="571500" y="43434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Governança</a:t>
            </a:r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ED23394C-42F6-4A78-99B9-62A5164F9851}"/>
              </a:ext>
            </a:extLst>
          </p:cNvPr>
          <p:cNvSpPr>
            <a:spLocks noGrp="1"/>
          </p:cNvSpPr>
          <p:nvPr/>
        </p:nvSpPr>
        <p:spPr>
          <a:xfrm>
            <a:off x="2667000" y="435292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8E33151-E71B-4F73-A6B3-4E95DADF852C}"/>
              </a:ext>
            </a:extLst>
          </p:cNvPr>
          <p:cNvSpPr>
            <a:spLocks noGrp="1"/>
          </p:cNvSpPr>
          <p:nvPr/>
        </p:nvSpPr>
        <p:spPr>
          <a:xfrm>
            <a:off x="2781300" y="43338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registro identifica a titularidade, o possível responsável pela implantação, o operador, as competências envolvidas e os principais interlocutores.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12EB322E-F73D-4795-AA7E-D3F7102A5ADC}"/>
              </a:ext>
            </a:extLst>
          </p:cNvPr>
          <p:cNvSpPr>
            <a:spLocks noGrp="1"/>
          </p:cNvSpPr>
          <p:nvPr/>
        </p:nvSpPr>
        <p:spPr>
          <a:xfrm>
            <a:off x="476250" y="493395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A9A6E97-8FA7-48F4-9FF0-B331D2A78D7F}"/>
              </a:ext>
            </a:extLst>
          </p:cNvPr>
          <p:cNvSpPr>
            <a:spLocks noGrp="1"/>
          </p:cNvSpPr>
          <p:nvPr/>
        </p:nvSpPr>
        <p:spPr>
          <a:xfrm>
            <a:off x="571500" y="4991100"/>
            <a:ext cx="201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Programas</a:t>
            </a:r>
          </a:p>
        </p:txBody>
      </p:sp>
      <p:sp>
        <p:nvSpPr>
          <p:cNvPr id="33" name="Conector reto 32">
            <a:extLst>
              <a:ext uri="{FF2B5EF4-FFF2-40B4-BE49-F238E27FC236}">
                <a16:creationId xmlns:a16="http://schemas.microsoft.com/office/drawing/2014/main" id="{C045B441-AB3D-4990-B553-F5A1761DE320}"/>
              </a:ext>
            </a:extLst>
          </p:cNvPr>
          <p:cNvSpPr>
            <a:spLocks noGrp="1"/>
          </p:cNvSpPr>
          <p:nvPr/>
        </p:nvSpPr>
        <p:spPr>
          <a:xfrm>
            <a:off x="2667000" y="500062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38BE4CD-7D6E-4DBA-8533-F20BEE9EC845}"/>
              </a:ext>
            </a:extLst>
          </p:cNvPr>
          <p:cNvSpPr>
            <a:spLocks noGrp="1"/>
          </p:cNvSpPr>
          <p:nvPr/>
        </p:nvSpPr>
        <p:spPr>
          <a:xfrm>
            <a:off x="2781300" y="4981575"/>
            <a:ext cx="8724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propõe um programa-âncora e registra os vínculos secundários, explicando qual função o projeto desempenha em cada programa.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4260F52-64B0-4BB6-B726-07BB12F652D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EEF8CF2-ADA9-4891-815F-3450C03C674F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Sem um objeto estável, custos, benefícios, mapas e indicadores podem se referir a projetos diferentes sob o mesmo nome.</a:t>
            </a:r>
          </a:p>
        </p:txBody>
      </p:sp>
    </p:spTree>
    <p:extLst>
      <p:ext uri="{BB962C8B-B14F-4D97-AF65-F5344CB8AC3E}">
        <p14:creationId xmlns:p14="http://schemas.microsoft.com/office/powerpoint/2010/main" val="267922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15315BE-D524-4FD9-AD1A-549D502D243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3A9F79C-679B-435D-96EA-4D449116B01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FDD02E7-37C1-4C61-925C-1A56D753F95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2EEE998-5E7E-4679-BADB-2553ABD3C444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Problema, propósito e mecanismo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83FE003-4F1D-4395-B502-502FEAFFA13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95F1B9-C998-422D-8DE6-168FF5E289D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6FA9B3C-0FBF-4013-B7CD-42810FA3DCB3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25807EF-F302-4E05-AB8A-E936428ADDF0}"/>
              </a:ext>
            </a:extLst>
          </p:cNvPr>
          <p:cNvSpPr>
            <a:spLocks noGrp="1"/>
          </p:cNvSpPr>
          <p:nvPr/>
        </p:nvSpPr>
        <p:spPr>
          <a:xfrm>
            <a:off x="523875" y="1647825"/>
            <a:ext cx="1095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deve explicar por que o projeto existe e como sua entrega poderá alterar a realidade. O propósito não se limita à obra. Ele descreve o problema logístico ou institucional que o projeto procura resolver ou mitigar.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64EBD81-B66A-4440-8249-B61FBCF1628E}"/>
              </a:ext>
            </a:extLst>
          </p:cNvPr>
          <p:cNvSpPr>
            <a:spLocks noGrp="1"/>
          </p:cNvSpPr>
          <p:nvPr/>
        </p:nvSpPr>
        <p:spPr>
          <a:xfrm>
            <a:off x="523875" y="2619375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CDFB860-AFAE-4F4D-B675-DC9263D92B06}"/>
              </a:ext>
            </a:extLst>
          </p:cNvPr>
          <p:cNvSpPr>
            <a:spLocks noGrp="1"/>
          </p:cNvSpPr>
          <p:nvPr/>
        </p:nvSpPr>
        <p:spPr>
          <a:xfrm>
            <a:off x="638175" y="27336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4F8B3F1-C0CC-49DF-8DC4-0421CE562AFE}"/>
              </a:ext>
            </a:extLst>
          </p:cNvPr>
          <p:cNvSpPr>
            <a:spLocks noGrp="1"/>
          </p:cNvSpPr>
          <p:nvPr/>
        </p:nvSpPr>
        <p:spPr>
          <a:xfrm>
            <a:off x="1076325" y="270510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3FC9A6-2E01-4992-8312-55D4DBE7255D}"/>
              </a:ext>
            </a:extLst>
          </p:cNvPr>
          <p:cNvSpPr>
            <a:spLocks noGrp="1"/>
          </p:cNvSpPr>
          <p:nvPr/>
        </p:nvSpPr>
        <p:spPr>
          <a:xfrm>
            <a:off x="676275" y="3152775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7323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começa com um gargalo atual ou futuro, uma dificuldade de acesso, um risco, uma falha institucional ou uma oportunidade produtiva claramente descrita.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8E48086-FDEA-46F1-A472-E5ACD5E7830D}"/>
              </a:ext>
            </a:extLst>
          </p:cNvPr>
          <p:cNvSpPr>
            <a:spLocks noGrp="1"/>
          </p:cNvSpPr>
          <p:nvPr/>
        </p:nvSpPr>
        <p:spPr>
          <a:xfrm>
            <a:off x="4289425" y="2619375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7B00BBB-AB4E-46E5-A6FE-9A76AEC0B408}"/>
              </a:ext>
            </a:extLst>
          </p:cNvPr>
          <p:cNvSpPr>
            <a:spLocks noGrp="1"/>
          </p:cNvSpPr>
          <p:nvPr/>
        </p:nvSpPr>
        <p:spPr>
          <a:xfrm>
            <a:off x="4403725" y="27336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27923C7-620F-475A-AD39-3DE3AAAA3CAA}"/>
              </a:ext>
            </a:extLst>
          </p:cNvPr>
          <p:cNvSpPr>
            <a:spLocks noGrp="1"/>
          </p:cNvSpPr>
          <p:nvPr/>
        </p:nvSpPr>
        <p:spPr>
          <a:xfrm>
            <a:off x="4841875" y="270510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Entrega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38F9DDA-F619-4C57-B9D3-EE835BF394E8}"/>
              </a:ext>
            </a:extLst>
          </p:cNvPr>
          <p:cNvSpPr>
            <a:spLocks noGrp="1"/>
          </p:cNvSpPr>
          <p:nvPr/>
        </p:nvSpPr>
        <p:spPr>
          <a:xfrm>
            <a:off x="4441825" y="3152775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7323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projeto cria uma infraestrutura, um serviço, uma norma, um contrato, um sistema digital ou uma capacidade pública que pode responder ao problema.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0DB3149-A8B1-4B4B-8E61-01D047492F6F}"/>
              </a:ext>
            </a:extLst>
          </p:cNvPr>
          <p:cNvSpPr>
            <a:spLocks noGrp="1"/>
          </p:cNvSpPr>
          <p:nvPr/>
        </p:nvSpPr>
        <p:spPr>
          <a:xfrm>
            <a:off x="8054975" y="2619375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5A5DCB8-E0DE-4EEA-98DA-78DF0BA77431}"/>
              </a:ext>
            </a:extLst>
          </p:cNvPr>
          <p:cNvSpPr>
            <a:spLocks noGrp="1"/>
          </p:cNvSpPr>
          <p:nvPr/>
        </p:nvSpPr>
        <p:spPr>
          <a:xfrm>
            <a:off x="8169275" y="27336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2348466-958B-42B5-BECA-62A57A1FE289}"/>
              </a:ext>
            </a:extLst>
          </p:cNvPr>
          <p:cNvSpPr>
            <a:spLocks noGrp="1"/>
          </p:cNvSpPr>
          <p:nvPr/>
        </p:nvSpPr>
        <p:spPr>
          <a:xfrm>
            <a:off x="8607425" y="270510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Mudança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BFE481D-AF50-415F-B47E-0FCF1C6F4AE1}"/>
              </a:ext>
            </a:extLst>
          </p:cNvPr>
          <p:cNvSpPr>
            <a:spLocks noGrp="1"/>
          </p:cNvSpPr>
          <p:nvPr/>
        </p:nvSpPr>
        <p:spPr>
          <a:xfrm>
            <a:off x="8207375" y="3152775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7323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entrega deve alterar de forma observável o custo, o tempo, a confiabilidade, a segurança, a capacidade, o acesso ou a previsibilidade do sistema.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875C7D6-CF1E-4B76-BDB8-6266963835DC}"/>
              </a:ext>
            </a:extLst>
          </p:cNvPr>
          <p:cNvSpPr>
            <a:spLocks noGrp="1"/>
          </p:cNvSpPr>
          <p:nvPr/>
        </p:nvSpPr>
        <p:spPr>
          <a:xfrm>
            <a:off x="2406650" y="4195763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35D8C11-04E6-431E-B6ED-107E0A3B344B}"/>
              </a:ext>
            </a:extLst>
          </p:cNvPr>
          <p:cNvSpPr>
            <a:spLocks noGrp="1"/>
          </p:cNvSpPr>
          <p:nvPr/>
        </p:nvSpPr>
        <p:spPr>
          <a:xfrm>
            <a:off x="2520950" y="4310063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37FE4814-2DF1-49C4-A1F3-FB22F22A429C}"/>
              </a:ext>
            </a:extLst>
          </p:cNvPr>
          <p:cNvSpPr>
            <a:spLocks noGrp="1"/>
          </p:cNvSpPr>
          <p:nvPr/>
        </p:nvSpPr>
        <p:spPr>
          <a:xfrm>
            <a:off x="2959100" y="4281488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Resposta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6F112A5-A77C-4342-805B-1F550A7E9C0A}"/>
              </a:ext>
            </a:extLst>
          </p:cNvPr>
          <p:cNvSpPr>
            <a:spLocks noGrp="1"/>
          </p:cNvSpPr>
          <p:nvPr/>
        </p:nvSpPr>
        <p:spPr>
          <a:xfrm>
            <a:off x="2559050" y="4729163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7509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Operadores, empresas, famílias e agentes públicos podem mudar suas decisões quando percebem a nova condição produzida pelo projeto.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E834103-CD34-4E3A-9A0F-809A16FDCDA2}"/>
              </a:ext>
            </a:extLst>
          </p:cNvPr>
          <p:cNvSpPr>
            <a:spLocks noGrp="1"/>
          </p:cNvSpPr>
          <p:nvPr/>
        </p:nvSpPr>
        <p:spPr>
          <a:xfrm>
            <a:off x="6172200" y="4195763"/>
            <a:ext cx="3613150" cy="1423988"/>
          </a:xfrm>
          <a:prstGeom prst="roundRect">
            <a:avLst>
              <a:gd name="adj" fmla="val 602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4628E5C-2E30-4C33-89CD-B4EF1DA9D838}"/>
              </a:ext>
            </a:extLst>
          </p:cNvPr>
          <p:cNvSpPr>
            <a:spLocks noGrp="1"/>
          </p:cNvSpPr>
          <p:nvPr/>
        </p:nvSpPr>
        <p:spPr>
          <a:xfrm>
            <a:off x="6286500" y="4310063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B925CEA-A0CA-4357-AF46-DC4DB1A5E72C}"/>
              </a:ext>
            </a:extLst>
          </p:cNvPr>
          <p:cNvSpPr>
            <a:spLocks noGrp="1"/>
          </p:cNvSpPr>
          <p:nvPr/>
        </p:nvSpPr>
        <p:spPr>
          <a:xfrm>
            <a:off x="6724650" y="4281488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Impacto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4A137BC-42EA-460C-99FA-545ECAAD5EFA}"/>
              </a:ext>
            </a:extLst>
          </p:cNvPr>
          <p:cNvSpPr>
            <a:spLocks noGrp="1"/>
          </p:cNvSpPr>
          <p:nvPr/>
        </p:nvSpPr>
        <p:spPr>
          <a:xfrm>
            <a:off x="6324600" y="4729163"/>
            <a:ext cx="3308350" cy="776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7323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verifica se essa resposta gera um resultado econômico, social, ambiental, territorial ou institucional que possa ser atribuído à intervenção.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0D718CB-D428-472C-A94A-EF38AA105D7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145D352-D2E9-4496-B41C-07AC20030343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Cada passagem da cadeia causal constitui uma hipótese que precisa de evidência.</a:t>
            </a:r>
          </a:p>
        </p:txBody>
      </p:sp>
    </p:spTree>
    <p:extLst>
      <p:ext uri="{BB962C8B-B14F-4D97-AF65-F5344CB8AC3E}">
        <p14:creationId xmlns:p14="http://schemas.microsoft.com/office/powerpoint/2010/main" val="1332600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49BC59A-A86B-4C91-AD76-0E0326FCA370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6D50430-73AE-49E6-A235-91FC54B40B9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4AC6D27-42CD-4CF2-A79A-DD06FB9CBFF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4657C9-E8E2-4E9A-9186-D28C89CA4E44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Escopo físico e território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B57DDCDA-6E5C-4A7B-944D-526D232C24CA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693EBB5-D090-440C-95A5-4EF08BBEFE41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EE64D6-4489-400B-A3B7-E753130EB4D4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31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C3D5428-F0BE-4357-A865-52011E2A5C00}"/>
              </a:ext>
            </a:extLst>
          </p:cNvPr>
          <p:cNvSpPr>
            <a:spLocks noGrp="1"/>
          </p:cNvSpPr>
          <p:nvPr/>
        </p:nvSpPr>
        <p:spPr>
          <a:xfrm>
            <a:off x="476250" y="1743075"/>
            <a:ext cx="5381625" cy="3952875"/>
          </a:xfrm>
          <a:prstGeom prst="roundRect">
            <a:avLst>
              <a:gd name="adj" fmla="val 1928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0979FF2-CC6C-4EB3-A872-14196A9FF831}"/>
              </a:ext>
            </a:extLst>
          </p:cNvPr>
          <p:cNvSpPr>
            <a:spLocks noGrp="1"/>
          </p:cNvSpPr>
          <p:nvPr/>
        </p:nvSpPr>
        <p:spPr>
          <a:xfrm>
            <a:off x="6238875" y="1743075"/>
            <a:ext cx="5381625" cy="3952875"/>
          </a:xfrm>
          <a:prstGeom prst="roundRect">
            <a:avLst>
              <a:gd name="adj" fmla="val 192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FB6F518-9A76-4CAC-B4BE-867B3BFA1460}"/>
              </a:ext>
            </a:extLst>
          </p:cNvPr>
          <p:cNvSpPr>
            <a:spLocks noGrp="1"/>
          </p:cNvSpPr>
          <p:nvPr/>
        </p:nvSpPr>
        <p:spPr>
          <a:xfrm>
            <a:off x="590550" y="18192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Definição física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E2D4A5B-58D6-4057-AAE8-F03240DF8F9E}"/>
              </a:ext>
            </a:extLst>
          </p:cNvPr>
          <p:cNvSpPr>
            <a:spLocks noGrp="1"/>
          </p:cNvSpPr>
          <p:nvPr/>
        </p:nvSpPr>
        <p:spPr>
          <a:xfrm>
            <a:off x="6353175" y="18192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Inserção territorial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2B31355-7C76-48A6-9835-81C54D47B958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5153025" cy="3362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definição física descreve o traçado, os pontos de conexão, os terminais, as obras associadas e as interfaces operacionais necessárias.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aplicável, a FAP informa a extensão, a capacidade, o padrão técnico, o serviço oferecido e a frota ou o equipamento previstos.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identifica todos os componentes sem os quais a solução não funcionaria como um sistema completo.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fases e as alternativas de implantação são distinguidas dos elementos que permanecem fora do objeto de decisão.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geometria utilizada nos mapas recebe uma versão e permanece vinculada ao mesmo identificador cadastral da FAP.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4F49410-B30C-41AB-8FB4-1D9E04D1E6C5}"/>
              </a:ext>
            </a:extLst>
          </p:cNvPr>
          <p:cNvSpPr>
            <a:spLocks noGrp="1"/>
          </p:cNvSpPr>
          <p:nvPr/>
        </p:nvSpPr>
        <p:spPr>
          <a:xfrm>
            <a:off x="6353175" y="2238375"/>
            <a:ext cx="5153025" cy="3362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inserção territorial identifica os municípios, as regiões, as áreas diretamente ocupadas e os territórios funcionalmente afetados.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localiza as conexões com redes existentes, polos produtivos, serviços públicos e centros logísticos.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registra quais populações, atividades e áreas sensíveis podem receber benefícios ou suportar ônus decorrentes do projeto.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distingue a área diretamente ocupada, a área afetada, o território beneficiário e os efeitos indiretos mais amplos.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verifica a compatibilidade do projeto com planos territoriais e com intervenções próximas que possam reforçar, limitar ou duplicar sua função.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B62A502-81CD-48D2-B127-407D9D6DF75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11DBCF9-CB17-4EF1-A4BE-779200A2DFBD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geometria permite cruzamentos territoriais, mas o traçado sozinho não demonstra impacto.</a:t>
            </a:r>
          </a:p>
        </p:txBody>
      </p:sp>
    </p:spTree>
    <p:extLst>
      <p:ext uri="{BB962C8B-B14F-4D97-AF65-F5344CB8AC3E}">
        <p14:creationId xmlns:p14="http://schemas.microsoft.com/office/powerpoint/2010/main" val="2083342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BAAEA1E-4331-4D1A-AA3D-2FD717B45E0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F7DA134-93FA-4017-B2FC-7B1A1A0D02D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41" name="Imagem 4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270179F-E3D1-45F9-A653-BAF51947D8AB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CCEE3BA-4684-46E6-BDE5-00C375BDA21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Rede e solução de gargalos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B6B965B-2B02-4B0E-A39A-AD2BBCAEF28E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04288E-AB43-49EA-A4C3-76D81D10E6B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0BCB69A-672A-4BD9-967C-FD6C21736F29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A0301E6-E99F-4DCE-B5BF-692701777C60}"/>
              </a:ext>
            </a:extLst>
          </p:cNvPr>
          <p:cNvSpPr>
            <a:spLocks noGrp="1"/>
          </p:cNvSpPr>
          <p:nvPr/>
        </p:nvSpPr>
        <p:spPr>
          <a:xfrm>
            <a:off x="476250" y="16764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2FE6400-81C8-465D-BDA9-9C79C13CD9C9}"/>
              </a:ext>
            </a:extLst>
          </p:cNvPr>
          <p:cNvSpPr>
            <a:spLocks noGrp="1"/>
          </p:cNvSpPr>
          <p:nvPr/>
        </p:nvSpPr>
        <p:spPr>
          <a:xfrm>
            <a:off x="571500" y="1733550"/>
            <a:ext cx="2019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Função na rede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1342C3BA-924D-4457-B903-57E1D811F113}"/>
              </a:ext>
            </a:extLst>
          </p:cNvPr>
          <p:cNvSpPr>
            <a:spLocks noGrp="1"/>
          </p:cNvSpPr>
          <p:nvPr/>
        </p:nvSpPr>
        <p:spPr>
          <a:xfrm>
            <a:off x="2667000" y="17430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D5B69EB-6174-4E18-9BEA-5374599A9829}"/>
              </a:ext>
            </a:extLst>
          </p:cNvPr>
          <p:cNvSpPr>
            <a:spLocks noGrp="1"/>
          </p:cNvSpPr>
          <p:nvPr/>
        </p:nvSpPr>
        <p:spPr>
          <a:xfrm>
            <a:off x="2781300" y="1724025"/>
            <a:ext cx="8724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explica se o projeto elimina, reduz, desloca ou posterga um gargalo, cria redundância, melhora o acesso ou transfere fluxo entre modos e corredores.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67C6B87-E15B-4DAA-94FD-E3B6E4E495AC}"/>
              </a:ext>
            </a:extLst>
          </p:cNvPr>
          <p:cNvSpPr>
            <a:spLocks noGrp="1"/>
          </p:cNvSpPr>
          <p:nvPr/>
        </p:nvSpPr>
        <p:spPr>
          <a:xfrm>
            <a:off x="476250" y="23336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19BDF28-8FCF-4B69-BEF6-C76C52E123A9}"/>
              </a:ext>
            </a:extLst>
          </p:cNvPr>
          <p:cNvSpPr>
            <a:spLocks noGrp="1"/>
          </p:cNvSpPr>
          <p:nvPr/>
        </p:nvSpPr>
        <p:spPr>
          <a:xfrm>
            <a:off x="571500" y="2390775"/>
            <a:ext cx="2019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Indicador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B931DB8D-FC47-4ED9-A3C4-B6091CF4091A}"/>
              </a:ext>
            </a:extLst>
          </p:cNvPr>
          <p:cNvSpPr>
            <a:spLocks noGrp="1"/>
          </p:cNvSpPr>
          <p:nvPr/>
        </p:nvSpPr>
        <p:spPr>
          <a:xfrm>
            <a:off x="2667000" y="24003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677EA45-7623-42D4-87EA-075DEFD078E8}"/>
              </a:ext>
            </a:extLst>
          </p:cNvPr>
          <p:cNvSpPr>
            <a:spLocks noGrp="1"/>
          </p:cNvSpPr>
          <p:nvPr/>
        </p:nvSpPr>
        <p:spPr>
          <a:xfrm>
            <a:off x="2781300" y="2381250"/>
            <a:ext cx="8724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efeito é demonstrado por mudanças na distância e no tempo percorridos, no volume, no custo, na velocidade, no uso da capacidade, no nível de serviço ou na confiabilidade.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E72F178-BED5-44C7-B1C5-3A3299B8AF2B}"/>
              </a:ext>
            </a:extLst>
          </p:cNvPr>
          <p:cNvSpPr>
            <a:spLocks noGrp="1"/>
          </p:cNvSpPr>
          <p:nvPr/>
        </p:nvSpPr>
        <p:spPr>
          <a:xfrm>
            <a:off x="476250" y="29908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92F7631-1139-459D-83DA-CAE92DAD0304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2019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Referência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9CDD31F2-9B83-4634-82F2-698F99B87A54}"/>
              </a:ext>
            </a:extLst>
          </p:cNvPr>
          <p:cNvSpPr>
            <a:spLocks noGrp="1"/>
          </p:cNvSpPr>
          <p:nvPr/>
        </p:nvSpPr>
        <p:spPr>
          <a:xfrm>
            <a:off x="2667000" y="30575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0F76187-98E4-4FAD-B5E4-DDDE576A1B84}"/>
              </a:ext>
            </a:extLst>
          </p:cNvPr>
          <p:cNvSpPr>
            <a:spLocks noGrp="1"/>
          </p:cNvSpPr>
          <p:nvPr/>
        </p:nvSpPr>
        <p:spPr>
          <a:xfrm>
            <a:off x="2781300" y="3038475"/>
            <a:ext cx="8724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resultado é comparado com o Cenário de Oferta Mínima, identificado como CMIN, no mesmo horizonte e sob a mesma demanda tendencial. Esse cenário sem o projeto constitui o contrafactual comum da comparação.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260C0F9-F56C-4FBE-880F-CA48CCE24542}"/>
              </a:ext>
            </a:extLst>
          </p:cNvPr>
          <p:cNvSpPr>
            <a:spLocks noGrp="1"/>
          </p:cNvSpPr>
          <p:nvPr/>
        </p:nvSpPr>
        <p:spPr>
          <a:xfrm>
            <a:off x="476250" y="36480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C417841-8D9C-4A41-9454-6612B8B27F1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2019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Persistência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8EE5BE68-CB86-4139-881A-13083C56777E}"/>
              </a:ext>
            </a:extLst>
          </p:cNvPr>
          <p:cNvSpPr>
            <a:spLocks noGrp="1"/>
          </p:cNvSpPr>
          <p:nvPr/>
        </p:nvSpPr>
        <p:spPr>
          <a:xfrm>
            <a:off x="2667000" y="37147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29A718A-01E5-44D7-BA34-EDBE3253AA83}"/>
              </a:ext>
            </a:extLst>
          </p:cNvPr>
          <p:cNvSpPr>
            <a:spLocks noGrp="1"/>
          </p:cNvSpPr>
          <p:nvPr/>
        </p:nvSpPr>
        <p:spPr>
          <a:xfrm>
            <a:off x="2781300" y="3695700"/>
            <a:ext cx="8724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verifica por quanto tempo o alívio permanece, se novos gargalos surgem em outros trechos da rede depois da implantação e quando a capacidade volta a se esgotar.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1F83B9E-F412-4AAF-ABB6-8CF7BF99EBA4}"/>
              </a:ext>
            </a:extLst>
          </p:cNvPr>
          <p:cNvSpPr>
            <a:spLocks noGrp="1"/>
          </p:cNvSpPr>
          <p:nvPr/>
        </p:nvSpPr>
        <p:spPr>
          <a:xfrm>
            <a:off x="476250" y="43053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E928013-4C05-46C0-A456-EABBE8743706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2019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Pacote</a:t>
            </a:r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6DC92AF5-565B-404E-BFE1-567C30EAF658}"/>
              </a:ext>
            </a:extLst>
          </p:cNvPr>
          <p:cNvSpPr>
            <a:spLocks noGrp="1"/>
          </p:cNvSpPr>
          <p:nvPr/>
        </p:nvSpPr>
        <p:spPr>
          <a:xfrm>
            <a:off x="2667000" y="43719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0A66396-6215-4E40-AE63-7C4F70766538}"/>
              </a:ext>
            </a:extLst>
          </p:cNvPr>
          <p:cNvSpPr>
            <a:spLocks noGrp="1"/>
          </p:cNvSpPr>
          <p:nvPr/>
        </p:nvSpPr>
        <p:spPr>
          <a:xfrm>
            <a:off x="2781300" y="4352925"/>
            <a:ext cx="8724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o projeto depende de terminais, acessos, instalações ou regras complementares, a FAP registra o efeito do pacote e a contribuição identificável de cada componente.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E60D5684-60B8-451D-9B4A-BD829A91F2A1}"/>
              </a:ext>
            </a:extLst>
          </p:cNvPr>
          <p:cNvSpPr>
            <a:spLocks noGrp="1"/>
          </p:cNvSpPr>
          <p:nvPr/>
        </p:nvSpPr>
        <p:spPr>
          <a:xfrm>
            <a:off x="476250" y="49625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E1531D4-7B01-4A05-9955-2DD20890DD8D}"/>
              </a:ext>
            </a:extLst>
          </p:cNvPr>
          <p:cNvSpPr>
            <a:spLocks noGrp="1"/>
          </p:cNvSpPr>
          <p:nvPr/>
        </p:nvSpPr>
        <p:spPr>
          <a:xfrm>
            <a:off x="571500" y="5019675"/>
            <a:ext cx="2019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Interpretação</a:t>
            </a:r>
          </a:p>
        </p:txBody>
      </p:sp>
      <p:sp>
        <p:nvSpPr>
          <p:cNvPr id="33" name="Conector reto 32">
            <a:extLst>
              <a:ext uri="{FF2B5EF4-FFF2-40B4-BE49-F238E27FC236}">
                <a16:creationId xmlns:a16="http://schemas.microsoft.com/office/drawing/2014/main" id="{68B6571D-09B2-4F13-8DCD-DCC5EB732E94}"/>
              </a:ext>
            </a:extLst>
          </p:cNvPr>
          <p:cNvSpPr>
            <a:spLocks noGrp="1"/>
          </p:cNvSpPr>
          <p:nvPr/>
        </p:nvSpPr>
        <p:spPr>
          <a:xfrm>
            <a:off x="2667000" y="50292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8E204F9-154B-469B-A346-3E8DE773124A}"/>
              </a:ext>
            </a:extLst>
          </p:cNvPr>
          <p:cNvSpPr>
            <a:spLocks noGrp="1"/>
          </p:cNvSpPr>
          <p:nvPr/>
        </p:nvSpPr>
        <p:spPr>
          <a:xfrm>
            <a:off x="2781300" y="5010150"/>
            <a:ext cx="8724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converte o resultado técnico em uma afirmação clara sobre a contribuição do projeto, mas deixa a monetização desse efeito para o D16.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B8593BD-9061-4FE4-91EA-6A8FF6D4BC5A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19ADBD2-D0D8-4123-9C45-EC96D28A28F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registra o efeito de rede e seus limites. A valoração econômica pertence ao D16.</a:t>
            </a:r>
          </a:p>
        </p:txBody>
      </p:sp>
    </p:spTree>
    <p:extLst>
      <p:ext uri="{BB962C8B-B14F-4D97-AF65-F5344CB8AC3E}">
        <p14:creationId xmlns:p14="http://schemas.microsoft.com/office/powerpoint/2010/main" val="1014731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D0E7221E-B019-4400-85F4-8B94C1E751E2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D6DD4FD-C51F-4339-9890-E4E2FE66575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03555A9-8D8E-4E92-97ED-232A3FBC9FFC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0EEC3F-BFF1-4136-A324-F2B41D2127CC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Territorialidade e ambiente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9A5C4F3-968E-471C-AF77-0EE5BD3578EC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28952D0-AAE0-4255-A1E7-7FD63CA77A91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50CBDB-E9B1-46FA-9DCA-AB01BA72DEA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33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4F64905-7F66-4B67-8899-A092999C354B}"/>
              </a:ext>
            </a:extLst>
          </p:cNvPr>
          <p:cNvSpPr>
            <a:spLocks noGrp="1"/>
          </p:cNvSpPr>
          <p:nvPr/>
        </p:nvSpPr>
        <p:spPr>
          <a:xfrm>
            <a:off x="476250" y="1733550"/>
            <a:ext cx="5381625" cy="3962400"/>
          </a:xfrm>
          <a:prstGeom prst="roundRect">
            <a:avLst>
              <a:gd name="adj" fmla="val 1923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7C7598C-57EA-45FA-A64B-A550434F087F}"/>
              </a:ext>
            </a:extLst>
          </p:cNvPr>
          <p:cNvSpPr>
            <a:spLocks noGrp="1"/>
          </p:cNvSpPr>
          <p:nvPr/>
        </p:nvSpPr>
        <p:spPr>
          <a:xfrm>
            <a:off x="6238875" y="1733550"/>
            <a:ext cx="5381625" cy="3962400"/>
          </a:xfrm>
          <a:prstGeom prst="roundRect">
            <a:avLst>
              <a:gd name="adj" fmla="val 1923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3ABEB7-F17E-42D7-8E25-DDF540E28178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Camadas de exposição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BDAD1BF-BA89-4CB6-9EE2-76499C2D83C3}"/>
              </a:ext>
            </a:extLst>
          </p:cNvPr>
          <p:cNvSpPr>
            <a:spLocks noGrp="1"/>
          </p:cNvSpPr>
          <p:nvPr/>
        </p:nvSpPr>
        <p:spPr>
          <a:xfrm>
            <a:off x="6353175" y="18097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Produto da análise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1E9A1FB-6341-40A1-BE29-C63A3482E5BB}"/>
              </a:ext>
            </a:extLst>
          </p:cNvPr>
          <p:cNvSpPr>
            <a:spLocks noGrp="1"/>
          </p:cNvSpPr>
          <p:nvPr/>
        </p:nvSpPr>
        <p:spPr>
          <a:xfrm>
            <a:off x="590550" y="2228850"/>
            <a:ext cx="51530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identifica unidades de conservação, Áreas de Proteção Ambiental, mananciais e áreas de vegetação relevante próximas ao projeto.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cruzamento territorial localiza territórios quilombolas, terras indígenas e outras comunidades tradicionais que possam ser afetadas.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também verifica áreas urbanas, assentamentos, patrimônio cultural e usos do solo que exigem tratamento específico.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Cursos de água, zonas costeiras, áreas geotecnicamente sensíveis e corredores ecológicos entram na leitura da exposição territorial.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procura conflitos ou sinergias com a expansão urbana e com outros projetos de infraestrutura previstos para o mesmo território.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AC319FE-B7B7-473E-8554-A72BF093D1C4}"/>
              </a:ext>
            </a:extLst>
          </p:cNvPr>
          <p:cNvSpPr>
            <a:spLocks noGrp="1"/>
          </p:cNvSpPr>
          <p:nvPr/>
        </p:nvSpPr>
        <p:spPr>
          <a:xfrm>
            <a:off x="6353175" y="2228850"/>
            <a:ext cx="5153025" cy="3371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Para cada cruzamento, a base registra se existe sobreposição ou proximidade, a distância entre os elementos, a área potencialmente afetada e o tipo de relação observado.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restrições legais ou ambientais já conhecidas permanecem vinculadas à norma ou à base oficial que as estabelece.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ponto de atenção gera a indicação do estudo, da licença ou do ajuste de traçado necessário para seu tratamento.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pode propor mudanças de concepção destinadas a evitar, minimizar ou compensar impactos potenciais.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313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grau de confiança de cada conclusão depende da precisão e da versão da geometria disponível para o projeto.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89CFE05-843C-4BC2-9893-0D22552C3BB5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E4ECBCE-C426-4BE7-B30D-520A3E657ED9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Sobreposição espacial indica exposição ou restrição potencial. Ela não constitui, isoladamente, impacto positivo ou negativo.</a:t>
            </a:r>
          </a:p>
        </p:txBody>
      </p:sp>
    </p:spTree>
    <p:extLst>
      <p:ext uri="{BB962C8B-B14F-4D97-AF65-F5344CB8AC3E}">
        <p14:creationId xmlns:p14="http://schemas.microsoft.com/office/powerpoint/2010/main" val="6660988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E4D13740-0F06-4570-BCBC-449FB259792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9F5A220-23D2-411E-8A39-28762A094E54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BDD0F3D-89DB-4BBE-86D6-D1220AC053C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0E767C4-32C3-4D62-8749-41DCB01554BF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Resiliência climática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60455B8B-EFAD-4EB3-9586-EA71ACD2E00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133D5E3-BA4A-45C0-9E9C-BD0D5832232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57B3B93-F665-4609-A728-DDCB05282EA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34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19D01EB-9229-4588-9FE0-137A579F95F8}"/>
              </a:ext>
            </a:extLst>
          </p:cNvPr>
          <p:cNvSpPr>
            <a:spLocks noGrp="1"/>
          </p:cNvSpPr>
          <p:nvPr/>
        </p:nvSpPr>
        <p:spPr>
          <a:xfrm>
            <a:off x="476250" y="1714500"/>
            <a:ext cx="11144250" cy="1000125"/>
          </a:xfrm>
          <a:prstGeom prst="roundRect">
            <a:avLst>
              <a:gd name="adj" fmla="val 6667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B57F9E8-89C0-47AE-959B-30408A84CF88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1143000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A89E25A-BDF8-4577-9853-7908399F1C7F}"/>
              </a:ext>
            </a:extLst>
          </p:cNvPr>
          <p:cNvSpPr>
            <a:spLocks noGrp="1"/>
          </p:cNvSpPr>
          <p:nvPr/>
        </p:nvSpPr>
        <p:spPr>
          <a:xfrm>
            <a:off x="1905000" y="18002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Exposição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698574C-8E6D-420B-AF46-55C84E8B2C87}"/>
              </a:ext>
            </a:extLst>
          </p:cNvPr>
          <p:cNvSpPr>
            <a:spLocks noGrp="1"/>
          </p:cNvSpPr>
          <p:nvPr/>
        </p:nvSpPr>
        <p:spPr>
          <a:xfrm>
            <a:off x="1905000" y="2105025"/>
            <a:ext cx="954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identifica quais ameaças climáticas podem alcançar o traçado ou comprometer a operação, considerando calor extremo, chuvas intensas, inundações, deslizamentos, erosão, incêndios e elevação do nível do mar.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91D5A88-367B-41C2-8699-77FC28B89059}"/>
              </a:ext>
            </a:extLst>
          </p:cNvPr>
          <p:cNvSpPr>
            <a:spLocks noGrp="1"/>
          </p:cNvSpPr>
          <p:nvPr/>
        </p:nvSpPr>
        <p:spPr>
          <a:xfrm>
            <a:off x="476250" y="2847975"/>
            <a:ext cx="11144250" cy="1000125"/>
          </a:xfrm>
          <a:prstGeom prst="roundRect">
            <a:avLst>
              <a:gd name="adj" fmla="val 666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A09E88D-9E2C-4145-BB54-4BC97B4931E6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1143000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7C71BF1-9719-4612-B600-97D0CD842B5B}"/>
              </a:ext>
            </a:extLst>
          </p:cNvPr>
          <p:cNvSpPr>
            <a:spLocks noGrp="1"/>
          </p:cNvSpPr>
          <p:nvPr/>
        </p:nvSpPr>
        <p:spPr>
          <a:xfrm>
            <a:off x="1905000" y="29337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Vulnerabilidade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FBCA00F-9D28-4F42-835F-D8BF323A1D34}"/>
              </a:ext>
            </a:extLst>
          </p:cNvPr>
          <p:cNvSpPr>
            <a:spLocks noGrp="1"/>
          </p:cNvSpPr>
          <p:nvPr/>
        </p:nvSpPr>
        <p:spPr>
          <a:xfrm>
            <a:off x="1905000" y="3238500"/>
            <a:ext cx="954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estima em que medida pavimentos, pontes, viadutos, túneis, bueiros, taludes, sistemas elétricos, terminais, hidrovias, portos e serviços podem perder desempenho quando a ameaça ocorre.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B10C1DD-2528-4623-B22B-2621C988E145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1144250" cy="1000125"/>
          </a:xfrm>
          <a:prstGeom prst="roundRect">
            <a:avLst>
              <a:gd name="adj" fmla="val 666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B00D791-343F-4825-8CBA-494315DD89CD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143000" cy="771525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881607-B492-4378-B665-6643A3B5F5EC}"/>
              </a:ext>
            </a:extLst>
          </p:cNvPr>
          <p:cNvSpPr>
            <a:spLocks noGrp="1"/>
          </p:cNvSpPr>
          <p:nvPr/>
        </p:nvSpPr>
        <p:spPr>
          <a:xfrm>
            <a:off x="1905000" y="40671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Continuidade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8E88055-F67C-4AEB-8971-9219B4A826D5}"/>
              </a:ext>
            </a:extLst>
          </p:cNvPr>
          <p:cNvSpPr>
            <a:spLocks noGrp="1"/>
          </p:cNvSpPr>
          <p:nvPr/>
        </p:nvSpPr>
        <p:spPr>
          <a:xfrm>
            <a:off x="1905000" y="4371975"/>
            <a:ext cx="954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registra a possibilidade de interrupção, a perda de capacidade, o tempo necessário para recuperar a operação e a propagação do problema para cadeias produtivas ou serviços essenciais.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6A657D1-E4E7-4DB3-A82E-A7F9A7E0D371}"/>
              </a:ext>
            </a:extLst>
          </p:cNvPr>
          <p:cNvSpPr>
            <a:spLocks noGrp="1"/>
          </p:cNvSpPr>
          <p:nvPr/>
        </p:nvSpPr>
        <p:spPr>
          <a:xfrm>
            <a:off x="476250" y="5048250"/>
            <a:ext cx="11144250" cy="876300"/>
          </a:xfrm>
          <a:prstGeom prst="roundRect">
            <a:avLst>
              <a:gd name="adj" fmla="val 7609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F36F93F-2716-45D9-88BF-48219799BF09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143000" cy="6477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8A53F92-F111-406D-A509-838CE0CA211D}"/>
              </a:ext>
            </a:extLst>
          </p:cNvPr>
          <p:cNvSpPr>
            <a:spLocks noGrp="1"/>
          </p:cNvSpPr>
          <p:nvPr/>
        </p:nvSpPr>
        <p:spPr>
          <a:xfrm>
            <a:off x="1905000" y="51339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Adaptação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BC20C2F-BBE1-4BCA-B8A4-195CAB06F2BF}"/>
              </a:ext>
            </a:extLst>
          </p:cNvPr>
          <p:cNvSpPr>
            <a:spLocks noGrp="1"/>
          </p:cNvSpPr>
          <p:nvPr/>
        </p:nvSpPr>
        <p:spPr>
          <a:xfrm>
            <a:off x="1905000" y="5438775"/>
            <a:ext cx="95440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6726"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registra medidas que podem integrar o projeto, como redundância de rotas, drenagem reforçada, reservas de água, monitoramento, proteção de encostas e protocolos de emergência.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CBE461F-B005-4DF3-82E7-2C7AD79F5436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F746CF8-61F6-4501-8EC1-06570F818442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3445"/>
          </a:bodyPr>
          <a:lstStyle/>
          <a:p>
            <a:pPr algn="l">
              <a:lnSpc>
                <a:spcPct val="105000"/>
              </a:lnSpc>
              <a:buNone/>
              <a:defRPr sz="1177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77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identifica riscos e oportunidades de redesenho do projeto. Para estimar o benefício econômico da resiliência, o D16 precisará quantificar as perdas que cada medida evita e a probabilidade de ocorrência dos eventos climáticos.</a:t>
            </a:r>
          </a:p>
        </p:txBody>
      </p:sp>
    </p:spTree>
    <p:extLst>
      <p:ext uri="{BB962C8B-B14F-4D97-AF65-F5344CB8AC3E}">
        <p14:creationId xmlns:p14="http://schemas.microsoft.com/office/powerpoint/2010/main" val="1022463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76170AA-B885-44F3-8871-E52B0B408E9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090976E-F902-4B40-B17B-3DEC4F0DFEB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3F71671-78BA-4A32-8123-754D61BD16E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C8E376-8847-4858-A5D5-DE5747564EFA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Emissões e transição energética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6662B456-47FE-45AA-9D8E-8A7CF7F1410C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29376DD-7ADF-4D4D-8251-BCF1CD6BC91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ADEC961-88D9-4DD7-8450-2E2785D7B83E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69BFAE6-C548-4B13-AF50-AE43483815D5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Emissões por poluente, modal, tecnologia, horizonte e cenário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348FF4B-0578-4D0D-B0B3-213076022580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2381250" cy="523875"/>
          </a:xfrm>
          <a:prstGeom prst="roundRect">
            <a:avLst>
              <a:gd name="adj" fmla="val 12727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ATIVIDADE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B175AC4-B1BD-42DD-893C-CF3CFFC2CF74}"/>
              </a:ext>
            </a:extLst>
          </p:cNvPr>
          <p:cNvSpPr>
            <a:spLocks noGrp="1"/>
          </p:cNvSpPr>
          <p:nvPr/>
        </p:nvSpPr>
        <p:spPr>
          <a:xfrm>
            <a:off x="1000125" y="2990850"/>
            <a:ext cx="2381250" cy="1123950"/>
          </a:xfrm>
          <a:prstGeom prst="roundRect">
            <a:avLst>
              <a:gd name="adj" fmla="val 593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D12 informa quanto o projeto altera as distâncias percorridas, os volumes transportados e a utilização de cada modo de transporte.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646A2E5-D2E6-41A6-878D-F74DDFDB6F19}"/>
              </a:ext>
            </a:extLst>
          </p:cNvPr>
          <p:cNvSpPr>
            <a:spLocks noGrp="1"/>
          </p:cNvSpPr>
          <p:nvPr/>
        </p:nvSpPr>
        <p:spPr>
          <a:xfrm>
            <a:off x="3619500" y="28765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ctr">
              <a:lnSpc>
                <a:spcPct val="105000"/>
              </a:lnSpc>
              <a:buNone/>
              <a:defRPr sz="31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×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016DE15-A72E-4278-A919-4F396FBCA874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2952750" cy="523875"/>
          </a:xfrm>
          <a:prstGeom prst="roundRect">
            <a:avLst>
              <a:gd name="adj" fmla="val 12727"/>
            </a:avLst>
          </a:prstGeom>
          <a:solidFill>
            <a:srgbClr val="263B63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FATOR DE EMISSÃO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5C1DB6D-A41F-434B-9572-FA01C3A482E6}"/>
              </a:ext>
            </a:extLst>
          </p:cNvPr>
          <p:cNvSpPr>
            <a:spLocks noGrp="1"/>
          </p:cNvSpPr>
          <p:nvPr/>
        </p:nvSpPr>
        <p:spPr>
          <a:xfrm>
            <a:off x="4286250" y="2990850"/>
            <a:ext cx="2952750" cy="1123950"/>
          </a:xfrm>
          <a:prstGeom prst="roundRect">
            <a:avLst>
              <a:gd name="adj" fmla="val 593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aplica um fator que varia conforme o poluente, o combustível, a tecnologia, a idade da frota, o nível de carga e o horizonte.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4853163-6012-4BE3-A704-B3E90DF453E6}"/>
              </a:ext>
            </a:extLst>
          </p:cNvPr>
          <p:cNvSpPr>
            <a:spLocks noGrp="1"/>
          </p:cNvSpPr>
          <p:nvPr/>
        </p:nvSpPr>
        <p:spPr>
          <a:xfrm>
            <a:off x="7477125" y="28765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ctr">
              <a:lnSpc>
                <a:spcPct val="105000"/>
              </a:lnSpc>
              <a:buNone/>
              <a:defRPr sz="31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=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810A209-90B9-4F8C-8987-16C9DA40FA6B}"/>
              </a:ext>
            </a:extLst>
          </p:cNvPr>
          <p:cNvSpPr>
            <a:spLocks noGrp="1"/>
          </p:cNvSpPr>
          <p:nvPr/>
        </p:nvSpPr>
        <p:spPr>
          <a:xfrm>
            <a:off x="8143875" y="2381250"/>
            <a:ext cx="3000375" cy="523875"/>
          </a:xfrm>
          <a:prstGeom prst="roundRect">
            <a:avLst>
              <a:gd name="adj" fmla="val 12727"/>
            </a:avLst>
          </a:prstGeom>
          <a:solidFill>
            <a:srgbClr val="55B77D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EMISSÃO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4DE0317-7BA3-401C-B3D3-00EB8432FAF9}"/>
              </a:ext>
            </a:extLst>
          </p:cNvPr>
          <p:cNvSpPr>
            <a:spLocks noGrp="1"/>
          </p:cNvSpPr>
          <p:nvPr/>
        </p:nvSpPr>
        <p:spPr>
          <a:xfrm>
            <a:off x="8143875" y="2990850"/>
            <a:ext cx="3000375" cy="1123950"/>
          </a:xfrm>
          <a:prstGeom prst="roundRect">
            <a:avLst>
              <a:gd name="adj" fmla="val 5932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resultado mostra quanto o projeto aumenta ou reduz cada poluente em relação ao mesmo cenário sem o projeto.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A94CFA0-235F-4F73-8286-FB310D1319D0}"/>
              </a:ext>
            </a:extLst>
          </p:cNvPr>
          <p:cNvSpPr>
            <a:spLocks noGrp="1"/>
          </p:cNvSpPr>
          <p:nvPr/>
        </p:nvSpPr>
        <p:spPr>
          <a:xfrm>
            <a:off x="1381125" y="4400550"/>
            <a:ext cx="9429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cálculo compara o cenário com projeto e o cenário de referência sem o projeto, denominado contrafactual, no mesmo horizonte. Essa comparação isola a parcela de emissão atribuível à intervenção.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unidade de atividade e o fator de emissão permanecem documentados para que outra equipe possa reproduzir o resultado.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5B9FEFE-0C2C-415E-99D8-1CAE6DAE37B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905D678-5D15-414E-BD62-F8E3EB7CCF7F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transforma os resultados de atividade da rede em emissões incrementais, mantendo separadas as premissas de tecnologia e de horizonte.</a:t>
            </a:r>
          </a:p>
        </p:txBody>
      </p:sp>
    </p:spTree>
    <p:extLst>
      <p:ext uri="{BB962C8B-B14F-4D97-AF65-F5344CB8AC3E}">
        <p14:creationId xmlns:p14="http://schemas.microsoft.com/office/powerpoint/2010/main" val="1381108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3741938-A922-4722-95A9-DB390BB7106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EAAD5F9-503D-4837-84FC-33C10C941AA4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95CDA9B-AC02-467D-B91F-96ACE88C36E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F22F55A-2E91-4E80-8EC0-DA27B0A120C3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Tratamento das emissões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46B88803-5261-40CD-80AC-343304944068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B01CC3F-6703-4CC3-BDEB-9EB8B6C9E780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951DFBD-3E21-41BF-874C-4D27EAFE52B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36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A23129B-A13E-477C-82AE-9F4C81871D42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11144250" cy="981075"/>
          </a:xfrm>
          <a:prstGeom prst="roundRect">
            <a:avLst>
              <a:gd name="adj" fmla="val 679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B0E6AEB-11CA-4960-9E1F-07BCF460E49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143000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CBF152D-EE21-40F7-83BF-2256E035CF55}"/>
              </a:ext>
            </a:extLst>
          </p:cNvPr>
          <p:cNvSpPr>
            <a:spLocks noGrp="1"/>
          </p:cNvSpPr>
          <p:nvPr/>
        </p:nvSpPr>
        <p:spPr>
          <a:xfrm>
            <a:off x="1905000" y="17811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Poluentes distintos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A7EA90C-5094-481F-8269-847AB281B754}"/>
              </a:ext>
            </a:extLst>
          </p:cNvPr>
          <p:cNvSpPr>
            <a:spLocks noGrp="1"/>
          </p:cNvSpPr>
          <p:nvPr/>
        </p:nvSpPr>
        <p:spPr>
          <a:xfrm>
            <a:off x="1905000" y="2085975"/>
            <a:ext cx="9544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apresenta o dióxido de carbono equivalente, ou CO₂e, separadamente do monóxido de carbono, dos óxidos de nitrogênio, dos óxidos de enxofre e do material particulado, porque esses poluentes produzem efeitos diferentes.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239575A-5130-48E1-BC61-47878350F77A}"/>
              </a:ext>
            </a:extLst>
          </p:cNvPr>
          <p:cNvSpPr>
            <a:spLocks noGrp="1"/>
          </p:cNvSpPr>
          <p:nvPr/>
        </p:nvSpPr>
        <p:spPr>
          <a:xfrm>
            <a:off x="476250" y="2781300"/>
            <a:ext cx="11144250" cy="981075"/>
          </a:xfrm>
          <a:prstGeom prst="roundRect">
            <a:avLst>
              <a:gd name="adj" fmla="val 6796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3C0A96C-0FE9-4F0A-A500-123FCD68ED56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1143000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FAA0F4-CF40-47F6-B5AB-7EEE160C86D3}"/>
              </a:ext>
            </a:extLst>
          </p:cNvPr>
          <p:cNvSpPr>
            <a:spLocks noGrp="1"/>
          </p:cNvSpPr>
          <p:nvPr/>
        </p:nvSpPr>
        <p:spPr>
          <a:xfrm>
            <a:off x="1905000" y="28670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Fontes de emissão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3E81E98-7C78-49D9-B3A3-D18030D749D6}"/>
              </a:ext>
            </a:extLst>
          </p:cNvPr>
          <p:cNvSpPr>
            <a:spLocks noGrp="1"/>
          </p:cNvSpPr>
          <p:nvPr/>
        </p:nvSpPr>
        <p:spPr>
          <a:xfrm>
            <a:off x="1905000" y="3171825"/>
            <a:ext cx="9544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distingue as emissões do escapamento, as partículas geradas pelo desgaste de pneus e freios e as emissões associadas à produção de energia, combustíveis e equipamentos.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DA8B5A0-0120-495C-B001-A7F39BE93187}"/>
              </a:ext>
            </a:extLst>
          </p:cNvPr>
          <p:cNvSpPr>
            <a:spLocks noGrp="1"/>
          </p:cNvSpPr>
          <p:nvPr/>
        </p:nvSpPr>
        <p:spPr>
          <a:xfrm>
            <a:off x="476250" y="3867150"/>
            <a:ext cx="11144250" cy="981075"/>
          </a:xfrm>
          <a:prstGeom prst="roundRect">
            <a:avLst>
              <a:gd name="adj" fmla="val 6796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8867DE6-5E34-474A-A77D-F1ADC08723E0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143000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74DC634-3994-4565-92E8-BD8A7F484AD7}"/>
              </a:ext>
            </a:extLst>
          </p:cNvPr>
          <p:cNvSpPr>
            <a:spLocks noGrp="1"/>
          </p:cNvSpPr>
          <p:nvPr/>
        </p:nvSpPr>
        <p:spPr>
          <a:xfrm>
            <a:off x="1905000" y="39528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Evolução tecnológica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3B79132-3576-448C-9592-1F4229574046}"/>
              </a:ext>
            </a:extLst>
          </p:cNvPr>
          <p:cNvSpPr>
            <a:spLocks noGrp="1"/>
          </p:cNvSpPr>
          <p:nvPr/>
        </p:nvSpPr>
        <p:spPr>
          <a:xfrm>
            <a:off x="1905000" y="4257675"/>
            <a:ext cx="9544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fatores mudam entre os horizontes porque a frota poderá incorporar eletrificação, biocombustíveis e tecnologias mais eficientes. A curva precisa ser específica para cada modo de transporte.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B70D0DD-D0CE-4C04-AD91-665682CFEAB1}"/>
              </a:ext>
            </a:extLst>
          </p:cNvPr>
          <p:cNvSpPr>
            <a:spLocks noGrp="1"/>
          </p:cNvSpPr>
          <p:nvPr/>
        </p:nvSpPr>
        <p:spPr>
          <a:xfrm>
            <a:off x="476250" y="4953000"/>
            <a:ext cx="11144250" cy="981075"/>
          </a:xfrm>
          <a:prstGeom prst="roundRect">
            <a:avLst>
              <a:gd name="adj" fmla="val 6796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111D4AB-BCA1-48E9-8955-FD7ED7D542AC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1143000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2A6DB7C-C8B0-419D-B17F-97AFF85FC42F}"/>
              </a:ext>
            </a:extLst>
          </p:cNvPr>
          <p:cNvSpPr>
            <a:spLocks noGrp="1"/>
          </p:cNvSpPr>
          <p:nvPr/>
        </p:nvSpPr>
        <p:spPr>
          <a:xfrm>
            <a:off x="1905000" y="50387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Aplicação ao PLI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7D16DAF-8767-4A7B-954C-E853249FC056}"/>
              </a:ext>
            </a:extLst>
          </p:cNvPr>
          <p:cNvSpPr>
            <a:spLocks noGrp="1"/>
          </p:cNvSpPr>
          <p:nvPr/>
        </p:nvSpPr>
        <p:spPr>
          <a:xfrm>
            <a:off x="1905000" y="5343525"/>
            <a:ext cx="9544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já dispõe de um protótipo metodológico para ônibus com diferentes tecnologias. O D14 deverá adaptar o cálculo às rodovias, ferrovias, hidrovias, portos e demais operações avaliadas.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F9C9B0BE-DC16-4EA8-B464-286D32AA2518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D9F3F2C-9D48-49C2-8574-46E13C894E09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7797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cálculo das emissões precisa acompanhar a transformação da frota e da matriz energética para não reproduzir no futuro os fatores observados no ano-base.</a:t>
            </a:r>
          </a:p>
        </p:txBody>
      </p:sp>
    </p:spTree>
    <p:extLst>
      <p:ext uri="{BB962C8B-B14F-4D97-AF65-F5344CB8AC3E}">
        <p14:creationId xmlns:p14="http://schemas.microsoft.com/office/powerpoint/2010/main" val="794120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148F274F-788B-43B5-901E-D6A1389D82C9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FCF0274-9AC0-4379-8B51-B9EEBEC0F2BC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1E5481E-4431-472D-B172-913D17982B78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F1E60A1-FF41-4283-8E15-DF0CDB258B09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Cadeia causal econômica e social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42D83A44-9A11-42A8-A67C-334548DAED17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7556009-4776-4D61-A873-9CB62CA431C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37680DA-2AC2-406E-BAB4-EED84F4A5ED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37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8D69EE-9C51-494A-8BDB-0824AA57ABC4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3613150" cy="1447800"/>
          </a:xfrm>
          <a:prstGeom prst="roundRect">
            <a:avLst>
              <a:gd name="adj" fmla="val 5921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3F3B6EA-2AED-482F-A702-21F28C6EF387}"/>
              </a:ext>
            </a:extLst>
          </p:cNvPr>
          <p:cNvSpPr>
            <a:spLocks noGrp="1"/>
          </p:cNvSpPr>
          <p:nvPr/>
        </p:nvSpPr>
        <p:spPr>
          <a:xfrm>
            <a:off x="638175" y="1800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AD30668-DEB6-419C-BAEF-B5744D5E61CD}"/>
              </a:ext>
            </a:extLst>
          </p:cNvPr>
          <p:cNvSpPr>
            <a:spLocks noGrp="1"/>
          </p:cNvSpPr>
          <p:nvPr/>
        </p:nvSpPr>
        <p:spPr>
          <a:xfrm>
            <a:off x="1076325" y="17716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Intervenção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2C73C1F-5C43-4885-93DA-8D8E6D7DD73A}"/>
              </a:ext>
            </a:extLst>
          </p:cNvPr>
          <p:cNvSpPr>
            <a:spLocks noGrp="1"/>
          </p:cNvSpPr>
          <p:nvPr/>
        </p:nvSpPr>
        <p:spPr>
          <a:xfrm>
            <a:off x="676275" y="2219325"/>
            <a:ext cx="3308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ponto de partida é o projeto físico, a mudança regulatória, o novo serviço ou o instrumento financeiro descrito na FAP.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FE55594-BF4D-4A7F-852B-3A2D82AE7A7D}"/>
              </a:ext>
            </a:extLst>
          </p:cNvPr>
          <p:cNvSpPr>
            <a:spLocks noGrp="1"/>
          </p:cNvSpPr>
          <p:nvPr/>
        </p:nvSpPr>
        <p:spPr>
          <a:xfrm>
            <a:off x="4289425" y="1685925"/>
            <a:ext cx="3613150" cy="1447800"/>
          </a:xfrm>
          <a:prstGeom prst="roundRect">
            <a:avLst>
              <a:gd name="adj" fmla="val 5921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154326F-73A9-4797-BA83-88322A8B772A}"/>
              </a:ext>
            </a:extLst>
          </p:cNvPr>
          <p:cNvSpPr>
            <a:spLocks noGrp="1"/>
          </p:cNvSpPr>
          <p:nvPr/>
        </p:nvSpPr>
        <p:spPr>
          <a:xfrm>
            <a:off x="4403725" y="1800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1FD6643-ABA3-4462-BB8C-BDB5D316E694}"/>
              </a:ext>
            </a:extLst>
          </p:cNvPr>
          <p:cNvSpPr>
            <a:spLocks noGrp="1"/>
          </p:cNvSpPr>
          <p:nvPr/>
        </p:nvSpPr>
        <p:spPr>
          <a:xfrm>
            <a:off x="4841875" y="17716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Entrega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CE67FA3-AAEF-49EF-B933-28FE01821228}"/>
              </a:ext>
            </a:extLst>
          </p:cNvPr>
          <p:cNvSpPr>
            <a:spLocks noGrp="1"/>
          </p:cNvSpPr>
          <p:nvPr/>
        </p:nvSpPr>
        <p:spPr>
          <a:xfrm>
            <a:off x="4441825" y="2219325"/>
            <a:ext cx="3308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intervenção precisa criar um ativo ou uma capacidade observável, como uma conexão, um terminal, uma norma, um contrato ou uma informação operacional.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4BF4D57-0DB7-4FDC-9526-72FC7805996F}"/>
              </a:ext>
            </a:extLst>
          </p:cNvPr>
          <p:cNvSpPr>
            <a:spLocks noGrp="1"/>
          </p:cNvSpPr>
          <p:nvPr/>
        </p:nvSpPr>
        <p:spPr>
          <a:xfrm>
            <a:off x="8054975" y="1685925"/>
            <a:ext cx="3613150" cy="1447800"/>
          </a:xfrm>
          <a:prstGeom prst="roundRect">
            <a:avLst>
              <a:gd name="adj" fmla="val 5921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9C82787-3459-4C27-B966-6935B334738F}"/>
              </a:ext>
            </a:extLst>
          </p:cNvPr>
          <p:cNvSpPr>
            <a:spLocks noGrp="1"/>
          </p:cNvSpPr>
          <p:nvPr/>
        </p:nvSpPr>
        <p:spPr>
          <a:xfrm>
            <a:off x="8169275" y="1800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2F1A67A-1657-49F5-8DCB-6889C5C8333D}"/>
              </a:ext>
            </a:extLst>
          </p:cNvPr>
          <p:cNvSpPr>
            <a:spLocks noGrp="1"/>
          </p:cNvSpPr>
          <p:nvPr/>
        </p:nvSpPr>
        <p:spPr>
          <a:xfrm>
            <a:off x="8607425" y="17716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Serviço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331BBC-58A7-4504-A61D-40BE53B1923A}"/>
              </a:ext>
            </a:extLst>
          </p:cNvPr>
          <p:cNvSpPr>
            <a:spLocks noGrp="1"/>
          </p:cNvSpPr>
          <p:nvPr/>
        </p:nvSpPr>
        <p:spPr>
          <a:xfrm>
            <a:off x="8207375" y="2219325"/>
            <a:ext cx="3308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entrega deve alterar o desempenho percebido pelos usuários por meio de custo, tempo, acesso, confiabilidade, segurança ou resiliência.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D9A8D63-460A-4C42-8996-D9CC549255B3}"/>
              </a:ext>
            </a:extLst>
          </p:cNvPr>
          <p:cNvSpPr>
            <a:spLocks noGrp="1"/>
          </p:cNvSpPr>
          <p:nvPr/>
        </p:nvSpPr>
        <p:spPr>
          <a:xfrm>
            <a:off x="2406650" y="3286125"/>
            <a:ext cx="3613150" cy="1447800"/>
          </a:xfrm>
          <a:prstGeom prst="roundRect">
            <a:avLst>
              <a:gd name="adj" fmla="val 5921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DF3D4CB-86E1-4658-8485-B59B5E4B54FF}"/>
              </a:ext>
            </a:extLst>
          </p:cNvPr>
          <p:cNvSpPr>
            <a:spLocks noGrp="1"/>
          </p:cNvSpPr>
          <p:nvPr/>
        </p:nvSpPr>
        <p:spPr>
          <a:xfrm>
            <a:off x="2520950" y="34004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15730A9-9510-4095-A9BD-B102ED71996A}"/>
              </a:ext>
            </a:extLst>
          </p:cNvPr>
          <p:cNvSpPr>
            <a:spLocks noGrp="1"/>
          </p:cNvSpPr>
          <p:nvPr/>
        </p:nvSpPr>
        <p:spPr>
          <a:xfrm>
            <a:off x="2959100" y="33718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Resposta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5E1222C-0BA0-4008-A091-18E495F93885}"/>
              </a:ext>
            </a:extLst>
          </p:cNvPr>
          <p:cNvSpPr>
            <a:spLocks noGrp="1"/>
          </p:cNvSpPr>
          <p:nvPr/>
        </p:nvSpPr>
        <p:spPr>
          <a:xfrm>
            <a:off x="2559050" y="3819525"/>
            <a:ext cx="3308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Empresas, famílias e operadores podem modificar produção, localização, rotas, emprego, consumo ou acesso quando o serviço muda.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1D84BB6-5209-40FC-B38C-C7F4A96584E0}"/>
              </a:ext>
            </a:extLst>
          </p:cNvPr>
          <p:cNvSpPr>
            <a:spLocks noGrp="1"/>
          </p:cNvSpPr>
          <p:nvPr/>
        </p:nvSpPr>
        <p:spPr>
          <a:xfrm>
            <a:off x="6172200" y="3286125"/>
            <a:ext cx="3613150" cy="1447800"/>
          </a:xfrm>
          <a:prstGeom prst="roundRect">
            <a:avLst>
              <a:gd name="adj" fmla="val 5921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DBA91A5-04DB-4D5F-9256-CF2810A2C09A}"/>
              </a:ext>
            </a:extLst>
          </p:cNvPr>
          <p:cNvSpPr>
            <a:spLocks noGrp="1"/>
          </p:cNvSpPr>
          <p:nvPr/>
        </p:nvSpPr>
        <p:spPr>
          <a:xfrm>
            <a:off x="6286500" y="34004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74451AA-B0A8-4C6E-B9EA-C0F0695A1C89}"/>
              </a:ext>
            </a:extLst>
          </p:cNvPr>
          <p:cNvSpPr>
            <a:spLocks noGrp="1"/>
          </p:cNvSpPr>
          <p:nvPr/>
        </p:nvSpPr>
        <p:spPr>
          <a:xfrm>
            <a:off x="6724650" y="3371850"/>
            <a:ext cx="2946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Resultado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B5ABF56-C1A7-4C26-B367-F1A4E8E81231}"/>
              </a:ext>
            </a:extLst>
          </p:cNvPr>
          <p:cNvSpPr>
            <a:spLocks noGrp="1"/>
          </p:cNvSpPr>
          <p:nvPr/>
        </p:nvSpPr>
        <p:spPr>
          <a:xfrm>
            <a:off x="6324600" y="3819525"/>
            <a:ext cx="3308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Produtividade, comércio, renda, emprego, inclusão ou mudanças territoriais somente aparecem quando essa resposta ocorre e pode ser atribuída ao projeto.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F59A43D-6BF7-4D1B-BD3B-511FE44F8AB5}"/>
              </a:ext>
            </a:extLst>
          </p:cNvPr>
          <p:cNvSpPr>
            <a:spLocks noGrp="1"/>
          </p:cNvSpPr>
          <p:nvPr/>
        </p:nvSpPr>
        <p:spPr>
          <a:xfrm>
            <a:off x="1000125" y="4933950"/>
            <a:ext cx="10191750" cy="742950"/>
          </a:xfrm>
          <a:prstGeom prst="roundRect">
            <a:avLst>
              <a:gd name="adj" fmla="val 7692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Antes de atribuir um resultado ao projeto, a FAP verifica quem está exposto à mudança, se existe um gargalo que limita a resposta e se o efeito é adicional ao que já ocorreria sem a intervenção.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93B7924-59D7-49F5-9651-8879BA420DDF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D492B6D-3D32-4A6F-BB97-C23B065883BC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Resultados de D12 e D13 não se convertem automaticamente em Produto Interno Bruto, ou PIB, emprego ou renda.</a:t>
            </a:r>
          </a:p>
        </p:txBody>
      </p:sp>
    </p:spTree>
    <p:extLst>
      <p:ext uri="{BB962C8B-B14F-4D97-AF65-F5344CB8AC3E}">
        <p14:creationId xmlns:p14="http://schemas.microsoft.com/office/powerpoint/2010/main" val="7810815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72A028D-C420-42C6-A882-316A6983622C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B495EC-800B-4216-B244-586C3C72A962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5CF77DF-AF60-4543-AF7A-C56BE56BB34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460B79-3B84-4756-A916-1A31A875550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Contas de impacto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8DEC80D-2E4E-4204-8CEB-8ACA30987017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112868-FD0F-4B96-8F69-B933D7EB527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D22BAC0-DA1C-4C78-B2D4-E81B0B9E974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38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5797894-409D-4186-B221-824FCE414730}"/>
              </a:ext>
            </a:extLst>
          </p:cNvPr>
          <p:cNvSpPr>
            <a:spLocks noGrp="1"/>
          </p:cNvSpPr>
          <p:nvPr/>
        </p:nvSpPr>
        <p:spPr>
          <a:xfrm>
            <a:off x="476250" y="1752600"/>
            <a:ext cx="11144250" cy="704850"/>
          </a:xfrm>
          <a:prstGeom prst="roundRect">
            <a:avLst>
              <a:gd name="adj" fmla="val 5405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6B2AEAB-0514-434E-A2DF-9EF859F6746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· Contribuição própria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44CD202D-EC66-47AB-93A6-31579CD1361F}"/>
              </a:ext>
            </a:extLst>
          </p:cNvPr>
          <p:cNvSpPr>
            <a:spLocks noGrp="1"/>
          </p:cNvSpPr>
          <p:nvPr/>
        </p:nvSpPr>
        <p:spPr>
          <a:xfrm>
            <a:off x="3333750" y="1819275"/>
            <a:ext cx="0" cy="5715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99D0006-2A64-43E0-949E-2A435B5C8EBB}"/>
              </a:ext>
            </a:extLst>
          </p:cNvPr>
          <p:cNvSpPr>
            <a:spLocks noGrp="1"/>
          </p:cNvSpPr>
          <p:nvPr/>
        </p:nvSpPr>
        <p:spPr>
          <a:xfrm>
            <a:off x="3448050" y="1800225"/>
            <a:ext cx="8058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9750"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registra a atividade gerada pela construção, pelos equipamentos e pela operação. No D16, os gastos de investimento, ou CAPEX, e os gastos de operação e manutenção, ou OPEX, entram como custos do projeto e não podem reaparecer como benefícios.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315D8CA-6C68-4A85-9850-2EEEEA726359}"/>
              </a:ext>
            </a:extLst>
          </p:cNvPr>
          <p:cNvSpPr>
            <a:spLocks noGrp="1"/>
          </p:cNvSpPr>
          <p:nvPr/>
        </p:nvSpPr>
        <p:spPr>
          <a:xfrm>
            <a:off x="476250" y="2495550"/>
            <a:ext cx="11144250" cy="704850"/>
          </a:xfrm>
          <a:prstGeom prst="roundRect">
            <a:avLst>
              <a:gd name="adj" fmla="val 5405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A9ADE5E-2E12-49B2-81DD-88162FC81E12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 · Indiretos e induzidos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C3B6B271-681D-48A4-B099-92E726F3EC8E}"/>
              </a:ext>
            </a:extLst>
          </p:cNvPr>
          <p:cNvSpPr>
            <a:spLocks noGrp="1"/>
          </p:cNvSpPr>
          <p:nvPr/>
        </p:nvSpPr>
        <p:spPr>
          <a:xfrm>
            <a:off x="3333750" y="2562225"/>
            <a:ext cx="0" cy="5715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D4CB86F-A5CD-48B9-92DB-564190B07A39}"/>
              </a:ext>
            </a:extLst>
          </p:cNvPr>
          <p:cNvSpPr>
            <a:spLocks noGrp="1"/>
          </p:cNvSpPr>
          <p:nvPr/>
        </p:nvSpPr>
        <p:spPr>
          <a:xfrm>
            <a:off x="3448050" y="2543175"/>
            <a:ext cx="8058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pode descrever compras na cadeia de fornecedores e consumo estimulado pela renda, mas multiplicadores brutos não equivalem a benefício líquido.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A9F4A99-286D-4A30-A751-497B14824914}"/>
              </a:ext>
            </a:extLst>
          </p:cNvPr>
          <p:cNvSpPr>
            <a:spLocks noGrp="1"/>
          </p:cNvSpPr>
          <p:nvPr/>
        </p:nvSpPr>
        <p:spPr>
          <a:xfrm>
            <a:off x="476250" y="3238500"/>
            <a:ext cx="11144250" cy="704850"/>
          </a:xfrm>
          <a:prstGeom prst="roundRect">
            <a:avLst>
              <a:gd name="adj" fmla="val 5405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B7FBAD3-1B96-4706-8797-2FC1EE27364F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 · Transbordamentos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DF2D8944-4E73-4C40-B7AD-9320A828293F}"/>
              </a:ext>
            </a:extLst>
          </p:cNvPr>
          <p:cNvSpPr>
            <a:spLocks noGrp="1"/>
          </p:cNvSpPr>
          <p:nvPr/>
        </p:nvSpPr>
        <p:spPr>
          <a:xfrm>
            <a:off x="3333750" y="3305175"/>
            <a:ext cx="0" cy="5715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0DB472E-84CD-4F15-AEA4-84B98AE9E878}"/>
              </a:ext>
            </a:extLst>
          </p:cNvPr>
          <p:cNvSpPr>
            <a:spLocks noGrp="1"/>
          </p:cNvSpPr>
          <p:nvPr/>
        </p:nvSpPr>
        <p:spPr>
          <a:xfrm>
            <a:off x="3448050" y="3286125"/>
            <a:ext cx="8058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Ganhos de produtividade, escala, comércio ou localização somente serão considerados quando houver evidência de causalidade e controle de sobreposição com outras contas.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3B5DAA0-8FA9-479E-8EF6-B74ADA203AD9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1144250" cy="704850"/>
          </a:xfrm>
          <a:prstGeom prst="roundRect">
            <a:avLst>
              <a:gd name="adj" fmla="val 5405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EDAD64B-EA5C-4A3B-8652-53BE39E11423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 · Social e distributiva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CE3E8D3E-E70A-4690-885C-BDCA7DB51676}"/>
              </a:ext>
            </a:extLst>
          </p:cNvPr>
          <p:cNvSpPr>
            <a:spLocks noGrp="1"/>
          </p:cNvSpPr>
          <p:nvPr/>
        </p:nvSpPr>
        <p:spPr>
          <a:xfrm>
            <a:off x="3333750" y="4048125"/>
            <a:ext cx="0" cy="5715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71495C4-F8AF-4EA0-9527-94060CFB3A3B}"/>
              </a:ext>
            </a:extLst>
          </p:cNvPr>
          <p:cNvSpPr>
            <a:spLocks noGrp="1"/>
          </p:cNvSpPr>
          <p:nvPr/>
        </p:nvSpPr>
        <p:spPr>
          <a:xfrm>
            <a:off x="3448050" y="4029075"/>
            <a:ext cx="8058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mostra como emprego, salários, formalização e acesso se distribuem entre grupos e territórios, sem somar automaticamente essas dimensões.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4FA6796-6B4D-460C-9AE9-66CC6546F9DA}"/>
              </a:ext>
            </a:extLst>
          </p:cNvPr>
          <p:cNvSpPr>
            <a:spLocks noGrp="1"/>
          </p:cNvSpPr>
          <p:nvPr/>
        </p:nvSpPr>
        <p:spPr>
          <a:xfrm>
            <a:off x="476250" y="4724400"/>
            <a:ext cx="11144250" cy="704850"/>
          </a:xfrm>
          <a:prstGeom prst="roundRect">
            <a:avLst>
              <a:gd name="adj" fmla="val 5405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78FCD89-37D6-42B4-B8C7-A6D5F6429414}"/>
              </a:ext>
            </a:extLst>
          </p:cNvPr>
          <p:cNvSpPr>
            <a:spLocks noGrp="1"/>
          </p:cNvSpPr>
          <p:nvPr/>
        </p:nvSpPr>
        <p:spPr>
          <a:xfrm>
            <a:off x="571500" y="478155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 · Externalidades</a:t>
            </a:r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D623E625-0E4B-4688-AE65-B306B7A6A1EE}"/>
              </a:ext>
            </a:extLst>
          </p:cNvPr>
          <p:cNvSpPr>
            <a:spLocks noGrp="1"/>
          </p:cNvSpPr>
          <p:nvPr/>
        </p:nvSpPr>
        <p:spPr>
          <a:xfrm>
            <a:off x="3333750" y="4791075"/>
            <a:ext cx="0" cy="5715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F1D9839-9FD2-46E9-AB2F-B48093E4F2FD}"/>
              </a:ext>
            </a:extLst>
          </p:cNvPr>
          <p:cNvSpPr>
            <a:spLocks noGrp="1"/>
          </p:cNvSpPr>
          <p:nvPr/>
        </p:nvSpPr>
        <p:spPr>
          <a:xfrm>
            <a:off x="3448050" y="4772025"/>
            <a:ext cx="8058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registra mudanças em segurança, emissões, ruído, clima, biodiversidade e uso do solo. O D16 monetizará apenas os efeitos apoiados por método reconhecido e por dados adequados.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16B4F60-2B6D-45E3-959D-48EA1C67BE63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4D7EFEB-9337-4C07-9B1F-A8CBDED0B19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contas organizam impactos. Elas não devem ser somadas automaticamente nem convertidas em uma nota do projeto.</a:t>
            </a:r>
          </a:p>
        </p:txBody>
      </p:sp>
    </p:spTree>
    <p:extLst>
      <p:ext uri="{BB962C8B-B14F-4D97-AF65-F5344CB8AC3E}">
        <p14:creationId xmlns:p14="http://schemas.microsoft.com/office/powerpoint/2010/main" val="304803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B9ABE91-7E45-4732-A6EC-0CF5138FED70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EB7CA84-0DCB-4D33-A689-3D0BFC2DE22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85AE395-7882-4833-92D3-19BC44964D87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4145E2-32D8-484F-962D-F874EEB2E680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Fases temporais dos impactos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002B0C4-B275-4721-9BF3-656B640B00F3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B1CB504-E32B-485A-B1A1-6874CA8C2CD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C0B8F38-62A2-4D55-8149-9159B111D250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39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154F3EE-9C1B-4361-BD27-9EB402284F15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Um mesmo projeto produz efeitos diferentes durante a construção, o início da operação, a maturação e o longo prazo. A FAP separa essas fases para impedir que efeitos temporários sejam apresentados como permanentes.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11BC04B-F0BB-4348-8D37-8F4C3180D3E7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CAB8C2C-B033-417A-9042-C437279E9E45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Implantação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B95CFBED-F4D3-487A-B388-A99F32C64629}"/>
              </a:ext>
            </a:extLst>
          </p:cNvPr>
          <p:cNvSpPr>
            <a:spLocks noGrp="1"/>
          </p:cNvSpPr>
          <p:nvPr/>
        </p:nvSpPr>
        <p:spPr>
          <a:xfrm>
            <a:off x="2857500" y="240982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F346DE5-92A8-48A3-B034-FAF720580B4A}"/>
              </a:ext>
            </a:extLst>
          </p:cNvPr>
          <p:cNvSpPr>
            <a:spLocks noGrp="1"/>
          </p:cNvSpPr>
          <p:nvPr/>
        </p:nvSpPr>
        <p:spPr>
          <a:xfrm>
            <a:off x="2971800" y="239077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Durante a implantação, a FAP registra obras, aquisições, desapropriações, deslocamentos de moradores ou atividades e empregos temporários associados à construção do projeto.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F128455-51C2-4BD5-A538-D7F23DBE9B22}"/>
              </a:ext>
            </a:extLst>
          </p:cNvPr>
          <p:cNvSpPr>
            <a:spLocks noGrp="1"/>
          </p:cNvSpPr>
          <p:nvPr/>
        </p:nvSpPr>
        <p:spPr>
          <a:xfrm>
            <a:off x="476250" y="316230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1161540-C184-429D-8301-E1F02F514D68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Operação inicial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B3B5963C-A9F5-4930-B936-B61E780BF9D4}"/>
              </a:ext>
            </a:extLst>
          </p:cNvPr>
          <p:cNvSpPr>
            <a:spLocks noGrp="1"/>
          </p:cNvSpPr>
          <p:nvPr/>
        </p:nvSpPr>
        <p:spPr>
          <a:xfrm>
            <a:off x="2857500" y="322897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8F2C2CF-72B2-4006-8E39-0FB3608DAB6B}"/>
              </a:ext>
            </a:extLst>
          </p:cNvPr>
          <p:cNvSpPr>
            <a:spLocks noGrp="1"/>
          </p:cNvSpPr>
          <p:nvPr/>
        </p:nvSpPr>
        <p:spPr>
          <a:xfrm>
            <a:off x="2971800" y="320992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No início da operação, a utilização pode permanecer parcial enquanto usuários, operadores e instituições aprendem e ajustam suas decisões.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D0B00D6-D2A5-40D1-A8E2-13AE94D192AB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F900A3E-8219-4BE4-AD7E-D9160C3F3F7C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Maturação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33831A02-5BE9-4DFA-896D-DB73D4B9869A}"/>
              </a:ext>
            </a:extLst>
          </p:cNvPr>
          <p:cNvSpPr>
            <a:spLocks noGrp="1"/>
          </p:cNvSpPr>
          <p:nvPr/>
        </p:nvSpPr>
        <p:spPr>
          <a:xfrm>
            <a:off x="2857500" y="404812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AFFF84E-E65B-4478-99D0-FE94862723E2}"/>
              </a:ext>
            </a:extLst>
          </p:cNvPr>
          <p:cNvSpPr>
            <a:spLocks noGrp="1"/>
          </p:cNvSpPr>
          <p:nvPr/>
        </p:nvSpPr>
        <p:spPr>
          <a:xfrm>
            <a:off x="2971800" y="402907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Na fase de maturação, os fluxos e os serviços se estabilizam e as respostas produtivas passam a refletir de forma mais consistente a nova condição logística.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96C7D59-11BD-40EB-AC68-0DAFDFBAFB55}"/>
              </a:ext>
            </a:extLst>
          </p:cNvPr>
          <p:cNvSpPr>
            <a:spLocks noGrp="1"/>
          </p:cNvSpPr>
          <p:nvPr/>
        </p:nvSpPr>
        <p:spPr>
          <a:xfrm>
            <a:off x="476250" y="480060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58B290E-7ADA-4D58-B52B-D37865E49605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Transformação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6C2F53F8-EBDF-4334-B306-8877650EC452}"/>
              </a:ext>
            </a:extLst>
          </p:cNvPr>
          <p:cNvSpPr>
            <a:spLocks noGrp="1"/>
          </p:cNvSpPr>
          <p:nvPr/>
        </p:nvSpPr>
        <p:spPr>
          <a:xfrm>
            <a:off x="2857500" y="486727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B82F5FE-767B-4A77-BA76-0F101CCBF8ED}"/>
              </a:ext>
            </a:extLst>
          </p:cNvPr>
          <p:cNvSpPr>
            <a:spLocks noGrp="1"/>
          </p:cNvSpPr>
          <p:nvPr/>
        </p:nvSpPr>
        <p:spPr>
          <a:xfrm>
            <a:off x="2971800" y="484822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No longo prazo, o projeto pode provocar mudanças persistentes na localização das atividades, no funcionamento dos mercados e na organização do território.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13DD325-DC01-4DD1-AD73-CB6BF694A506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49FFA53-2A00-40C0-A670-A5CBFD26A262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temporalidade impede que emprego de obra, utilização inicial e transformação estrutural sejam tratados como se ocorressem simultaneamente.</a:t>
            </a:r>
          </a:p>
        </p:txBody>
      </p:sp>
    </p:spTree>
    <p:extLst>
      <p:ext uri="{BB962C8B-B14F-4D97-AF65-F5344CB8AC3E}">
        <p14:creationId xmlns:p14="http://schemas.microsoft.com/office/powerpoint/2010/main" val="20835687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08EEC54-7635-426C-B1B0-494D863C1CFD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6F28A3-D0D5-4E46-AAA6-CF0F94B4A6A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6EB8F0D-61FE-4639-9D17-8406A43BCC01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F5EBB1F-9185-4885-AC4E-9A1100935E56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Escalas territoriais dos impactos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66DE6D93-8422-4808-91CC-50BC2183175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A441798-4BB0-4E37-8DA8-586532ED941E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0A10A5-E578-41B3-81E0-AD05459F06DC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5E419AA-9FA6-44F7-9E36-7BEDBEB6CA20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área ocupada pelo projeto raramente coincide com o território que recebe seus benefícios ou suporta seus ônus. A FAP registra quatro escalas para tornar essa diferença explícita.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1A6217A-66EC-4F99-ADA8-8568791FA804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EB0F614-311A-4396-9BD8-10717122BA21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Área direta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F92686A5-F550-4C5E-A832-F6388C054931}"/>
              </a:ext>
            </a:extLst>
          </p:cNvPr>
          <p:cNvSpPr>
            <a:spLocks noGrp="1"/>
          </p:cNvSpPr>
          <p:nvPr/>
        </p:nvSpPr>
        <p:spPr>
          <a:xfrm>
            <a:off x="2857500" y="240982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48D1070-E423-4E50-BA5D-960FA9F9507D}"/>
              </a:ext>
            </a:extLst>
          </p:cNvPr>
          <p:cNvSpPr>
            <a:spLocks noGrp="1"/>
          </p:cNvSpPr>
          <p:nvPr/>
        </p:nvSpPr>
        <p:spPr>
          <a:xfrm>
            <a:off x="2971800" y="239077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área direta corresponde ao espaço ocupado pela infraestrutura ou imediatamente alterado por sua implantação.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3C25DAE-2DD7-4B92-B454-186484E4B811}"/>
              </a:ext>
            </a:extLst>
          </p:cNvPr>
          <p:cNvSpPr>
            <a:spLocks noGrp="1"/>
          </p:cNvSpPr>
          <p:nvPr/>
        </p:nvSpPr>
        <p:spPr>
          <a:xfrm>
            <a:off x="476250" y="316230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1C1463E-C612-4CA4-9B23-6AFBEFDD7AC5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Área afetada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7A10A073-187B-48C7-A32E-0630D06A8427}"/>
              </a:ext>
            </a:extLst>
          </p:cNvPr>
          <p:cNvSpPr>
            <a:spLocks noGrp="1"/>
          </p:cNvSpPr>
          <p:nvPr/>
        </p:nvSpPr>
        <p:spPr>
          <a:xfrm>
            <a:off x="2857500" y="322897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0C87A98-9D37-462C-B675-B7B50A9C6552}"/>
              </a:ext>
            </a:extLst>
          </p:cNvPr>
          <p:cNvSpPr>
            <a:spLocks noGrp="1"/>
          </p:cNvSpPr>
          <p:nvPr/>
        </p:nvSpPr>
        <p:spPr>
          <a:xfrm>
            <a:off x="2971800" y="320992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área afetada inclui trechos, municípios e comunidades expostos a mudanças de circulação, ruído, segurança, acesso ou uso do solo.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4E29AAE-78F3-4B93-9DCD-90133A9EA2BB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82E4FBD-D8D3-420D-B65C-50A41F8F3C2D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Território beneficiário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87FC9FF0-C9FC-4885-96B0-A78A3EE742D7}"/>
              </a:ext>
            </a:extLst>
          </p:cNvPr>
          <p:cNvSpPr>
            <a:spLocks noGrp="1"/>
          </p:cNvSpPr>
          <p:nvPr/>
        </p:nvSpPr>
        <p:spPr>
          <a:xfrm>
            <a:off x="2857500" y="404812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5917ACB-E4F6-4C6B-8B3E-18C233B7974F}"/>
              </a:ext>
            </a:extLst>
          </p:cNvPr>
          <p:cNvSpPr>
            <a:spLocks noGrp="1"/>
          </p:cNvSpPr>
          <p:nvPr/>
        </p:nvSpPr>
        <p:spPr>
          <a:xfrm>
            <a:off x="2971800" y="402907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território beneficiário reúne pessoas e organizações que utilizam o serviço ou recebem seus efeitos, mesmo quando estão distantes do traçado.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E4BE179-C7C5-4777-8529-427E8DA19ADF}"/>
              </a:ext>
            </a:extLst>
          </p:cNvPr>
          <p:cNvSpPr>
            <a:spLocks noGrp="1"/>
          </p:cNvSpPr>
          <p:nvPr/>
        </p:nvSpPr>
        <p:spPr>
          <a:xfrm>
            <a:off x="476250" y="4800600"/>
            <a:ext cx="11144250" cy="781050"/>
          </a:xfrm>
          <a:prstGeom prst="roundRect">
            <a:avLst>
              <a:gd name="adj" fmla="val 487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A663353-319C-492A-BAB4-8304C66414FD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2209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Área indireta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17D00934-DBFD-4E8B-A7FA-F50D5A38E368}"/>
              </a:ext>
            </a:extLst>
          </p:cNvPr>
          <p:cNvSpPr>
            <a:spLocks noGrp="1"/>
          </p:cNvSpPr>
          <p:nvPr/>
        </p:nvSpPr>
        <p:spPr>
          <a:xfrm>
            <a:off x="2857500" y="4867275"/>
            <a:ext cx="0" cy="6477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EE8E46E-A9F6-4D2E-AC52-FBEF75D2314D}"/>
              </a:ext>
            </a:extLst>
          </p:cNvPr>
          <p:cNvSpPr>
            <a:spLocks noGrp="1"/>
          </p:cNvSpPr>
          <p:nvPr/>
        </p:nvSpPr>
        <p:spPr>
          <a:xfrm>
            <a:off x="2971800" y="4848225"/>
            <a:ext cx="8534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área indireta abrange cadeias produtivas, mercados e territórios alcançados por efeitos que se propagam além dos usuários imediatos.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9798EA6-5629-4C34-A7AE-63DF83BD6103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EF0B9CF-DB66-4309-ABF0-120349C65CB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identifica quem recebe benefícios ou ônus, onde esses efeitos aparecem e se eles representam criação líquida ou apenas deslocamento territorial.</a:t>
            </a:r>
          </a:p>
        </p:txBody>
      </p:sp>
    </p:spTree>
    <p:extLst>
      <p:ext uri="{BB962C8B-B14F-4D97-AF65-F5344CB8AC3E}">
        <p14:creationId xmlns:p14="http://schemas.microsoft.com/office/powerpoint/2010/main" val="976096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B14BEAC2-91CF-4286-B222-0A120EC296D4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52BCDB8-131D-434A-AD8C-C9D90ECE19B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5C61C4B-2970-48C8-9A7D-3E0F4CD702FA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A018425-9AA9-45DF-8813-ED30B4D478B3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Impactos sociais, econômicos e setoriais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707F4D9-B3D8-4680-848E-097D432B901D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1B6579-8C6B-49AA-AE35-BFD485DF0D5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BAE7141-1182-4AE5-BAAD-28640178D47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42CA19D-8173-474C-90E3-FD697C7C8249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análise procura identificar quais empresas, trabalhadores, usuários e territórios podem responder à mudança logística. Os indicadores locais descrevem o contexto, mas somente a cadeia causal permite atribuir um resultado ao projeto.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E6AF223-C9BE-49D4-B0B4-A607BD3149C2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42A0088-D7FD-4602-811A-90693B3F7239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Setores e cadeias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EE18E88E-6A96-4FA1-BADB-ED6FEE2D9E8D}"/>
              </a:ext>
            </a:extLst>
          </p:cNvPr>
          <p:cNvSpPr>
            <a:spLocks noGrp="1"/>
          </p:cNvSpPr>
          <p:nvPr/>
        </p:nvSpPr>
        <p:spPr>
          <a:xfrm>
            <a:off x="295275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C1B8E88-3C07-449F-846B-21C6B1B40951}"/>
              </a:ext>
            </a:extLst>
          </p:cNvPr>
          <p:cNvSpPr>
            <a:spLocks noGrp="1"/>
          </p:cNvSpPr>
          <p:nvPr/>
        </p:nvSpPr>
        <p:spPr>
          <a:xfrm>
            <a:off x="3067050" y="239077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identifica os setores e as cadeias produtivas expostos à mudança no serviço logístico e verifica quanto seu desempenho depende do transporte.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7B625A9-DAC5-4FBF-862B-B500430BA70A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5EF21E7-7A0A-40C7-B2BA-F88E4E78768D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Capacidade de resposta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A109AC93-061E-43A6-85DD-1DF31189C488}"/>
              </a:ext>
            </a:extLst>
          </p:cNvPr>
          <p:cNvSpPr>
            <a:spLocks noGrp="1"/>
          </p:cNvSpPr>
          <p:nvPr/>
        </p:nvSpPr>
        <p:spPr>
          <a:xfrm>
            <a:off x="295275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C2D4496-B521-4BBA-8ADA-7E53907917E6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verifica se as empresas, os trabalhadores, os usuários ou os territórios afetados possuem acesso a mercados e recursos suficientes para transformar uma melhoria logística em produção, emprego ou acesso adicionais.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604154D-6297-4EE1-B227-1C944548E653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3C84FBF-840F-4F1A-9DD6-666CE9839FE0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Emprego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E99428FB-1BAF-43C6-B22F-06CE5999C353}"/>
              </a:ext>
            </a:extLst>
          </p:cNvPr>
          <p:cNvSpPr>
            <a:spLocks noGrp="1"/>
          </p:cNvSpPr>
          <p:nvPr/>
        </p:nvSpPr>
        <p:spPr>
          <a:xfrm>
            <a:off x="295275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6CAD5C7-9502-4E2A-BD8D-C989EDB879C7}"/>
              </a:ext>
            </a:extLst>
          </p:cNvPr>
          <p:cNvSpPr>
            <a:spLocks noGrp="1"/>
          </p:cNvSpPr>
          <p:nvPr/>
        </p:nvSpPr>
        <p:spPr>
          <a:xfrm>
            <a:off x="3067050" y="370522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distingue empregos temporários da implantação e empregos permanentes da operação, além de examinar formalidade, qualidade e possibilidade de contratação local.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D76CC0A-520C-406B-AA93-D942C2356D9A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DB96992-33B9-40BD-9EF0-E17BE8E8E655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Distribuição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A6AC8485-1337-4893-BB94-9793944D60AD}"/>
              </a:ext>
            </a:extLst>
          </p:cNvPr>
          <p:cNvSpPr>
            <a:spLocks noGrp="1"/>
          </p:cNvSpPr>
          <p:nvPr/>
        </p:nvSpPr>
        <p:spPr>
          <a:xfrm>
            <a:off x="295275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5D89E5A-07DC-43B7-A63E-48FC0D432B92}"/>
              </a:ext>
            </a:extLst>
          </p:cNvPr>
          <p:cNvSpPr>
            <a:spLocks noGrp="1"/>
          </p:cNvSpPr>
          <p:nvPr/>
        </p:nvSpPr>
        <p:spPr>
          <a:xfrm>
            <a:off x="3067050" y="4362450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identifica grupos e territórios vulneráveis que podem receber benefícios ou suportar custos, em vez de apresentar apenas um resultado médio.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04370A-E7BF-4BDA-A2F2-01F683557064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240160B-4073-42BC-8461-56E8409693BD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Acesso a serviços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278CFF92-19CC-48F1-B2D0-CAAAF90BCAAB}"/>
              </a:ext>
            </a:extLst>
          </p:cNvPr>
          <p:cNvSpPr>
            <a:spLocks noGrp="1"/>
          </p:cNvSpPr>
          <p:nvPr/>
        </p:nvSpPr>
        <p:spPr>
          <a:xfrm>
            <a:off x="295275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674F65F-CC2C-41BF-95CE-03B974F599D5}"/>
              </a:ext>
            </a:extLst>
          </p:cNvPr>
          <p:cNvSpPr>
            <a:spLocks noGrp="1"/>
          </p:cNvSpPr>
          <p:nvPr/>
        </p:nvSpPr>
        <p:spPr>
          <a:xfrm>
            <a:off x="3067050" y="501967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acesso a saúde, educação, emprego e outros serviços considera o tempo de viagem, a tarifa, a frequência e a capacidade real do destino.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2C43E6F-F632-4A78-BB2C-B0880C9BF3AE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52C8D86-924E-43F1-99DF-39634F69D04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7885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Produto Interno Bruto, população ou emprego ao longo do traçado indicam contexto e exposição, mas não demonstram isoladamente um benefício do projeto.</a:t>
            </a:r>
          </a:p>
        </p:txBody>
      </p:sp>
    </p:spTree>
    <p:extLst>
      <p:ext uri="{BB962C8B-B14F-4D97-AF65-F5344CB8AC3E}">
        <p14:creationId xmlns:p14="http://schemas.microsoft.com/office/powerpoint/2010/main" val="759793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A1F4A98-3CB7-4D06-A041-62523B808270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B56B20E-E634-474E-89B6-CAA218AA183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4FAD789-C27E-4CA5-A72E-82A7565BE9C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E1F42A-0377-43F1-BCF2-629A34ABDC42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Testes de atribuição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3665832-F32A-4A86-816B-A8B43F48CA96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E8D574-5EE2-44F8-B128-716155571D1F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EB37466-2608-4C17-AB49-E9EE28C856F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5F49C8C-4E20-4C69-8F1A-B02D2ADD165A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6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6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Antes de registrar um impacto econômico ou social, a FAP verifica se a mudança foi demonstrada, se as empresas, os trabalhadores, os usuários ou os territórios afetados possuem condições de responder e se o resultado realmente decorre do projeto.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F8D9031-C108-4F08-A18F-73F5ED822AC7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9193E46-8E3D-48B8-803D-3FBD8DA1BDA3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955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Mudança técnica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F43919D2-845E-4EC3-B7AF-4B88676FE825}"/>
              </a:ext>
            </a:extLst>
          </p:cNvPr>
          <p:cNvSpPr>
            <a:spLocks noGrp="1"/>
          </p:cNvSpPr>
          <p:nvPr/>
        </p:nvSpPr>
        <p:spPr>
          <a:xfrm>
            <a:off x="314325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A54DBBB-2807-43B7-B6FA-D54F0A1D9BB9}"/>
              </a:ext>
            </a:extLst>
          </p:cNvPr>
          <p:cNvSpPr>
            <a:spLocks noGrp="1"/>
          </p:cNvSpPr>
          <p:nvPr/>
        </p:nvSpPr>
        <p:spPr>
          <a:xfrm>
            <a:off x="3257550" y="2390775"/>
            <a:ext cx="824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confirma se a mudança no serviço foi demonstrada por simulação, observação ou estudo específico, ou se permanece apenas como hipótese.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7195D81-3391-407B-934E-9E36054920D7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912FAAC-D92F-4B5C-BE3E-7BE7620AE4A0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955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Restrição vinculante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549E1C5A-F3C8-4501-9642-B250FC2795AD}"/>
              </a:ext>
            </a:extLst>
          </p:cNvPr>
          <p:cNvSpPr>
            <a:spLocks noGrp="1"/>
          </p:cNvSpPr>
          <p:nvPr/>
        </p:nvSpPr>
        <p:spPr>
          <a:xfrm>
            <a:off x="314325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4AB76F1-CB03-41A9-AE7A-8E89C118A789}"/>
              </a:ext>
            </a:extLst>
          </p:cNvPr>
          <p:cNvSpPr>
            <a:spLocks noGrp="1"/>
          </p:cNvSpPr>
          <p:nvPr/>
        </p:nvSpPr>
        <p:spPr>
          <a:xfrm>
            <a:off x="3257550" y="3048000"/>
            <a:ext cx="824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verifica se o gargalo identificado realmente limita a decisão do agente ou o desempenho do setor que receberia o benefício.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40C475-BCD7-472B-970F-D6237D2EACDE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AF26D18-91C1-40A5-95FB-AFDB9C592989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955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Recursos para responder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19F11FEF-279E-4AF8-A2AB-9A0E21DC1697}"/>
              </a:ext>
            </a:extLst>
          </p:cNvPr>
          <p:cNvSpPr>
            <a:spLocks noGrp="1"/>
          </p:cNvSpPr>
          <p:nvPr/>
        </p:nvSpPr>
        <p:spPr>
          <a:xfrm>
            <a:off x="314325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E02562A-C3AA-46BC-B001-6F01FE666D8B}"/>
              </a:ext>
            </a:extLst>
          </p:cNvPr>
          <p:cNvSpPr>
            <a:spLocks noGrp="1"/>
          </p:cNvSpPr>
          <p:nvPr/>
        </p:nvSpPr>
        <p:spPr>
          <a:xfrm>
            <a:off x="3257550" y="3705225"/>
            <a:ext cx="824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resposta econômica exige disponibilidade de capital, trabalho, solo, energia, licenças e demanda compatíveis com a expansão prevista.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AC61F00-83F3-45F2-BF88-FD5F0F0AC394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D93D171-71C9-4285-93E9-73BA7C741BE7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955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Adicionalidade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E5D32860-8734-4D4A-BAF1-9C126BF1DC2B}"/>
              </a:ext>
            </a:extLst>
          </p:cNvPr>
          <p:cNvSpPr>
            <a:spLocks noGrp="1"/>
          </p:cNvSpPr>
          <p:nvPr/>
        </p:nvSpPr>
        <p:spPr>
          <a:xfrm>
            <a:off x="314325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6A4049B-6F27-43AE-8F9F-2D2F3D980C57}"/>
              </a:ext>
            </a:extLst>
          </p:cNvPr>
          <p:cNvSpPr>
            <a:spLocks noGrp="1"/>
          </p:cNvSpPr>
          <p:nvPr/>
        </p:nvSpPr>
        <p:spPr>
          <a:xfrm>
            <a:off x="3257550" y="4362450"/>
            <a:ext cx="824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separa os efeitos causados pelo projeto daqueles que já fazem parte do cenário tendencial ou decorrem de outra intervenção.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C7FF09B-50FA-4348-B9AF-1C9E3FB9A336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09EE1A6-DBC4-4A75-98A3-869F5E3237E6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955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Vazamentos e deslocamentos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A7908D6-E314-48A5-B69C-E9E22989761A}"/>
              </a:ext>
            </a:extLst>
          </p:cNvPr>
          <p:cNvSpPr>
            <a:spLocks noGrp="1"/>
          </p:cNvSpPr>
          <p:nvPr/>
        </p:nvSpPr>
        <p:spPr>
          <a:xfrm>
            <a:off x="314325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A8F5E85-C2AB-4F4B-A6B9-71589397A060}"/>
              </a:ext>
            </a:extLst>
          </p:cNvPr>
          <p:cNvSpPr>
            <a:spLocks noGrp="1"/>
          </p:cNvSpPr>
          <p:nvPr/>
        </p:nvSpPr>
        <p:spPr>
          <a:xfrm>
            <a:off x="3257550" y="5019675"/>
            <a:ext cx="8248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registra benefícios que saem do território analisado, atividades apenas transferidas de outro local e resultados que poderiam ser contados duas vezes.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AC5FB37-0A5F-4522-97AE-052BC675D64C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2ABAA1E-0839-45D0-9FF8-40A98A306AB7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3638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Só se atribui um efeito ao projeto quando a mudança técnica foi demonstrada, os beneficiários têm condições de responder e o mesmo efeito não ocorreria no cenário sem a intervenção.</a:t>
            </a:r>
          </a:p>
        </p:txBody>
      </p:sp>
    </p:spTree>
    <p:extLst>
      <p:ext uri="{BB962C8B-B14F-4D97-AF65-F5344CB8AC3E}">
        <p14:creationId xmlns:p14="http://schemas.microsoft.com/office/powerpoint/2010/main" val="586195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AED1DC5-38DA-49CB-99F8-FACCAC159BB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2E22428-F308-4769-8329-CEBDD77C834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5965850-E46D-4AD0-A04D-C1643F3CAE4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AF008A7-E392-441E-962B-76BF91C8122C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Dependências institucionais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BCCB27DF-CABD-49F4-BFC9-88A3BED5457E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C68BEBB-174D-487A-ADF2-28D315747DA8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DC70651-928E-447A-AF6E-FDF270E686D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F308F31-09E7-4BBF-B622-47F52EB30A1F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transforma questões institucionais genéricas em dependências verificáveis. Cada dependência precisa indicar quem deve agir, qual instrumento será utilizado e como a ausência de solução afeta o projeto.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D94150C-F2D2-441C-8AB6-85F9F9006A86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E0C5772-67AE-413B-A292-69CFEC840E54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162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Competência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84DF456-36A7-4F06-BDFE-4C05B4F75137}"/>
              </a:ext>
            </a:extLst>
          </p:cNvPr>
          <p:cNvSpPr>
            <a:spLocks noGrp="1"/>
          </p:cNvSpPr>
          <p:nvPr/>
        </p:nvSpPr>
        <p:spPr>
          <a:xfrm>
            <a:off x="2809875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AF106A-CC0B-4B1D-9D5A-4A98C462F6BE}"/>
              </a:ext>
            </a:extLst>
          </p:cNvPr>
          <p:cNvSpPr>
            <a:spLocks noGrp="1"/>
          </p:cNvSpPr>
          <p:nvPr/>
        </p:nvSpPr>
        <p:spPr>
          <a:xfrm>
            <a:off x="2924175" y="2390775"/>
            <a:ext cx="85820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identifica qual ente ou organização possui competência legal para decidir, autorizar, implantar, fiscalizar ou operar a intervenção.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BA542BE-5050-499F-987A-7BD7F92408E4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5023711-3D01-43E2-9491-9BD65502DB6D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162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Providência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BF60E261-8457-4613-9425-8A78C4F0B8FD}"/>
              </a:ext>
            </a:extLst>
          </p:cNvPr>
          <p:cNvSpPr>
            <a:spLocks noGrp="1"/>
          </p:cNvSpPr>
          <p:nvPr/>
        </p:nvSpPr>
        <p:spPr>
          <a:xfrm>
            <a:off x="2809875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6A3E916-7341-4094-91FE-56BF88BED227}"/>
              </a:ext>
            </a:extLst>
          </p:cNvPr>
          <p:cNvSpPr>
            <a:spLocks noGrp="1"/>
          </p:cNvSpPr>
          <p:nvPr/>
        </p:nvSpPr>
        <p:spPr>
          <a:xfrm>
            <a:off x="2924175" y="3048000"/>
            <a:ext cx="85820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descreve a decisão, a obrigação, a autorização ou o acordo necessário para que o projeto avance.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4E49372-C1C8-47C3-B8CA-0181B39A5C2B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AA33D48-C22E-49E5-ADD5-728CA1D1CF7F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162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Instrumento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6F7C74D0-42E0-414F-94A7-86B84FCC32B6}"/>
              </a:ext>
            </a:extLst>
          </p:cNvPr>
          <p:cNvSpPr>
            <a:spLocks noGrp="1"/>
          </p:cNvSpPr>
          <p:nvPr/>
        </p:nvSpPr>
        <p:spPr>
          <a:xfrm>
            <a:off x="2809875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FB91649-A1FA-4AFE-8E76-E7EF49FFDF1A}"/>
              </a:ext>
            </a:extLst>
          </p:cNvPr>
          <p:cNvSpPr>
            <a:spLocks noGrp="1"/>
          </p:cNvSpPr>
          <p:nvPr/>
        </p:nvSpPr>
        <p:spPr>
          <a:xfrm>
            <a:off x="2924175" y="3705225"/>
            <a:ext cx="85820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registro informa se a providência depende de lei, contrato, convênio, licença, concessão, autorização ou norma técnica.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AF5E14D-083E-4964-8E77-CF3ABEF25F23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8C1862C-7EA5-4E8D-BF89-1B85514D8E78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162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Situação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D33F850A-2357-43B6-B7A1-D65F3AFD8B42}"/>
              </a:ext>
            </a:extLst>
          </p:cNvPr>
          <p:cNvSpPr>
            <a:spLocks noGrp="1"/>
          </p:cNvSpPr>
          <p:nvPr/>
        </p:nvSpPr>
        <p:spPr>
          <a:xfrm>
            <a:off x="2809875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7149D10-E8C2-4268-A024-0D6C81250ACE}"/>
              </a:ext>
            </a:extLst>
          </p:cNvPr>
          <p:cNvSpPr>
            <a:spLocks noGrp="1"/>
          </p:cNvSpPr>
          <p:nvPr/>
        </p:nvSpPr>
        <p:spPr>
          <a:xfrm>
            <a:off x="2924175" y="4362450"/>
            <a:ext cx="85820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dependência aparece como resolvida, em tratamento ou ainda sem encaminhamento, sempre acompanhada da evidência disponível.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3A630977-6D43-4D41-8835-B843BBADD6C3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CB4941D-2748-44B8-B6FF-902EAA3E5D5F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162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Consequência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BA49A583-31BC-46DA-97B2-B3FCAF105923}"/>
              </a:ext>
            </a:extLst>
          </p:cNvPr>
          <p:cNvSpPr>
            <a:spLocks noGrp="1"/>
          </p:cNvSpPr>
          <p:nvPr/>
        </p:nvSpPr>
        <p:spPr>
          <a:xfrm>
            <a:off x="2809875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79FD3B5-63A2-4FB2-B048-5DEBD33D14B9}"/>
              </a:ext>
            </a:extLst>
          </p:cNvPr>
          <p:cNvSpPr>
            <a:spLocks noGrp="1"/>
          </p:cNvSpPr>
          <p:nvPr/>
        </p:nvSpPr>
        <p:spPr>
          <a:xfrm>
            <a:off x="2924175" y="5019675"/>
            <a:ext cx="85820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explica como a falta de solução pode alterar o prazo, o custo, o escopo, a governança ou a capacidade de operação.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1F64E19-D113-4E0D-A433-DE46B22D9CF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A794E64-DA16-4FA6-979C-CFF03D4C8ADA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dependência institucional deixa de ser uma ressalva abstrata e passa a orientar diligências, responsabilidades e decisões de implementação.</a:t>
            </a:r>
          </a:p>
        </p:txBody>
      </p:sp>
    </p:spTree>
    <p:extLst>
      <p:ext uri="{BB962C8B-B14F-4D97-AF65-F5344CB8AC3E}">
        <p14:creationId xmlns:p14="http://schemas.microsoft.com/office/powerpoint/2010/main" val="29907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11A82D2D-52BA-4D0E-B5E7-5D92822FD6D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B3EA7B7-0556-4FF9-B4C1-D2DC0EFF316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A88D66D-BDA2-4CC8-A190-41BD3911B825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434447-C35A-4025-920B-0A095F54A538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Maturidade do projeto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D8F25421-513F-473F-8C40-88B69124F159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03A4A52-0BCC-462E-8932-AEB90BF5F9A9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A06C5D-AC96-43DF-BE6C-09948CC2412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466626-2B0E-458C-A280-487FD33DCCF0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registra a maturidade separadamente em cada dimensão, porque um projeto pode possuir demanda bem definida e, ao mesmo tempo, engenharia ou governança ainda incipientes.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6C03A06-0C91-48C3-806C-8B0D462B6382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1CA850F-3AF9-4C12-A22F-FE6CF99A0F9D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Demanda e função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C08BF5A7-402B-47E3-98FF-DD3A677911AE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04AF215-1953-4B34-BC77-074ED31E9D2E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maturidade da demanda mostra se a função logística, os usuários potenciais e o horizonte de necessidade estão suficientemente definidos.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53E2D67-F440-4C4D-9325-FA98341C5483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39F417C-CF9A-442F-AD8D-5681341D9FB5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Engenharia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E7C00518-34CD-4EFA-8B2E-473F42A0E463}"/>
              </a:ext>
            </a:extLst>
          </p:cNvPr>
          <p:cNvSpPr>
            <a:spLocks noGrp="1"/>
          </p:cNvSpPr>
          <p:nvPr/>
        </p:nvSpPr>
        <p:spPr>
          <a:xfrm>
            <a:off x="304800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015D699-03E0-4425-9C78-47EFB7A5DB18}"/>
              </a:ext>
            </a:extLst>
          </p:cNvPr>
          <p:cNvSpPr>
            <a:spLocks noGrp="1"/>
          </p:cNvSpPr>
          <p:nvPr/>
        </p:nvSpPr>
        <p:spPr>
          <a:xfrm>
            <a:off x="3162300" y="304800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maturidade de engenharia mostra se existem alternativas estudadas, traçado consistente, especificações técnicas e componentes delimitados.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14DBD41-AE8F-46B7-98ED-00EF78A0CA21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7D3E434-4F14-4E85-8D24-BC8D0DB40D7D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Ambiente e território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96363EFB-A0CD-4090-8CDF-278988C8492F}"/>
              </a:ext>
            </a:extLst>
          </p:cNvPr>
          <p:cNvSpPr>
            <a:spLocks noGrp="1"/>
          </p:cNvSpPr>
          <p:nvPr/>
        </p:nvSpPr>
        <p:spPr>
          <a:xfrm>
            <a:off x="304800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B06F04F-13DB-43A8-890A-C677F809B732}"/>
              </a:ext>
            </a:extLst>
          </p:cNvPr>
          <p:cNvSpPr>
            <a:spLocks noGrp="1"/>
          </p:cNvSpPr>
          <p:nvPr/>
        </p:nvSpPr>
        <p:spPr>
          <a:xfrm>
            <a:off x="3162300" y="370522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Esta dimensão registra o conhecimento disponível sobre licenciamento, áreas necessárias, desapropriações e conflitos territoriais.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A6D0E25-61CA-4291-A5E3-C047C98ADC21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91B53D9-FBD2-49B4-9502-312AD07C5D70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Instituições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1FF485AC-7BEA-4BA1-BA32-19938F054A63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3566D39-12E9-41E2-B87E-7E0462FECA9C}"/>
              </a:ext>
            </a:extLst>
          </p:cNvPr>
          <p:cNvSpPr>
            <a:spLocks noGrp="1"/>
          </p:cNvSpPr>
          <p:nvPr/>
        </p:nvSpPr>
        <p:spPr>
          <a:xfrm>
            <a:off x="3162300" y="436245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maturidade institucional examina a governança, as responsabilidades, as autorizações e o modelo contratual necessário para implantar e operar.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2934843-82FC-4C6C-80CF-7061BEDB2BE6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A1CB5A9-17E8-4E37-9917-70D4750DF3E0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Finanças e operação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2A025C4E-F658-47FC-9726-E1C1682074CC}"/>
              </a:ext>
            </a:extLst>
          </p:cNvPr>
          <p:cNvSpPr>
            <a:spLocks noGrp="1"/>
          </p:cNvSpPr>
          <p:nvPr/>
        </p:nvSpPr>
        <p:spPr>
          <a:xfrm>
            <a:off x="304800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12AF242-E2DB-4ED6-AE3F-8679106435D8}"/>
              </a:ext>
            </a:extLst>
          </p:cNvPr>
          <p:cNvSpPr>
            <a:spLocks noGrp="1"/>
          </p:cNvSpPr>
          <p:nvPr/>
        </p:nvSpPr>
        <p:spPr>
          <a:xfrm>
            <a:off x="3162300" y="50196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Esta dimensão verifica se existem fontes plausíveis de recursos, operador potencial e integração definida com projetos dos quais a solução depende.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6A50C0A-3273-485D-BC55-91C0BEED48E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9DE3F03-8CBD-432C-B720-9C453860E8C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2881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Para cada dimensão, a FAP registrará um estágio descritivo, a evidência que sustenta esse enquadramento e o próximo passo necessário. Esses estágios permanecem separados e não geram uma nota global no D14.</a:t>
            </a:r>
          </a:p>
        </p:txBody>
      </p:sp>
    </p:spTree>
    <p:extLst>
      <p:ext uri="{BB962C8B-B14F-4D97-AF65-F5344CB8AC3E}">
        <p14:creationId xmlns:p14="http://schemas.microsoft.com/office/powerpoint/2010/main" val="1918083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0C8331C-CA9E-401B-BE36-B4F229CF4461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BF1E6D6-72C8-43BF-8E6E-DC83FE06C48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322E6C5-4CB9-4A27-8475-EE5D8D9DFA2E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A9099C-02C9-4053-A692-5D3A577DB47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Financiabilidade preliminar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BCF2132-41ED-4B3F-A3CE-EF7F3B798133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38169A5-0742-437F-925D-6826C41A3E6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245CB7D-B654-4A92-B3D5-DC3C8F356B8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EFAA69F-9BE8-43A0-A73C-CA324702784D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não estima custos. Ele registra a lógica preliminar de financiamento e operação necessária para orientar o D15 e identificar riscos de implementação.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03A3E17-D3C4-4941-8B63-6E9E08F88C0F}"/>
              </a:ext>
            </a:extLst>
          </p:cNvPr>
          <p:cNvSpPr>
            <a:spLocks noGrp="1"/>
          </p:cNvSpPr>
          <p:nvPr/>
        </p:nvSpPr>
        <p:spPr>
          <a:xfrm>
            <a:off x="476250" y="2552700"/>
            <a:ext cx="11144250" cy="590550"/>
          </a:xfrm>
          <a:prstGeom prst="roundRect">
            <a:avLst>
              <a:gd name="adj" fmla="val 645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4F8CF77-6103-4A07-8A57-0CB28E43FEF4}"/>
              </a:ext>
            </a:extLst>
          </p:cNvPr>
          <p:cNvSpPr>
            <a:spLocks noGrp="1"/>
          </p:cNvSpPr>
          <p:nvPr/>
        </p:nvSpPr>
        <p:spPr>
          <a:xfrm>
            <a:off x="571500" y="260985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CAPEX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E771114-C26E-4DAA-9A3F-9D574EF63CE1}"/>
              </a:ext>
            </a:extLst>
          </p:cNvPr>
          <p:cNvSpPr>
            <a:spLocks noGrp="1"/>
          </p:cNvSpPr>
          <p:nvPr/>
        </p:nvSpPr>
        <p:spPr>
          <a:xfrm>
            <a:off x="2571750" y="2619375"/>
            <a:ext cx="0" cy="4572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1B2CA55-07F6-4067-82E6-47E27A90AB6B}"/>
              </a:ext>
            </a:extLst>
          </p:cNvPr>
          <p:cNvSpPr>
            <a:spLocks noGrp="1"/>
          </p:cNvSpPr>
          <p:nvPr/>
        </p:nvSpPr>
        <p:spPr>
          <a:xfrm>
            <a:off x="2686050" y="2600325"/>
            <a:ext cx="882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identifica quem poderá financiar os gastos necessários para projetar, adquirir e construir os ativos e quais mecanismos públicos ou privados o D15 deverá testar.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544C64C-677B-4BDA-A19D-1AD376373ACC}"/>
              </a:ext>
            </a:extLst>
          </p:cNvPr>
          <p:cNvSpPr>
            <a:spLocks noGrp="1"/>
          </p:cNvSpPr>
          <p:nvPr/>
        </p:nvSpPr>
        <p:spPr>
          <a:xfrm>
            <a:off x="476250" y="3181350"/>
            <a:ext cx="11144250" cy="590550"/>
          </a:xfrm>
          <a:prstGeom prst="roundRect">
            <a:avLst>
              <a:gd name="adj" fmla="val 645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EBF8EBE-955C-486C-B832-37BA5460B69B}"/>
              </a:ext>
            </a:extLst>
          </p:cNvPr>
          <p:cNvSpPr>
            <a:spLocks noGrp="1"/>
          </p:cNvSpPr>
          <p:nvPr/>
        </p:nvSpPr>
        <p:spPr>
          <a:xfrm>
            <a:off x="571500" y="323850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OPEX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AF7B194E-E190-414E-8DF1-89466AED23D3}"/>
              </a:ext>
            </a:extLst>
          </p:cNvPr>
          <p:cNvSpPr>
            <a:spLocks noGrp="1"/>
          </p:cNvSpPr>
          <p:nvPr/>
        </p:nvSpPr>
        <p:spPr>
          <a:xfrm>
            <a:off x="2571750" y="3248025"/>
            <a:ext cx="0" cy="4572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11BC8DE-6224-4FA7-9664-BE571E19EFB4}"/>
              </a:ext>
            </a:extLst>
          </p:cNvPr>
          <p:cNvSpPr>
            <a:spLocks noGrp="1"/>
          </p:cNvSpPr>
          <p:nvPr/>
        </p:nvSpPr>
        <p:spPr>
          <a:xfrm>
            <a:off x="2686050" y="3228975"/>
            <a:ext cx="882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identifica o operador esperado e a fonte potencial para sustentar os gastos recorrentes de operação, manutenção e reposição ao longo da vida útil.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48CBD2-93EC-4255-B1FA-242C2308653E}"/>
              </a:ext>
            </a:extLst>
          </p:cNvPr>
          <p:cNvSpPr>
            <a:spLocks noGrp="1"/>
          </p:cNvSpPr>
          <p:nvPr/>
        </p:nvSpPr>
        <p:spPr>
          <a:xfrm>
            <a:off x="476250" y="3810000"/>
            <a:ext cx="11144250" cy="590550"/>
          </a:xfrm>
          <a:prstGeom prst="roundRect">
            <a:avLst>
              <a:gd name="adj" fmla="val 645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AB9CD89-726C-4BD7-B093-6DF01EBB15FC}"/>
              </a:ext>
            </a:extLst>
          </p:cNvPr>
          <p:cNvSpPr>
            <a:spLocks noGrp="1"/>
          </p:cNvSpPr>
          <p:nvPr/>
        </p:nvSpPr>
        <p:spPr>
          <a:xfrm>
            <a:off x="571500" y="386715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Receita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B2790619-611B-48FD-8C1A-CA33F0B21233}"/>
              </a:ext>
            </a:extLst>
          </p:cNvPr>
          <p:cNvSpPr>
            <a:spLocks noGrp="1"/>
          </p:cNvSpPr>
          <p:nvPr/>
        </p:nvSpPr>
        <p:spPr>
          <a:xfrm>
            <a:off x="2571750" y="3876675"/>
            <a:ext cx="0" cy="4572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7BDC3F7-6E4B-44A7-A469-8C2A365D6DE4}"/>
              </a:ext>
            </a:extLst>
          </p:cNvPr>
          <p:cNvSpPr>
            <a:spLocks noGrp="1"/>
          </p:cNvSpPr>
          <p:nvPr/>
        </p:nvSpPr>
        <p:spPr>
          <a:xfrm>
            <a:off x="2686050" y="3857625"/>
            <a:ext cx="882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registra se o projeto poderá gerar tarifas, pagamentos por disponibilidade, receitas acessórias ou outras fontes próprias, ou se dependerá de recursos públicos.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3AC6800-D664-46DA-A090-3D7DF44D0DD4}"/>
              </a:ext>
            </a:extLst>
          </p:cNvPr>
          <p:cNvSpPr>
            <a:spLocks noGrp="1"/>
          </p:cNvSpPr>
          <p:nvPr/>
        </p:nvSpPr>
        <p:spPr>
          <a:xfrm>
            <a:off x="476250" y="4438650"/>
            <a:ext cx="11144250" cy="590550"/>
          </a:xfrm>
          <a:prstGeom prst="roundRect">
            <a:avLst>
              <a:gd name="adj" fmla="val 645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D8E22A0-9FDC-43F1-B540-7AFF7D325724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Riscos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7136D45E-F5BC-48D9-A1C6-D6484E4184DA}"/>
              </a:ext>
            </a:extLst>
          </p:cNvPr>
          <p:cNvSpPr>
            <a:spLocks noGrp="1"/>
          </p:cNvSpPr>
          <p:nvPr/>
        </p:nvSpPr>
        <p:spPr>
          <a:xfrm>
            <a:off x="2571750" y="4505325"/>
            <a:ext cx="0" cy="4572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DCC5EF8-A636-4F74-8A46-CB92C418865E}"/>
              </a:ext>
            </a:extLst>
          </p:cNvPr>
          <p:cNvSpPr>
            <a:spLocks noGrp="1"/>
          </p:cNvSpPr>
          <p:nvPr/>
        </p:nvSpPr>
        <p:spPr>
          <a:xfrm>
            <a:off x="2686050" y="4486275"/>
            <a:ext cx="882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identifica riscos de demanda, construção, licenciamento, desapropriação, tecnologia, operação, crédito e coordenação com projetos complementares.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562354F-C10C-433D-B9D6-985CC39CABE9}"/>
              </a:ext>
            </a:extLst>
          </p:cNvPr>
          <p:cNvSpPr>
            <a:spLocks noGrp="1"/>
          </p:cNvSpPr>
          <p:nvPr/>
        </p:nvSpPr>
        <p:spPr>
          <a:xfrm>
            <a:off x="476250" y="5067300"/>
            <a:ext cx="11144250" cy="590550"/>
          </a:xfrm>
          <a:prstGeom prst="roundRect">
            <a:avLst>
              <a:gd name="adj" fmla="val 645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30F58A6-A5E8-47F6-97A7-EABED5A92601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Modelo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2E2047C2-1B8F-4ADC-8E77-C4DD0D9F51A5}"/>
              </a:ext>
            </a:extLst>
          </p:cNvPr>
          <p:cNvSpPr>
            <a:spLocks noGrp="1"/>
          </p:cNvSpPr>
          <p:nvPr/>
        </p:nvSpPr>
        <p:spPr>
          <a:xfrm>
            <a:off x="2571750" y="5133975"/>
            <a:ext cx="0" cy="4572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3A864C2-95E1-47F3-8548-A4545707AF2E}"/>
              </a:ext>
            </a:extLst>
          </p:cNvPr>
          <p:cNvSpPr>
            <a:spLocks noGrp="1"/>
          </p:cNvSpPr>
          <p:nvPr/>
        </p:nvSpPr>
        <p:spPr>
          <a:xfrm>
            <a:off x="2686050" y="5114925"/>
            <a:ext cx="882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registra hipóteses de investimento público direto, concessão, parceria público-privada, autorização ou outro arranjo, que serão testadas com custos e receitas.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428C2EF-6606-4FD7-9372-6E5E9971C06E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A1DFDB7-B2E0-4E48-BA09-43DDF43B8601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303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definição de quem financiará o investimento e quem sustentará a operação dependerá dos custos, das receitas, dos riscos e do modelo contratual testado no D15.</a:t>
            </a:r>
          </a:p>
        </p:txBody>
      </p:sp>
    </p:spTree>
    <p:extLst>
      <p:ext uri="{BB962C8B-B14F-4D97-AF65-F5344CB8AC3E}">
        <p14:creationId xmlns:p14="http://schemas.microsoft.com/office/powerpoint/2010/main" val="4052904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E47118B-8145-4A40-B88D-AEACA8FB695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72C1FAC-FCFA-4E82-8B4D-8A1E6ADED43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4272D1B-5B89-4873-B16F-3445941FC377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AB1A6-384C-478A-8001-249D55E7DC9D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Qualidade da evidência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BBEC1A8-7806-44D4-A4C2-A5E0E380FD56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33D644D-7119-4B4E-A22C-6BF3B6A12F5D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2A0357-443C-4862-8BA8-3E66D73D1DE3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6F88911-5A67-4D92-8B6E-36962ED9266D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avalia a qualidade da evidência separadamente da magnitude esperada do impacto. Um efeito potencialmente grande pode estar apoiado em informação frágil e, por isso, exigir validação adicional.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706BC6A-377B-49DB-8095-ADED34AD7E18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CA54D4A-8A2A-46A4-B071-BDE79AD63755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2098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Método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FFD76EBB-6BF4-4146-BF8F-DB31B7029128}"/>
              </a:ext>
            </a:extLst>
          </p:cNvPr>
          <p:cNvSpPr>
            <a:spLocks noGrp="1"/>
          </p:cNvSpPr>
          <p:nvPr/>
        </p:nvSpPr>
        <p:spPr>
          <a:xfrm>
            <a:off x="285750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0B50B71-26B8-46FB-BA89-947922B9AD95}"/>
              </a:ext>
            </a:extLst>
          </p:cNvPr>
          <p:cNvSpPr>
            <a:spLocks noGrp="1"/>
          </p:cNvSpPr>
          <p:nvPr/>
        </p:nvSpPr>
        <p:spPr>
          <a:xfrm>
            <a:off x="2971800" y="2390775"/>
            <a:ext cx="8534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classificação considera o desenho do estudo, a relação entre o dado e o mecanismo alegado, a qualidade da base e a possibilidade de reproduzir o cálculo.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46659BB-9C31-461E-8E26-562A1C2FB05B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6D54A8C-0311-44F1-8266-938D6D05168B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2098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Contexto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6423BD4D-F7A6-4730-994E-F68CCB0098B5}"/>
              </a:ext>
            </a:extLst>
          </p:cNvPr>
          <p:cNvSpPr>
            <a:spLocks noGrp="1"/>
          </p:cNvSpPr>
          <p:nvPr/>
        </p:nvSpPr>
        <p:spPr>
          <a:xfrm>
            <a:off x="285750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C1349AB-6497-4FB7-9A43-C0F91A85D4FF}"/>
              </a:ext>
            </a:extLst>
          </p:cNvPr>
          <p:cNvSpPr>
            <a:spLocks noGrp="1"/>
          </p:cNvSpPr>
          <p:nvPr/>
        </p:nvSpPr>
        <p:spPr>
          <a:xfrm>
            <a:off x="2971800" y="3048000"/>
            <a:ext cx="8534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verifica se o território, a população, o período, o mercado e as instituições analisadas correspondem ao contexto do projeto.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648717D-62B2-4947-A62F-581E2C98F21F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CEA1D3B-BA60-4490-A5CE-99BC69B93D39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2098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Referência externa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5564B291-C05B-4DAF-BAAC-265699078196}"/>
              </a:ext>
            </a:extLst>
          </p:cNvPr>
          <p:cNvSpPr>
            <a:spLocks noGrp="1"/>
          </p:cNvSpPr>
          <p:nvPr/>
        </p:nvSpPr>
        <p:spPr>
          <a:xfrm>
            <a:off x="285750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6CC1313-7F93-4D3C-88A2-AB1C5BAA97F7}"/>
              </a:ext>
            </a:extLst>
          </p:cNvPr>
          <p:cNvSpPr>
            <a:spLocks noGrp="1"/>
          </p:cNvSpPr>
          <p:nvPr/>
        </p:nvSpPr>
        <p:spPr>
          <a:xfrm>
            <a:off x="2971800" y="3705225"/>
            <a:ext cx="8534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Resultados de outros projetos podem indicar que um mecanismo é plausível, mas não substituem evidência específica para a intervenção do PLI.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91ED1F8-EACC-4CB0-B3FD-277C3CC18908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04562FD-7718-464C-8278-E9DFC7AB2795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2098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Transferibilidade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DEAA7304-8D84-4246-92FD-B66F3113B814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EA0E083-6105-4EF8-B482-303EFE47DF05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34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transferibilidade registra em que medida uma referência externa pode ser usada no projeto e quais diferenças limitam essa aplicação.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74DF7CE-302F-4D6C-B933-6177E5584759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E0980F5-9E89-4CEF-8303-98D441487578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2098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Incerteza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75550136-C13F-4256-A61B-5F807FE82EA4}"/>
              </a:ext>
            </a:extLst>
          </p:cNvPr>
          <p:cNvSpPr>
            <a:spLocks noGrp="1"/>
          </p:cNvSpPr>
          <p:nvPr/>
        </p:nvSpPr>
        <p:spPr>
          <a:xfrm>
            <a:off x="285750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9AC238E-D573-4F0C-A525-3152A778765F}"/>
              </a:ext>
            </a:extLst>
          </p:cNvPr>
          <p:cNvSpPr>
            <a:spLocks noGrp="1"/>
          </p:cNvSpPr>
          <p:nvPr/>
        </p:nvSpPr>
        <p:spPr>
          <a:xfrm>
            <a:off x="2971800" y="5019675"/>
            <a:ext cx="85344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apresenta a incerteza como condição de uso do resultado, em vez de escondê-la em um valor médio aparentemente preciso.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AD2C2EB-5688-41B5-958A-F9A6C5765B1F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8DFB97D-3C24-4A1D-9B72-314EAB58ABA9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3445"/>
          </a:bodyPr>
          <a:lstStyle/>
          <a:p>
            <a:pPr algn="l">
              <a:lnSpc>
                <a:spcPct val="105000"/>
              </a:lnSpc>
              <a:buNone/>
              <a:defRPr sz="1177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77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Cada evidência receberá uma classe qualitativa justificada, acompanhada da fonte, das limitações e das verificações ainda necessárias. As classes orientarão o uso da informação, mas não serão somadas em uma nota global.</a:t>
            </a:r>
          </a:p>
        </p:txBody>
      </p:sp>
    </p:spTree>
    <p:extLst>
      <p:ext uri="{BB962C8B-B14F-4D97-AF65-F5344CB8AC3E}">
        <p14:creationId xmlns:p14="http://schemas.microsoft.com/office/powerpoint/2010/main" val="628066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116281F-A479-4893-BB78-09B8310C5242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54354AD-081B-467A-8CE0-47477148488D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5910953-E183-4B53-B8E2-88A74F3C6CD8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3356B8-764D-4F25-B39A-029CECE08BE6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Controle de dupla contagem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BD50A3A-E295-4435-8774-9F03C929176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611558F-826A-4CBA-8910-0F4FDBF002F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7B8018D-1749-4388-81DC-82D6018E724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174F127-3ED8-4AF1-93B3-C15788A7E09E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livro-razão de impactos é uma tabela de controle que relaciona cada efeito à sua medida, à sua fonte e ao tratamento previsto nos Produtos D16 e D17.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46FB353-EB06-4EE2-9D90-C21D5D9F5CDF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CBD1485-1220-4CC6-B781-9CCEBDD993E6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Medição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45CC6C07-0F7D-4F61-A2BE-101A3AFB1A19}"/>
              </a:ext>
            </a:extLst>
          </p:cNvPr>
          <p:cNvSpPr>
            <a:spLocks noGrp="1"/>
          </p:cNvSpPr>
          <p:nvPr/>
        </p:nvSpPr>
        <p:spPr>
          <a:xfrm>
            <a:off x="295275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AFA1FE0-F990-4CCA-89FB-0F2BE594A4CD}"/>
              </a:ext>
            </a:extLst>
          </p:cNvPr>
          <p:cNvSpPr>
            <a:spLocks noGrp="1"/>
          </p:cNvSpPr>
          <p:nvPr/>
        </p:nvSpPr>
        <p:spPr>
          <a:xfrm>
            <a:off x="3067050" y="239077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efeito recebe uma medida principal e, quando possível, uma medida independente que permita verificar a consistência do resultado.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F0AA5E8-054A-4783-9D34-E03CB298FD27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FB8EB73-C793-44A7-9E84-B2FE72A8A636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Tratamento no D16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FFD4D667-4855-4C29-91A5-7322354CE681}"/>
              </a:ext>
            </a:extLst>
          </p:cNvPr>
          <p:cNvSpPr>
            <a:spLocks noGrp="1"/>
          </p:cNvSpPr>
          <p:nvPr/>
        </p:nvSpPr>
        <p:spPr>
          <a:xfrm>
            <a:off x="295275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E66937E-DCA6-43B3-99DA-86840394170A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registro informa se o efeito poderá ser monetizado como benefício ou custo e a qual conta de impacto ele pertence.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C0A2C49-2DD9-4286-9A71-B90E2F9A07AA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63A895C-60BC-411D-970D-73489D4888FF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Sobreposição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70080239-C790-4CD4-887F-0B437E793BCE}"/>
              </a:ext>
            </a:extLst>
          </p:cNvPr>
          <p:cNvSpPr>
            <a:spLocks noGrp="1"/>
          </p:cNvSpPr>
          <p:nvPr/>
        </p:nvSpPr>
        <p:spPr>
          <a:xfrm>
            <a:off x="295275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6ABC35A-2F37-42D8-9CAD-27F00DB8BF06}"/>
              </a:ext>
            </a:extLst>
          </p:cNvPr>
          <p:cNvSpPr>
            <a:spLocks noGrp="1"/>
          </p:cNvSpPr>
          <p:nvPr/>
        </p:nvSpPr>
        <p:spPr>
          <a:xfrm>
            <a:off x="3067050" y="370522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identifica efeitos que derivam do mesmo mecanismo, como economia de tempo e produtividade, para impedir que o ganho seja somado integralmente duas vezes.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5F7BC09-BC19-4D6F-A4A7-51886F69A97B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9A2B953-945A-4DA5-A7EE-6981FA56955F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Transferências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58659FCE-1BA4-4003-B94E-196836A28132}"/>
              </a:ext>
            </a:extLst>
          </p:cNvPr>
          <p:cNvSpPr>
            <a:spLocks noGrp="1"/>
          </p:cNvSpPr>
          <p:nvPr/>
        </p:nvSpPr>
        <p:spPr>
          <a:xfrm>
            <a:off x="295275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C07B2CB-047A-410C-A0E3-7A60094219B0}"/>
              </a:ext>
            </a:extLst>
          </p:cNvPr>
          <p:cNvSpPr>
            <a:spLocks noGrp="1"/>
          </p:cNvSpPr>
          <p:nvPr/>
        </p:nvSpPr>
        <p:spPr>
          <a:xfrm>
            <a:off x="3067050" y="4362450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Receitas tarifárias são tratadas como transferências quando apenas deslocam recursos entre usuários, operadores e Poder Público.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2E416BB-1A83-4EEB-846C-71D6973E3CA8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FC30B1A-BAED-4F62-A44D-BEFE15C8D402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Tratamento no D17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2108B8E0-EAF9-4A32-BD52-A73F2F6A7900}"/>
              </a:ext>
            </a:extLst>
          </p:cNvPr>
          <p:cNvSpPr>
            <a:spLocks noGrp="1"/>
          </p:cNvSpPr>
          <p:nvPr/>
        </p:nvSpPr>
        <p:spPr>
          <a:xfrm>
            <a:off x="295275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0A99AEC-4B4B-447F-B18A-F383B781B6B6}"/>
              </a:ext>
            </a:extLst>
          </p:cNvPr>
          <p:cNvSpPr>
            <a:spLocks noGrp="1"/>
          </p:cNvSpPr>
          <p:nvPr/>
        </p:nvSpPr>
        <p:spPr>
          <a:xfrm>
            <a:off x="3067050" y="501967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impacto já monetizado no D16 não reaparece automaticamente como critério independente no D17, a menos que represente uma dimensão pública diferente e justificada.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4381D950-41CE-49BA-8EDE-30435521A2B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C76A6394-710E-4FED-9941-474DB8DE802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deve permitir que outra equipe reproduza o raciocínio, identifique sobreposições e revise as premissas sem reconstruir a análise.</a:t>
            </a:r>
          </a:p>
        </p:txBody>
      </p:sp>
    </p:spTree>
    <p:extLst>
      <p:ext uri="{BB962C8B-B14F-4D97-AF65-F5344CB8AC3E}">
        <p14:creationId xmlns:p14="http://schemas.microsoft.com/office/powerpoint/2010/main" val="4247381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7C01DA4-DC69-418B-BB7E-9EEDFD678E67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732553F-1582-4267-BEE9-34A59056277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6BF0C22-93A4-444F-ABE0-3156ABB00181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533400" cy="5200650"/>
          </a:xfrm>
          <a:prstGeom prst="rect">
            <a:avLst/>
          </a:prstGeom>
          <a:solidFill>
            <a:srgbClr val="55B77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09855B4-45A6-48C4-BFA0-BB2F3FEE1B74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2000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defRPr>
            </a:pPr>
            <a:r>
              <a: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16CA820-8E96-4E41-B16A-F5DA89602F9C}"/>
              </a:ext>
            </a:extLst>
          </p:cNvPr>
          <p:cNvSpPr>
            <a:spLocks noGrp="1"/>
          </p:cNvSpPr>
          <p:nvPr/>
        </p:nvSpPr>
        <p:spPr>
          <a:xfrm>
            <a:off x="2809875" y="1943100"/>
            <a:ext cx="809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Exemplo de aplicação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84ECB48A-CF75-46F1-81FA-5772DD765AF8}"/>
              </a:ext>
            </a:extLst>
          </p:cNvPr>
          <p:cNvSpPr>
            <a:spLocks noGrp="1"/>
          </p:cNvSpPr>
          <p:nvPr/>
        </p:nvSpPr>
        <p:spPr>
          <a:xfrm>
            <a:off x="2857500" y="2924175"/>
            <a:ext cx="7810500" cy="0"/>
          </a:xfrm>
          <a:prstGeom prst="line">
            <a:avLst/>
          </a:prstGeom>
          <a:noFill/>
          <a:ln w="28575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22E8B78-687E-486C-AD88-38D222D68448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7715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57150" rIns="3810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Ferrovia Hidro-Oceânica foi escolhida porque representa uma intervenção de grande escala, controversa e ainda conceitual. Sua função depende de infraestrutura portuária, e sua descrição varia entre as fontes disponíveis.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F8E8634-9A36-47F5-A8E0-089A744C1476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03DF5B8-5B04-4B5F-AD9F-3963EC47041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3157383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CACCD3BE-F575-4359-AE6E-037B1FF15F4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5BABEFE-1C1A-4BD4-AC19-79119E9D20BC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1" name="Imagem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C7DF48C-0242-4F8D-BD0D-C4373564F60C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9A6824-2996-4EA4-AF41-4DCFBF7BB75C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Ferrovia Hidro-Oceânica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65A64CE2-A12E-409F-ACF8-04714D8A4A2B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D2C50E6-27DC-4292-8055-5525F367D7D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E84FEBF-F709-46E8-B4E4-D6ACCB897BA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49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81875" y="1638300"/>
            <a:ext cx="4000500" cy="40005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95FF725-791E-40BB-B0C0-747FE9D2B5B9}"/>
              </a:ext>
            </a:extLst>
          </p:cNvPr>
          <p:cNvSpPr>
            <a:spLocks noGrp="1"/>
          </p:cNvSpPr>
          <p:nvPr/>
        </p:nvSpPr>
        <p:spPr>
          <a:xfrm>
            <a:off x="7334250" y="5572125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8841"/>
          </a:bodyPr>
          <a:lstStyle/>
          <a:p>
            <a:pPr algn="ctr">
              <a:lnSpc>
                <a:spcPct val="105000"/>
              </a:lnSpc>
              <a:buNone/>
              <a:defRPr sz="938" b="0" i="1">
                <a:solidFill>
                  <a:srgbClr val="6D777D"/>
                </a:solidFill>
                <a:latin typeface="Nimbus Sans"/>
                <a:ea typeface="Nimbus Sans"/>
                <a:cs typeface="Nimbus Sans"/>
              </a:defRPr>
            </a:pPr>
            <a:r>
              <a:rPr sz="938" b="0" i="1">
                <a:solidFill>
                  <a:srgbClr val="6D777D"/>
                </a:solidFill>
                <a:latin typeface="Nimbus Sans"/>
                <a:ea typeface="Nimbus Sans"/>
                <a:cs typeface="Nimbus Sans"/>
              </a:rPr>
              <a:t>Recorte cartográfico do Caderno de Ações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F06E06C-562C-47F4-855A-4DB51259C7DF}"/>
              </a:ext>
            </a:extLst>
          </p:cNvPr>
          <p:cNvSpPr>
            <a:spLocks noGrp="1"/>
          </p:cNvSpPr>
          <p:nvPr/>
        </p:nvSpPr>
        <p:spPr>
          <a:xfrm>
            <a:off x="476250" y="1685925"/>
            <a:ext cx="6334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Informação disponível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7E54515-E4A0-4CAA-AA82-5784BC6D8598}"/>
              </a:ext>
            </a:extLst>
          </p:cNvPr>
          <p:cNvSpPr>
            <a:spLocks noGrp="1"/>
          </p:cNvSpPr>
          <p:nvPr/>
        </p:nvSpPr>
        <p:spPr>
          <a:xfrm>
            <a:off x="476250" y="2143125"/>
            <a:ext cx="647700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Caderno de Ações identifica a proposta pelo código A2.3.6 e utiliza a denominação Ferrovia Hidroceânica.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proposta pretende conectar a Hidrovia Tietê-Paraná, na região de Araçatuba, a uma saída portuária localizada no Litoral Sul.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fonte menciona uma extensão conceitual de 682 quilômetros, que ainda precisa ser confirmada por meio de traçado georreferenciado.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território preliminar inclui o Litoral Sul, o Vale do Ribeira, o Paranapanema e áreas próximas de Itupeva, Marília e Araçatuba.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fontes tratam a iniciativa como conceito e utilizam a expressão “em estudo” para 2030, o que não equivale à existência de projeto de engenharia.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7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função exportadora depende da implantação de um novo porto no Litoral Sul, identificado na base pelo código A4.8.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E8195CE-CD99-433F-B39F-23996D72D814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C95FA03-777F-4BB2-A2B2-A59893F3E119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exemplo reproduz informações existentes e identifica lacunas. Não representa conclusão, aprovação ou prioridade do PLI.</a:t>
            </a:r>
          </a:p>
        </p:txBody>
      </p:sp>
    </p:spTree>
    <p:extLst>
      <p:ext uri="{BB962C8B-B14F-4D97-AF65-F5344CB8AC3E}">
        <p14:creationId xmlns:p14="http://schemas.microsoft.com/office/powerpoint/2010/main" val="263492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Conector de Seta Reta 28"/>
          <p:cNvCxnSpPr>
            <a:stCxn id="16" idx="3"/>
            <a:endCxn id="20" idx="1"/>
          </p:cNvCxnSpPr>
          <p:nvPr/>
        </p:nvCxnSpPr>
        <p:spPr>
          <a:xfrm>
            <a:off x="7702550" y="3667125"/>
            <a:ext cx="228600" cy="0"/>
          </a:xfrm>
          <a:prstGeom prst="straightConnector1">
            <a:avLst/>
          </a:prstGeom>
          <a:ln w="19050">
            <a:solidFill>
              <a:srgbClr val="55B77D"/>
            </a:solidFill>
            <a:prstDash val="solid"/>
            <a:tailEnd type="triangle" w="sm" len="sm"/>
          </a:ln>
        </p:spPr>
      </p:cxnSp>
      <p:cxnSp>
        <p:nvCxnSpPr>
          <p:cNvPr id="30" name="Conector de Seta Reta 29"/>
          <p:cNvCxnSpPr>
            <a:stCxn id="12" idx="3"/>
            <a:endCxn id="16" idx="1"/>
          </p:cNvCxnSpPr>
          <p:nvPr/>
        </p:nvCxnSpPr>
        <p:spPr>
          <a:xfrm>
            <a:off x="4260850" y="3667125"/>
            <a:ext cx="228600" cy="0"/>
          </a:xfrm>
          <a:prstGeom prst="straightConnector1">
            <a:avLst/>
          </a:prstGeom>
          <a:ln w="19050">
            <a:solidFill>
              <a:srgbClr val="55B77D"/>
            </a:solidFill>
            <a:prstDash val="solid"/>
            <a:tailEnd type="triangle" w="sm" len="sm"/>
          </a:ln>
        </p:spPr>
      </p:cxnSp>
      <p:pic>
        <p:nvPicPr>
          <p:cNvPr id="31" name="Imagem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0E7B773-C80F-4AC4-8EBE-5CE6CFFC843D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86C1701-473D-425A-92BE-378A0B6D37E5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8DBA9B3-B1DA-4BE5-8484-5CEB256285E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E7A3B4E-973F-4B8A-BC8F-38FA1B91CAC6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Objeto de decisão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2614F150-AD06-4F78-88AE-E3B53638BF59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688E4E3-1695-4BEC-90C0-0EC4D228BF0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8E6866-1176-4CF9-8DF4-0BC1F2236650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1F8F96-CBBC-456E-B46D-71B9AD957D68}"/>
              </a:ext>
            </a:extLst>
          </p:cNvPr>
          <p:cNvSpPr>
            <a:spLocks noGrp="1"/>
          </p:cNvSpPr>
          <p:nvPr/>
        </p:nvSpPr>
        <p:spPr>
          <a:xfrm>
            <a:off x="666750" y="1685925"/>
            <a:ext cx="1085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6924"/>
          </a:bodyPr>
          <a:lstStyle/>
          <a:p>
            <a:pPr algn="ctr">
              <a:lnSpc>
                <a:spcPct val="105000"/>
              </a:lnSpc>
              <a:buNone/>
              <a:defRPr sz="15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Antes da simulação no D12, da estimativa de custos no D15 e da avaliação no D16, a equipe precisa definir qual unidade de decisão a FAP representa.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66CC551-8035-4BD2-8B66-93902C632B1F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3213100" cy="2190750"/>
          </a:xfrm>
          <a:prstGeom prst="roundRect">
            <a:avLst>
              <a:gd name="adj" fmla="val 3913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26621A2-0652-4EDA-A020-1AC317BE644E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C428E9D-5D1D-426D-A7E9-6046E5444DD0}"/>
              </a:ext>
            </a:extLst>
          </p:cNvPr>
          <p:cNvSpPr>
            <a:spLocks noGrp="1"/>
          </p:cNvSpPr>
          <p:nvPr/>
        </p:nvSpPr>
        <p:spPr>
          <a:xfrm>
            <a:off x="1571625" y="2657475"/>
            <a:ext cx="257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 único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F3CF76C-A40B-4C21-B62A-B3AAE8FA0A0C}"/>
              </a:ext>
            </a:extLst>
          </p:cNvPr>
          <p:cNvSpPr>
            <a:spLocks noGrp="1"/>
          </p:cNvSpPr>
          <p:nvPr/>
        </p:nvSpPr>
        <p:spPr>
          <a:xfrm>
            <a:off x="1181100" y="3114675"/>
            <a:ext cx="294640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Nesta opção, a FAP representa uma ferrovia contínua entre Araçatuba e o Litoral Sul, com escopo, custos, riscos e governança tratados como uma única decisão.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7F313F8-108D-43D3-9225-8FA5D4A6516F}"/>
              </a:ext>
            </a:extLst>
          </p:cNvPr>
          <p:cNvSpPr>
            <a:spLocks noGrp="1"/>
          </p:cNvSpPr>
          <p:nvPr/>
        </p:nvSpPr>
        <p:spPr>
          <a:xfrm>
            <a:off x="4489450" y="2571750"/>
            <a:ext cx="3213100" cy="2190750"/>
          </a:xfrm>
          <a:prstGeom prst="roundRect">
            <a:avLst>
              <a:gd name="adj" fmla="val 3913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E0D4847-9AEB-4DDE-81E8-4ED371DDF002}"/>
              </a:ext>
            </a:extLst>
          </p:cNvPr>
          <p:cNvSpPr>
            <a:spLocks noGrp="1"/>
          </p:cNvSpPr>
          <p:nvPr/>
        </p:nvSpPr>
        <p:spPr>
          <a:xfrm>
            <a:off x="4603750" y="26860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15C56F2-7EA8-4168-B54E-CB2F3867070F}"/>
              </a:ext>
            </a:extLst>
          </p:cNvPr>
          <p:cNvSpPr>
            <a:spLocks noGrp="1"/>
          </p:cNvSpPr>
          <p:nvPr/>
        </p:nvSpPr>
        <p:spPr>
          <a:xfrm>
            <a:off x="5013325" y="2657475"/>
            <a:ext cx="257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Sistema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909B7B5-A5D2-4474-B895-B6EE23D898A5}"/>
              </a:ext>
            </a:extLst>
          </p:cNvPr>
          <p:cNvSpPr>
            <a:spLocks noGrp="1"/>
          </p:cNvSpPr>
          <p:nvPr/>
        </p:nvSpPr>
        <p:spPr>
          <a:xfrm>
            <a:off x="4622800" y="3114675"/>
            <a:ext cx="294640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Nesta opção, a FAP representa conjuntamente os segmentos ferroviários, os terminais, a transposição da serra e a conexão portuária necessária para formar o corredor.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7A2EEA2-FC7D-4934-964D-703FC3A65211}"/>
              </a:ext>
            </a:extLst>
          </p:cNvPr>
          <p:cNvSpPr>
            <a:spLocks noGrp="1"/>
          </p:cNvSpPr>
          <p:nvPr/>
        </p:nvSpPr>
        <p:spPr>
          <a:xfrm>
            <a:off x="7931150" y="2571750"/>
            <a:ext cx="3213100" cy="2190750"/>
          </a:xfrm>
          <a:prstGeom prst="roundRect">
            <a:avLst>
              <a:gd name="adj" fmla="val 3913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F32ABC9-EAB6-490B-B955-38DA3306AE22}"/>
              </a:ext>
            </a:extLst>
          </p:cNvPr>
          <p:cNvSpPr>
            <a:spLocks noGrp="1"/>
          </p:cNvSpPr>
          <p:nvPr/>
        </p:nvSpPr>
        <p:spPr>
          <a:xfrm>
            <a:off x="8045450" y="26860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63507F3-F5A5-4E50-B495-644652E1A971}"/>
              </a:ext>
            </a:extLst>
          </p:cNvPr>
          <p:cNvSpPr>
            <a:spLocks noGrp="1"/>
          </p:cNvSpPr>
          <p:nvPr/>
        </p:nvSpPr>
        <p:spPr>
          <a:xfrm>
            <a:off x="8455025" y="2657475"/>
            <a:ext cx="257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Ficha sistêmica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9CDE737-BBDB-444A-A73C-04BDBC3493AA}"/>
              </a:ext>
            </a:extLst>
          </p:cNvPr>
          <p:cNvSpPr>
            <a:spLocks noGrp="1"/>
          </p:cNvSpPr>
          <p:nvPr/>
        </p:nvSpPr>
        <p:spPr>
          <a:xfrm>
            <a:off x="8064500" y="3114675"/>
            <a:ext cx="2946400" cy="1552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Nesta opção, uma FAP agregadora resume a função do corredor e se vincula a fichas próprias dos componentes que possuem custos, riscos ou responsáveis distintos.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24A6CEA-9847-4CB7-B50F-5412318C545D}"/>
              </a:ext>
            </a:extLst>
          </p:cNvPr>
          <p:cNvSpPr>
            <a:spLocks noGrp="1"/>
          </p:cNvSpPr>
          <p:nvPr/>
        </p:nvSpPr>
        <p:spPr>
          <a:xfrm>
            <a:off x="1333500" y="5086350"/>
            <a:ext cx="9525000" cy="647700"/>
          </a:xfrm>
          <a:prstGeom prst="roundRect">
            <a:avLst>
              <a:gd name="adj" fmla="val 8824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escolha altera o contrafactual, os custos, a atribuição de benefícios, o modelo institucional e a comparação dentro dos programas. Enquanto a decisão não for tomada, a FAP deve permanecer parcialmente aberta.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6C676D7-5251-434B-A0C1-9C5995E9EA45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133625E-B12D-4973-B8D4-974C9F9646D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unidade cadastral deve corresponder ao objeto que o Governo poderá efetivamente decidir, contratar e implantar.</a:t>
            </a:r>
          </a:p>
        </p:txBody>
      </p:sp>
    </p:spTree>
    <p:extLst>
      <p:ext uri="{BB962C8B-B14F-4D97-AF65-F5344CB8AC3E}">
        <p14:creationId xmlns:p14="http://schemas.microsoft.com/office/powerpoint/2010/main" val="515048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4C5491B0-C935-4546-A358-9161318E310F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F08B1E4-A11D-4C20-8573-9057F1434BC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B199523-36C5-4EDE-AB56-96A14321B492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745874E-1634-4120-B700-DDB9096D2599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FAP hipotética · enquadramento e rede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4BFD7F9-4D6A-4F1C-9E4A-12ADAF7B6010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90EA19A-BD19-4C4B-8FD9-49220A064EF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CBCC1C0-F829-4452-ACF0-91AE8B9D0BC5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CC3141D-763B-44DD-9298-02A1C90A9FE1}"/>
              </a:ext>
            </a:extLst>
          </p:cNvPr>
          <p:cNvSpPr>
            <a:spLocks noGrp="1"/>
          </p:cNvSpPr>
          <p:nvPr/>
        </p:nvSpPr>
        <p:spPr>
          <a:xfrm>
            <a:off x="533400" y="1609725"/>
            <a:ext cx="11125200" cy="37338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9EE60F3-6255-40CC-8E36-F77C1ED1B425}"/>
              </a:ext>
            </a:extLst>
          </p:cNvPr>
          <p:cNvSpPr>
            <a:spLocks noGrp="1"/>
          </p:cNvSpPr>
          <p:nvPr/>
        </p:nvSpPr>
        <p:spPr>
          <a:xfrm>
            <a:off x="533400" y="1609725"/>
            <a:ext cx="11125200" cy="457200"/>
          </a:xfrm>
          <a:prstGeom prst="roundRect">
            <a:avLst>
              <a:gd name="adj" fmla="val 14583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1B3EE80-C8D6-4C42-817F-9DF0CEC17CFF}"/>
              </a:ext>
            </a:extLst>
          </p:cNvPr>
          <p:cNvSpPr>
            <a:spLocks noGrp="1"/>
          </p:cNvSpPr>
          <p:nvPr/>
        </p:nvSpPr>
        <p:spPr>
          <a:xfrm>
            <a:off x="723900" y="1704975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2150"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A2.3.6 · FERROVIA HIDRO-OCEÂNICA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23B8881-0E75-4531-A84B-23F4A6C0F805}"/>
              </a:ext>
            </a:extLst>
          </p:cNvPr>
          <p:cNvSpPr>
            <a:spLocks noGrp="1"/>
          </p:cNvSpPr>
          <p:nvPr/>
        </p:nvSpPr>
        <p:spPr>
          <a:xfrm>
            <a:off x="9239250" y="17049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9206"/>
          </a:bodyPr>
          <a:lstStyle/>
          <a:p>
            <a:pPr algn="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EXEMPLO HIPOTÉTICO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FE7AF5E-A137-4DDF-B440-0E4395912948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0820400" cy="933450"/>
          </a:xfrm>
          <a:prstGeom prst="roundRect">
            <a:avLst>
              <a:gd name="adj" fmla="val 40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0704089-23CE-41C9-A2B6-464EAD4697ED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82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Enquadramento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3DBF8651-5388-4C2C-8B8C-4CC0F8EC5358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0" cy="8001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C95DB10-F7E4-4185-978B-279DB112579B}"/>
              </a:ext>
            </a:extLst>
          </p:cNvPr>
          <p:cNvSpPr>
            <a:spLocks noGrp="1"/>
          </p:cNvSpPr>
          <p:nvPr/>
        </p:nvSpPr>
        <p:spPr>
          <a:xfrm>
            <a:off x="2800350" y="2238375"/>
            <a:ext cx="8591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classifica a iniciativa como uma ferrovia de cargas ainda conceitual. Ela propõe como programa-âncora o P01, Eficiência do comércio exterior e sistema portuário paulista, e como vínculo secundário o P03, Eficiência logística do interior e corredores produtivos, sem antecipar sua priorização.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416F5CB-CB7B-45D5-9DBE-6CBA3911517D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933450"/>
          </a:xfrm>
          <a:prstGeom prst="roundRect">
            <a:avLst>
              <a:gd name="adj" fmla="val 408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5BC5A24-6A50-49F0-880C-A9F6AD4D928C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82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91E23889-A595-4377-85FC-B4FA3736BB31}"/>
              </a:ext>
            </a:extLst>
          </p:cNvPr>
          <p:cNvSpPr>
            <a:spLocks noGrp="1"/>
          </p:cNvSpPr>
          <p:nvPr/>
        </p:nvSpPr>
        <p:spPr>
          <a:xfrm>
            <a:off x="2686050" y="3228975"/>
            <a:ext cx="0" cy="8001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4F77C7D-B8B9-44D4-B47F-2F1C92B233DE}"/>
              </a:ext>
            </a:extLst>
          </p:cNvPr>
          <p:cNvSpPr>
            <a:spLocks noGrp="1"/>
          </p:cNvSpPr>
          <p:nvPr/>
        </p:nvSpPr>
        <p:spPr>
          <a:xfrm>
            <a:off x="2800350" y="3209925"/>
            <a:ext cx="8591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projeto pretende criar uma alternativa intermodal para granéis do interior paulista e de regiões próximas, conectando a Hidrovia Tietê-Paraná a uma saída portuária no Litoral Sul.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C6EC46F-CB81-48E1-A44E-6E2A6B949354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10820400" cy="933450"/>
          </a:xfrm>
          <a:prstGeom prst="roundRect">
            <a:avLst>
              <a:gd name="adj" fmla="val 4082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87E0DA2-2B7F-48BB-B2AD-48AD8576DC8A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182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Rede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03551366-2F94-44A0-8FC1-34891C2D79CB}"/>
              </a:ext>
            </a:extLst>
          </p:cNvPr>
          <p:cNvSpPr>
            <a:spLocks noGrp="1"/>
          </p:cNvSpPr>
          <p:nvPr/>
        </p:nvSpPr>
        <p:spPr>
          <a:xfrm>
            <a:off x="2686050" y="4200525"/>
            <a:ext cx="0" cy="8001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07DC642-EF18-4A1A-8A7F-1F39D8E6806D}"/>
              </a:ext>
            </a:extLst>
          </p:cNvPr>
          <p:cNvSpPr>
            <a:spLocks noGrp="1"/>
          </p:cNvSpPr>
          <p:nvPr/>
        </p:nvSpPr>
        <p:spPr>
          <a:xfrm>
            <a:off x="2800350" y="4181475"/>
            <a:ext cx="8591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resultados ainda não estão disponíveis. Antes da simulação, a equipe deverá definir o pacote de oferta, as cargas, a capacidade, o horizonte de entrada e o cenário sem o projeto.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A86C442-AAC2-4655-AE4A-55DB1C248111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DDD86FF-7179-4DD7-A25F-12BF62AB8EF9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Esta primeira parte da ficha estabiliza o objeto e explicita quais definições a equipe ainda precisa produzir antes da simulação.</a:t>
            </a:r>
          </a:p>
        </p:txBody>
      </p:sp>
    </p:spTree>
    <p:extLst>
      <p:ext uri="{BB962C8B-B14F-4D97-AF65-F5344CB8AC3E}">
        <p14:creationId xmlns:p14="http://schemas.microsoft.com/office/powerpoint/2010/main" val="6652534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C7EA2755-659A-44D3-AA62-55F0F2637D1E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5BB4413-F21E-4BFE-A136-F91B25C8D78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089F9B9-46D2-4B98-B5E5-ED6609F5B54E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6DDEF3-5B34-4DC9-B9E6-30D050131DB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FAP hipotética · território e condições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5C8CF19F-2F08-4D43-97EB-7D535B915F7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028B4A-5267-4DF0-9B28-B7804F6593F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13ACE5E-AB61-4DAF-81EF-8FF8065C551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53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D8B358C-32B7-4B75-BBB6-B1A021BC0838}"/>
              </a:ext>
            </a:extLst>
          </p:cNvPr>
          <p:cNvSpPr>
            <a:spLocks noGrp="1"/>
          </p:cNvSpPr>
          <p:nvPr/>
        </p:nvSpPr>
        <p:spPr>
          <a:xfrm>
            <a:off x="533400" y="1609725"/>
            <a:ext cx="11125200" cy="37338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7D9FB36-E72B-4B3A-B34B-A715591BB6AD}"/>
              </a:ext>
            </a:extLst>
          </p:cNvPr>
          <p:cNvSpPr>
            <a:spLocks noGrp="1"/>
          </p:cNvSpPr>
          <p:nvPr/>
        </p:nvSpPr>
        <p:spPr>
          <a:xfrm>
            <a:off x="533400" y="1609725"/>
            <a:ext cx="11125200" cy="457200"/>
          </a:xfrm>
          <a:prstGeom prst="roundRect">
            <a:avLst>
              <a:gd name="adj" fmla="val 14583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D9CF75D-BE8E-4095-957A-E84208D12D0A}"/>
              </a:ext>
            </a:extLst>
          </p:cNvPr>
          <p:cNvSpPr>
            <a:spLocks noGrp="1"/>
          </p:cNvSpPr>
          <p:nvPr/>
        </p:nvSpPr>
        <p:spPr>
          <a:xfrm>
            <a:off x="723900" y="1704975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2150"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A2.3.6 · FERROVIA HIDRO-OCEÂNICA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6440492-34B7-4D70-9F1C-C6830D5D95AC}"/>
              </a:ext>
            </a:extLst>
          </p:cNvPr>
          <p:cNvSpPr>
            <a:spLocks noGrp="1"/>
          </p:cNvSpPr>
          <p:nvPr/>
        </p:nvSpPr>
        <p:spPr>
          <a:xfrm>
            <a:off x="9239250" y="170497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9206"/>
          </a:bodyPr>
          <a:lstStyle/>
          <a:p>
            <a:pPr algn="r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EXEMPLO HIPOTÉTICO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2266CD7-B048-4754-9C41-4B5E30AEAC8D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10820400" cy="933450"/>
          </a:xfrm>
          <a:prstGeom prst="roundRect">
            <a:avLst>
              <a:gd name="adj" fmla="val 4082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CF9BFD-8FDF-4B64-9E4C-F4230BF7050C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82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Território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BE4BB704-30A1-4F61-94F7-F84741B419AC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0" cy="8001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175B574-736A-4B6A-8BA5-7068DE7CC56E}"/>
              </a:ext>
            </a:extLst>
          </p:cNvPr>
          <p:cNvSpPr>
            <a:spLocks noGrp="1"/>
          </p:cNvSpPr>
          <p:nvPr/>
        </p:nvSpPr>
        <p:spPr>
          <a:xfrm>
            <a:off x="2800350" y="2238375"/>
            <a:ext cx="8591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fontes identificam apenas macrorregiões. O traçado, os municípios, os terminais, as áreas afetadas e a versão da geometria georreferenciada ainda não estão disponíveis. Por isso, a ficha não formula conclusões locais sobre impactos ou restrições.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CD1CC97-007B-4AA6-97AD-3037372CD679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0820400" cy="933450"/>
          </a:xfrm>
          <a:prstGeom prst="roundRect">
            <a:avLst>
              <a:gd name="adj" fmla="val 40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AF5DCE1-82DF-47D1-B29F-89CE495C3DC8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82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Impactos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2D331A38-1107-4AFB-BF6C-2ACAA104BEC6}"/>
              </a:ext>
            </a:extLst>
          </p:cNvPr>
          <p:cNvSpPr>
            <a:spLocks noGrp="1"/>
          </p:cNvSpPr>
          <p:nvPr/>
        </p:nvSpPr>
        <p:spPr>
          <a:xfrm>
            <a:off x="2686050" y="3228975"/>
            <a:ext cx="0" cy="8001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D3DE311-0B97-45CF-A1DA-E7DD59772AE8}"/>
              </a:ext>
            </a:extLst>
          </p:cNvPr>
          <p:cNvSpPr>
            <a:spLocks noGrp="1"/>
          </p:cNvSpPr>
          <p:nvPr/>
        </p:nvSpPr>
        <p:spPr>
          <a:xfrm>
            <a:off x="2800350" y="3209925"/>
            <a:ext cx="8591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registra como hipóteses a transferência entre modos de transporte, o apoio ao comércio exterior, o desenvolvimento regional e a mudança de emissões. Esses efeitos somente serão tratados como resultados depois que a equipe produzir evidências específicas e comparáveis com o cenário sem o projeto.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26EC8FB-9358-42FC-AC6D-AA49F653BB84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10820400" cy="933450"/>
          </a:xfrm>
          <a:prstGeom prst="roundRect">
            <a:avLst>
              <a:gd name="adj" fmla="val 4082"/>
            </a:avLst>
          </a:prstGeom>
          <a:solidFill>
            <a:srgbClr val="FCE4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2D42AE8-1601-4CFF-B11C-59D710EB089B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1828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Condições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4AD352AF-39AF-4B3D-B0B3-26D685AF0170}"/>
              </a:ext>
            </a:extLst>
          </p:cNvPr>
          <p:cNvSpPr>
            <a:spLocks noGrp="1"/>
          </p:cNvSpPr>
          <p:nvPr/>
        </p:nvSpPr>
        <p:spPr>
          <a:xfrm>
            <a:off x="2686050" y="4200525"/>
            <a:ext cx="0" cy="8001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EB258F6-C950-41F3-B9D8-EC6222CC71C7}"/>
              </a:ext>
            </a:extLst>
          </p:cNvPr>
          <p:cNvSpPr>
            <a:spLocks noGrp="1"/>
          </p:cNvSpPr>
          <p:nvPr/>
        </p:nvSpPr>
        <p:spPr>
          <a:xfrm>
            <a:off x="2800350" y="4181475"/>
            <a:ext cx="8591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avanço depende da definição do novo porto no Litoral Sul, da conciliação cadastral, do arranjo institucional, dos estudos ambientais, da engenharia e do modelo de financiamento. Cada pendência deverá indicar responsável, evidência esperada e Produto de destino.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2A25D9B-F8E5-430B-9AFB-ABA1CCE8FAE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99F1883-FC9F-4F37-8B7A-ECF66CEEFA1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9268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ficha distingue claramente dados existentes, hipóteses e informações indisponíveis. Ela pode permanecer aberta sem transformar incerteza em conclusão.</a:t>
            </a:r>
          </a:p>
        </p:txBody>
      </p:sp>
    </p:spTree>
    <p:extLst>
      <p:ext uri="{BB962C8B-B14F-4D97-AF65-F5344CB8AC3E}">
        <p14:creationId xmlns:p14="http://schemas.microsoft.com/office/powerpoint/2010/main" val="16158504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m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632350A-26FD-493F-85D1-8DE41F1310DC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CCBD01B-61F9-4086-8C24-0C86DE82AB3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9" name="Imagem 3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FCD2709-17EF-40B8-8C73-2D89C7BC3997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CD61E0E-1727-4F97-823C-E7B8C1D4E59C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Relações do sistema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2251384-454F-4F03-A09B-4BBE66C955F4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CBB793C-5E09-4D83-8C52-241318FDC01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1B3E83-8E9F-4903-92C5-A45AAEF46F7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54</a:t>
            </a:r>
          </a:p>
        </p:txBody>
      </p:sp>
      <p:pic>
        <p:nvPicPr>
          <p:cNvPr id="45" name="Imagem 4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491288" y="1676400"/>
            <a:ext cx="4972050" cy="3857625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9E7A3127-1B0B-4934-9862-040F77A592E9}"/>
              </a:ext>
            </a:extLst>
          </p:cNvPr>
          <p:cNvSpPr>
            <a:spLocks noGrp="1"/>
          </p:cNvSpPr>
          <p:nvPr/>
        </p:nvSpPr>
        <p:spPr>
          <a:xfrm>
            <a:off x="6477000" y="5486400"/>
            <a:ext cx="500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852"/>
          </a:bodyPr>
          <a:lstStyle/>
          <a:p>
            <a:pPr algn="ctr">
              <a:lnSpc>
                <a:spcPct val="105000"/>
              </a:lnSpc>
              <a:buNone/>
              <a:defRPr sz="885" b="0" i="1">
                <a:solidFill>
                  <a:srgbClr val="6D777D"/>
                </a:solidFill>
                <a:latin typeface="Nimbus Sans"/>
                <a:ea typeface="Nimbus Sans"/>
                <a:cs typeface="Nimbus Sans"/>
              </a:defRPr>
            </a:pPr>
            <a:r>
              <a:rPr sz="885" b="0" i="1">
                <a:solidFill>
                  <a:srgbClr val="6D777D"/>
                </a:solidFill>
                <a:latin typeface="Nimbus Sans"/>
                <a:ea typeface="Nimbus Sans"/>
                <a:cs typeface="Nimbus Sans"/>
              </a:rPr>
              <a:t>Recorte cartográfico do Caderno de Ações. A fonte usa o código 4.8; a base consolidada utiliza A4.8.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58D080A-6A0E-49FA-BDA8-386A1A7F4C9A}"/>
              </a:ext>
            </a:extLst>
          </p:cNvPr>
          <p:cNvSpPr>
            <a:spLocks noGrp="1"/>
          </p:cNvSpPr>
          <p:nvPr/>
        </p:nvSpPr>
        <p:spPr>
          <a:xfrm>
            <a:off x="428625" y="1752600"/>
            <a:ext cx="5810250" cy="714375"/>
          </a:xfrm>
          <a:prstGeom prst="roundRect">
            <a:avLst>
              <a:gd name="adj" fmla="val 5333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1225C90-FFD2-4D16-8482-6F87F50E24E0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12573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A2.3.6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1D82AB3E-68A3-4F0C-A9AD-7BA5429B438F}"/>
              </a:ext>
            </a:extLst>
          </p:cNvPr>
          <p:cNvSpPr>
            <a:spLocks noGrp="1"/>
          </p:cNvSpPr>
          <p:nvPr/>
        </p:nvSpPr>
        <p:spPr>
          <a:xfrm>
            <a:off x="1857375" y="1819275"/>
            <a:ext cx="0" cy="5810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8A50B50-15D1-44D9-96B9-29276940F09F}"/>
              </a:ext>
            </a:extLst>
          </p:cNvPr>
          <p:cNvSpPr>
            <a:spLocks noGrp="1"/>
          </p:cNvSpPr>
          <p:nvPr/>
        </p:nvSpPr>
        <p:spPr>
          <a:xfrm>
            <a:off x="1971675" y="1800225"/>
            <a:ext cx="4152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código identifica o corredor ferroviário conceitual que pretende conectar a região de Araçatuba ao Litoral Sul.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2E23067-100F-4FF5-8C81-8402EEA9D096}"/>
              </a:ext>
            </a:extLst>
          </p:cNvPr>
          <p:cNvSpPr>
            <a:spLocks noGrp="1"/>
          </p:cNvSpPr>
          <p:nvPr/>
        </p:nvSpPr>
        <p:spPr>
          <a:xfrm>
            <a:off x="428625" y="2505075"/>
            <a:ext cx="5810250" cy="714375"/>
          </a:xfrm>
          <a:prstGeom prst="roundRect">
            <a:avLst>
              <a:gd name="adj" fmla="val 5333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2D5ED91-EA17-46BD-8DB3-0272AEB47F61}"/>
              </a:ext>
            </a:extLst>
          </p:cNvPr>
          <p:cNvSpPr>
            <a:spLocks noGrp="1"/>
          </p:cNvSpPr>
          <p:nvPr/>
        </p:nvSpPr>
        <p:spPr>
          <a:xfrm>
            <a:off x="523875" y="2562225"/>
            <a:ext cx="12573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A4.8</a:t>
            </a:r>
          </a:p>
        </p:txBody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A7995FF2-DAEA-4E4D-96FD-D8E1FF745F7E}"/>
              </a:ext>
            </a:extLst>
          </p:cNvPr>
          <p:cNvSpPr>
            <a:spLocks noGrp="1"/>
          </p:cNvSpPr>
          <p:nvPr/>
        </p:nvSpPr>
        <p:spPr>
          <a:xfrm>
            <a:off x="1857375" y="2571750"/>
            <a:ext cx="0" cy="5810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16094CE-0BDC-409B-94E8-97CC416E7BC9}"/>
              </a:ext>
            </a:extLst>
          </p:cNvPr>
          <p:cNvSpPr>
            <a:spLocks noGrp="1"/>
          </p:cNvSpPr>
          <p:nvPr/>
        </p:nvSpPr>
        <p:spPr>
          <a:xfrm>
            <a:off x="1971675" y="2552700"/>
            <a:ext cx="4152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244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Este código identifica o novo porto no Litoral Sul, que funciona como componente necessário porque fornece a saída marítima da função exportadora proposta.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739CA0-5D82-4AE2-A15B-93EDC2E72EE3}"/>
              </a:ext>
            </a:extLst>
          </p:cNvPr>
          <p:cNvSpPr>
            <a:spLocks noGrp="1"/>
          </p:cNvSpPr>
          <p:nvPr/>
        </p:nvSpPr>
        <p:spPr>
          <a:xfrm>
            <a:off x="428625" y="3257550"/>
            <a:ext cx="5810250" cy="714375"/>
          </a:xfrm>
          <a:prstGeom prst="roundRect">
            <a:avLst>
              <a:gd name="adj" fmla="val 5333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2165359-7EC1-4B16-90CB-A2AFD9CC9331}"/>
              </a:ext>
            </a:extLst>
          </p:cNvPr>
          <p:cNvSpPr>
            <a:spLocks noGrp="1"/>
          </p:cNvSpPr>
          <p:nvPr/>
        </p:nvSpPr>
        <p:spPr>
          <a:xfrm>
            <a:off x="523875" y="3314700"/>
            <a:ext cx="12573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Outras conexões</a:t>
            </a:r>
          </a:p>
        </p:txBody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0ACE12C5-49D8-48CE-99DC-BCA8874F2697}"/>
              </a:ext>
            </a:extLst>
          </p:cNvPr>
          <p:cNvSpPr>
            <a:spLocks noGrp="1"/>
          </p:cNvSpPr>
          <p:nvPr/>
        </p:nvSpPr>
        <p:spPr>
          <a:xfrm>
            <a:off x="1857375" y="3324225"/>
            <a:ext cx="0" cy="5810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B6C3923-A16F-473B-9489-12ED30702EFF}"/>
              </a:ext>
            </a:extLst>
          </p:cNvPr>
          <p:cNvSpPr>
            <a:spLocks noGrp="1"/>
          </p:cNvSpPr>
          <p:nvPr/>
        </p:nvSpPr>
        <p:spPr>
          <a:xfrm>
            <a:off x="1971675" y="3305175"/>
            <a:ext cx="4152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244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sistema poderá exigir hidrovia, terminais, ramais, acessos, frota e instalações de transbordo que ainda precisam ser delimitados e vinculados às respectivas FAPs.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C624B48-7D23-4FCD-9A2C-BC8ECB2E44CD}"/>
              </a:ext>
            </a:extLst>
          </p:cNvPr>
          <p:cNvSpPr>
            <a:spLocks noGrp="1"/>
          </p:cNvSpPr>
          <p:nvPr/>
        </p:nvSpPr>
        <p:spPr>
          <a:xfrm>
            <a:off x="428625" y="4010025"/>
            <a:ext cx="5810250" cy="714375"/>
          </a:xfrm>
          <a:prstGeom prst="roundRect">
            <a:avLst>
              <a:gd name="adj" fmla="val 5333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A5A77480-4FAC-4CF7-873F-BEE91457D876}"/>
              </a:ext>
            </a:extLst>
          </p:cNvPr>
          <p:cNvSpPr>
            <a:spLocks noGrp="1"/>
          </p:cNvSpPr>
          <p:nvPr/>
        </p:nvSpPr>
        <p:spPr>
          <a:xfrm>
            <a:off x="523875" y="4067175"/>
            <a:ext cx="12573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Alternativas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A7CD59E3-198F-48CE-842E-72EEB68D0285}"/>
              </a:ext>
            </a:extLst>
          </p:cNvPr>
          <p:cNvSpPr>
            <a:spLocks noGrp="1"/>
          </p:cNvSpPr>
          <p:nvPr/>
        </p:nvSpPr>
        <p:spPr>
          <a:xfrm>
            <a:off x="1857375" y="4076700"/>
            <a:ext cx="0" cy="5810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B6EC6A1-7FC8-49D1-8581-6E5EEAC0CF42}"/>
              </a:ext>
            </a:extLst>
          </p:cNvPr>
          <p:cNvSpPr>
            <a:spLocks noGrp="1"/>
          </p:cNvSpPr>
          <p:nvPr/>
        </p:nvSpPr>
        <p:spPr>
          <a:xfrm>
            <a:off x="1971675" y="4057650"/>
            <a:ext cx="4152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244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ampliação de Santos, a descentralização para São Sebastião e outras rotas portuárias podem complementar ou competir com o novo corredor em diferentes horizontes.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35CED47C-8383-4226-B951-BF08FFB4CC0A}"/>
              </a:ext>
            </a:extLst>
          </p:cNvPr>
          <p:cNvSpPr>
            <a:spLocks noGrp="1"/>
          </p:cNvSpPr>
          <p:nvPr/>
        </p:nvSpPr>
        <p:spPr>
          <a:xfrm>
            <a:off x="428625" y="4762500"/>
            <a:ext cx="5810250" cy="714375"/>
          </a:xfrm>
          <a:prstGeom prst="roundRect">
            <a:avLst>
              <a:gd name="adj" fmla="val 5333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76FFE47-10FF-4050-A106-509A6536EE46}"/>
              </a:ext>
            </a:extLst>
          </p:cNvPr>
          <p:cNvSpPr>
            <a:spLocks noGrp="1"/>
          </p:cNvSpPr>
          <p:nvPr/>
        </p:nvSpPr>
        <p:spPr>
          <a:xfrm>
            <a:off x="523875" y="4819650"/>
            <a:ext cx="12573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Regra de demanda</a:t>
            </a:r>
          </a:p>
        </p:txBody>
      </p:sp>
      <p:sp>
        <p:nvSpPr>
          <p:cNvPr id="31" name="Conector reto 30">
            <a:extLst>
              <a:ext uri="{FF2B5EF4-FFF2-40B4-BE49-F238E27FC236}">
                <a16:creationId xmlns:a16="http://schemas.microsoft.com/office/drawing/2014/main" id="{B1A4CC50-6633-4082-AFC0-47AB281C77FF}"/>
              </a:ext>
            </a:extLst>
          </p:cNvPr>
          <p:cNvSpPr>
            <a:spLocks noGrp="1"/>
          </p:cNvSpPr>
          <p:nvPr/>
        </p:nvSpPr>
        <p:spPr>
          <a:xfrm>
            <a:off x="1857375" y="4829175"/>
            <a:ext cx="0" cy="58102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E71D412-B7F4-4922-974A-AC63BDC73746}"/>
              </a:ext>
            </a:extLst>
          </p:cNvPr>
          <p:cNvSpPr>
            <a:spLocks noGrp="1"/>
          </p:cNvSpPr>
          <p:nvPr/>
        </p:nvSpPr>
        <p:spPr>
          <a:xfrm>
            <a:off x="1971675" y="4810125"/>
            <a:ext cx="4152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244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demanda total projetada para exportação e importação permanece igual entre os cenários, enquanto as alternativas modificam sua distribuição entre rotas e portos.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0B0DA1C-A1AE-4A27-A65C-E580834A6A3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E7C0A49-7FB3-4C80-A661-8EC9827159A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122"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avaliação deverá estimar o efeito conjunto do corredor e, quando os dados permitirem, separar a contribuição incremental da ferrovia, do porto e dos demais componentes.</a:t>
            </a:r>
          </a:p>
        </p:txBody>
      </p:sp>
    </p:spTree>
    <p:extLst>
      <p:ext uri="{BB962C8B-B14F-4D97-AF65-F5344CB8AC3E}">
        <p14:creationId xmlns:p14="http://schemas.microsoft.com/office/powerpoint/2010/main" val="5151054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B58AB824-C60F-407A-9D07-EBB5F6951C0F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B2C66A-EE83-4E52-AED5-4CE1385D4EF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8CF2F16-D98C-4F88-BFB1-7C1336169C41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E5D72B-8D45-47DF-8CF4-B9F700FFBE8F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Potenciais contribuições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5673A504-E918-4417-8A64-F8F0C037394B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BBB910-1618-44E5-B8AD-1255AD0E43D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B74D9E5-7C66-4B13-86F4-8894F04A813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E901EF5-5889-45B8-8B41-04DF9FF9FF48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contribuições abaixo representam hipóteses de trabalho. O D14 deverá documentar a evidência disponível para cada uma, sem apresentá-las como benefícios já demonstrados.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8F7D950-2469-4A46-96CF-ECD562EC95B3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8197D3D-ADD6-49EA-9BE2-B1BC4CB333F5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Transferência de fluxos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199DE489-1849-4CA4-8F14-85313B24C3C5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572C5B-3F6A-4D87-915D-F3B593ED3137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ferrovia poderá retirar parte dos granéis atualmente transportados por rotas rodoviárias ou ferroviárias saturadas, desde que a demanda efetivamente migre para o novo corredor.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98B54A1-F589-4751-BC0E-56439136DD33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0BA5CA3-3EBA-4457-B575-DE50D6F7DAA2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Redundância portuária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B6749B26-5C76-4212-AFD3-F858321C6A8B}"/>
              </a:ext>
            </a:extLst>
          </p:cNvPr>
          <p:cNvSpPr>
            <a:spLocks noGrp="1"/>
          </p:cNvSpPr>
          <p:nvPr/>
        </p:nvSpPr>
        <p:spPr>
          <a:xfrm>
            <a:off x="304800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793AAAA-6244-474F-89CA-894B38F99B05}"/>
              </a:ext>
            </a:extLst>
          </p:cNvPr>
          <p:cNvSpPr>
            <a:spLocks noGrp="1"/>
          </p:cNvSpPr>
          <p:nvPr/>
        </p:nvSpPr>
        <p:spPr>
          <a:xfrm>
            <a:off x="3162300" y="304800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Ao conectar o interior a um novo acesso portuário, o sistema poderá criar uma rota adicional de exportação e reduzir a dependência dos eixos existentes.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4A0587C-5AD2-4A41-87C8-B26BA9B295A7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BE4F27-7EDC-4736-8A82-CB97E0B9A23E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Desempenho logístico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F37F9E0E-6195-45DC-A76C-4E5B209D8E0C}"/>
              </a:ext>
            </a:extLst>
          </p:cNvPr>
          <p:cNvSpPr>
            <a:spLocks noGrp="1"/>
          </p:cNvSpPr>
          <p:nvPr/>
        </p:nvSpPr>
        <p:spPr>
          <a:xfrm>
            <a:off x="304800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1050E1-4E82-4D9F-AFC2-F0BC0654D61E}"/>
              </a:ext>
            </a:extLst>
          </p:cNvPr>
          <p:cNvSpPr>
            <a:spLocks noGrp="1"/>
          </p:cNvSpPr>
          <p:nvPr/>
        </p:nvSpPr>
        <p:spPr>
          <a:xfrm>
            <a:off x="3162300" y="370522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Para cadeias produtivas localizadas no interior, o projeto poderá reduzir custos, tempo de viagem ou variabilidade logística, mas esses ganhos ainda precisam ser medidos.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C80A6BC-9F11-4978-A904-2FC0084A2220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B49CD72-FC5E-4AB8-9426-DD9C110F267F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Intermodalidade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3B5D16CD-2711-4D99-AA07-863E6A4B37BA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E954CB7-CE9D-49D5-937C-8935A0D26F63}"/>
              </a:ext>
            </a:extLst>
          </p:cNvPr>
          <p:cNvSpPr>
            <a:spLocks noGrp="1"/>
          </p:cNvSpPr>
          <p:nvPr/>
        </p:nvSpPr>
        <p:spPr>
          <a:xfrm>
            <a:off x="3162300" y="436245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implantação do corredor poderá estimular o uso ou a construção de terminais e conexões intermodais ao longo do traçado.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428F2D1-B2F7-41AE-994B-A2D921492B42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6459B5C-879C-4E4F-8D7E-6104AD4016EA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Efeitos regionais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EC1A1589-1BBE-4DDE-89F9-5D5998087EE5}"/>
              </a:ext>
            </a:extLst>
          </p:cNvPr>
          <p:cNvSpPr>
            <a:spLocks noGrp="1"/>
          </p:cNvSpPr>
          <p:nvPr/>
        </p:nvSpPr>
        <p:spPr>
          <a:xfrm>
            <a:off x="304800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EFFBD22-1456-45D6-8B0F-8CF6B9CA8447}"/>
              </a:ext>
            </a:extLst>
          </p:cNvPr>
          <p:cNvSpPr>
            <a:spLocks noGrp="1"/>
          </p:cNvSpPr>
          <p:nvPr/>
        </p:nvSpPr>
        <p:spPr>
          <a:xfrm>
            <a:off x="3162300" y="50196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infraestrutura poderá ampliar a atividade econômica em municípios do interior e no Vale do Ribeira, desde que o efeito seja adicional e territorialmente comprovado.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0393431-E343-437F-AC9A-BDEE1D5C729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9385FE9-8F5D-4F52-837B-A0EABFC33C1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Neste estágio, as contribuições orientam a produção de evidências e não autorizam conclusão sobre viabilidade ou prioridade.</a:t>
            </a:r>
          </a:p>
        </p:txBody>
      </p:sp>
    </p:spTree>
    <p:extLst>
      <p:ext uri="{BB962C8B-B14F-4D97-AF65-F5344CB8AC3E}">
        <p14:creationId xmlns:p14="http://schemas.microsoft.com/office/powerpoint/2010/main" val="8618018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DE1E5493-DD9C-4EEB-B321-2F99DCC68604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C2B6BDD-3191-4177-AE2D-90C7FB128A8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A55E1BB-71B7-4DE5-8A64-E351A4FD158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EBE0F8-4993-4EC3-A916-B1DBAC8AF94D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Condições para comprovação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C6FE50FD-DB36-43E6-8FF0-C08405A422DE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A44F845-F08F-47C0-816E-955AED4546AD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21EF4C-1075-4186-8898-83E4ACB1934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3225CD-DC69-494D-BE53-C4F54A4915BA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contribuição somente poderá ser atribuída à ferrovia se as condições técnicas, operacionais, institucionais e territoriais abaixo ocorrerem de forma compatível.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EA300C1-2387-483D-8E19-14E562B7BA6B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686596A-E372-4ECE-B6A7-2638CFF4A937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Demanda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AF8C37FD-800A-48E2-8457-B04B278E3BAD}"/>
              </a:ext>
            </a:extLst>
          </p:cNvPr>
          <p:cNvSpPr>
            <a:spLocks noGrp="1"/>
          </p:cNvSpPr>
          <p:nvPr/>
        </p:nvSpPr>
        <p:spPr>
          <a:xfrm>
            <a:off x="2905125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78282CD-4CFB-4624-A33D-579FB26C27F8}"/>
              </a:ext>
            </a:extLst>
          </p:cNvPr>
          <p:cNvSpPr>
            <a:spLocks noGrp="1"/>
          </p:cNvSpPr>
          <p:nvPr/>
        </p:nvSpPr>
        <p:spPr>
          <a:xfrm>
            <a:off x="3019425" y="2390775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volumes e os tipos de carga precisam ser compatíveis com a capacidade ferroviária prevista e com o horizonte de maturação do corredor.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442D882-4DCA-43DF-BDAA-BC946386A928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54A49FF-C940-4E6C-9D23-4B3EB3795486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Sistema completo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A75CEEAB-1855-4B1B-89D1-9F7AA570C838}"/>
              </a:ext>
            </a:extLst>
          </p:cNvPr>
          <p:cNvSpPr>
            <a:spLocks noGrp="1"/>
          </p:cNvSpPr>
          <p:nvPr/>
        </p:nvSpPr>
        <p:spPr>
          <a:xfrm>
            <a:off x="2905125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CBD62CC-BE53-4F50-A05C-35D223D71EBC}"/>
              </a:ext>
            </a:extLst>
          </p:cNvPr>
          <p:cNvSpPr>
            <a:spLocks noGrp="1"/>
          </p:cNvSpPr>
          <p:nvPr/>
        </p:nvSpPr>
        <p:spPr>
          <a:xfrm>
            <a:off x="3019425" y="3048000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porto do Litoral Sul, os terminais e as demais conexões necessárias precisam entrar em operação em horizonte compatível com o da ferrovia.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3CB6DD8-9B8B-40A6-8750-BC90242AC2FB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E4CB002-111B-421B-B319-31981AC8D88A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Viabilidade física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D49E2F2C-2F68-4EDC-8903-52EDBDC6C895}"/>
              </a:ext>
            </a:extLst>
          </p:cNvPr>
          <p:cNvSpPr>
            <a:spLocks noGrp="1"/>
          </p:cNvSpPr>
          <p:nvPr/>
        </p:nvSpPr>
        <p:spPr>
          <a:xfrm>
            <a:off x="2905125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A3C6844-4F4F-4408-A1F8-754D5B85A050}"/>
              </a:ext>
            </a:extLst>
          </p:cNvPr>
          <p:cNvSpPr>
            <a:spLocks noGrp="1"/>
          </p:cNvSpPr>
          <p:nvPr/>
        </p:nvSpPr>
        <p:spPr>
          <a:xfrm>
            <a:off x="3019425" y="3705225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traçado deverá demonstrar viabilidade técnica e superar as restrições ambientais, geotécnicas e territoriais identificadas.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01B70CD-D83F-4B42-8C95-C3F885F02EB6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8E5BCF9-3165-4429-896C-4811F0440569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Competitividade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839A01DC-D01D-4381-8F9C-764342E25FC0}"/>
              </a:ext>
            </a:extLst>
          </p:cNvPr>
          <p:cNvSpPr>
            <a:spLocks noGrp="1"/>
          </p:cNvSpPr>
          <p:nvPr/>
        </p:nvSpPr>
        <p:spPr>
          <a:xfrm>
            <a:off x="2905125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5C31B8F-6FCC-4130-85CD-71ABD731C09A}"/>
              </a:ext>
            </a:extLst>
          </p:cNvPr>
          <p:cNvSpPr>
            <a:spLocks noGrp="1"/>
          </p:cNvSpPr>
          <p:nvPr/>
        </p:nvSpPr>
        <p:spPr>
          <a:xfrm>
            <a:off x="3019425" y="4362450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serviço ferroviário precisará oferecer desempenho e custo competitivos em relação às rotas rodoviárias, ferroviárias e portuárias existentes.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76C3776-79A8-4ECA-868C-A47C1CF3462B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5430E74-D60C-4125-B4BC-82A9ADF9EDE3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2574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Implementação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EDA0BF49-6F89-4AF7-ABEA-E38BA8D288BE}"/>
              </a:ext>
            </a:extLst>
          </p:cNvPr>
          <p:cNvSpPr>
            <a:spLocks noGrp="1"/>
          </p:cNvSpPr>
          <p:nvPr/>
        </p:nvSpPr>
        <p:spPr>
          <a:xfrm>
            <a:off x="2905125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231426D-CB0E-43E0-9FAB-560E8CD969B9}"/>
              </a:ext>
            </a:extLst>
          </p:cNvPr>
          <p:cNvSpPr>
            <a:spLocks noGrp="1"/>
          </p:cNvSpPr>
          <p:nvPr/>
        </p:nvSpPr>
        <p:spPr>
          <a:xfrm>
            <a:off x="3019425" y="5019675"/>
            <a:ext cx="84867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União, Estado, municípios e agentes privados deverão definir responsabilidades, operador, instrumentos jurídicos e fontes de financiamento.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FC97004-9ABB-4550-B7D4-B7D0B8D8D07A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2DB443B-21FC-4928-96BE-A526BF886AC2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391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avaliação deverá separar o efeito da ferrovia do efeito do porto e dos demais componentes, para que o mesmo benefício não seja contabilizado mais de uma vez.</a:t>
            </a:r>
          </a:p>
        </p:txBody>
      </p:sp>
    </p:spTree>
    <p:extLst>
      <p:ext uri="{BB962C8B-B14F-4D97-AF65-F5344CB8AC3E}">
        <p14:creationId xmlns:p14="http://schemas.microsoft.com/office/powerpoint/2010/main" val="12710573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C0B19B9B-FB58-4791-9BBC-DCC7D87922B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2E3B94-EC14-4BBB-8E13-602A7404359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304FF14-306D-4109-94F2-9B0166D78D7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DB5A7C6-CF8E-45D0-A79F-AC029D7FF7B0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Lacunas sobre o objeto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2B62EB98-3E3B-41C5-9C40-6FE28DACE890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954540E-46FC-44BC-A634-95E3A1B3E67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BAACAB-6720-43BE-8B6E-C998DB5685EE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D646646-2505-4370-9144-C3EDBFDE088F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lacunas abaixo impedem que a equipe estabilize o objeto que será simulado, orçado e avaliado. Cada uma deverá ser convertida em diligência com responsável e evidência esperada.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AF668A3-D10F-42A1-8392-AE0AA8FAD330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39A52B4-E250-4718-9C0F-F297EC075D4F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Unidade de análise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CE1885F1-B813-4E2C-BB6F-04C3DF38686B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5A0139-2977-4587-81B7-F545CAD2A411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precisa decidir se a FAP representará a ferrovia isoladamente, o corredor logístico completo, um sistema formado por vários componentes ou uma ficha agregadora.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1F3BB48-76A5-496B-BE7A-C4F242AED44B}"/>
              </a:ext>
            </a:extLst>
          </p:cNvPr>
          <p:cNvSpPr>
            <a:spLocks noGrp="1"/>
          </p:cNvSpPr>
          <p:nvPr/>
        </p:nvSpPr>
        <p:spPr>
          <a:xfrm>
            <a:off x="476250" y="31432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4FFA844-5BC1-4560-86D6-860398086B8A}"/>
              </a:ext>
            </a:extLst>
          </p:cNvPr>
          <p:cNvSpPr>
            <a:spLocks noGrp="1"/>
          </p:cNvSpPr>
          <p:nvPr/>
        </p:nvSpPr>
        <p:spPr>
          <a:xfrm>
            <a:off x="571500" y="32004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Traçado e extensão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EF7DA2F2-437A-4058-80D3-D1085A290E40}"/>
              </a:ext>
            </a:extLst>
          </p:cNvPr>
          <p:cNvSpPr>
            <a:spLocks noGrp="1"/>
          </p:cNvSpPr>
          <p:nvPr/>
        </p:nvSpPr>
        <p:spPr>
          <a:xfrm>
            <a:off x="3048000" y="32099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6B8CDBE-6877-45F4-90C6-17BE2D5DAF62}"/>
              </a:ext>
            </a:extLst>
          </p:cNvPr>
          <p:cNvSpPr>
            <a:spLocks noGrp="1"/>
          </p:cNvSpPr>
          <p:nvPr/>
        </p:nvSpPr>
        <p:spPr>
          <a:xfrm>
            <a:off x="3162300" y="31908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avaliação depende de uma versão reconciliada do traçado e de uma extensão compatível com a unidade de decisão escolhida.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78EDDE7-C8FA-427F-BCE5-400EB3422B1B}"/>
              </a:ext>
            </a:extLst>
          </p:cNvPr>
          <p:cNvSpPr>
            <a:spLocks noGrp="1"/>
          </p:cNvSpPr>
          <p:nvPr/>
        </p:nvSpPr>
        <p:spPr>
          <a:xfrm>
            <a:off x="476250" y="39433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5E13FFD-525F-454E-88D0-767400A8B431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Engenharia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91F5C3BF-EB8D-4B05-96FA-8836D44EF85F}"/>
              </a:ext>
            </a:extLst>
          </p:cNvPr>
          <p:cNvSpPr>
            <a:spLocks noGrp="1"/>
          </p:cNvSpPr>
          <p:nvPr/>
        </p:nvSpPr>
        <p:spPr>
          <a:xfrm>
            <a:off x="3048000" y="40100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C183AF1-1E94-4495-8482-293A81600CCA}"/>
              </a:ext>
            </a:extLst>
          </p:cNvPr>
          <p:cNvSpPr>
            <a:spLocks noGrp="1"/>
          </p:cNvSpPr>
          <p:nvPr/>
        </p:nvSpPr>
        <p:spPr>
          <a:xfrm>
            <a:off x="3162300" y="39909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ainda precisa registrar bitola, capacidade, terminais, frota, padrão de serviço e fases de implantação suficientes para representar e orçar o projeto.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6747C07-A4DB-4B9B-A3AA-CF7EBA58260F}"/>
              </a:ext>
            </a:extLst>
          </p:cNvPr>
          <p:cNvSpPr>
            <a:spLocks noGrp="1"/>
          </p:cNvSpPr>
          <p:nvPr/>
        </p:nvSpPr>
        <p:spPr>
          <a:xfrm>
            <a:off x="476250" y="47434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6309FA2-13CB-4306-A861-AB75B78F7342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Demanda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DB172009-EA9D-4A87-A378-A521B8B7C3D9}"/>
              </a:ext>
            </a:extLst>
          </p:cNvPr>
          <p:cNvSpPr>
            <a:spLocks noGrp="1"/>
          </p:cNvSpPr>
          <p:nvPr/>
        </p:nvSpPr>
        <p:spPr>
          <a:xfrm>
            <a:off x="3048000" y="48101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7F74C89-1A8B-4925-807F-B5ED24799494}"/>
              </a:ext>
            </a:extLst>
          </p:cNvPr>
          <p:cNvSpPr>
            <a:spLocks noGrp="1"/>
          </p:cNvSpPr>
          <p:nvPr/>
        </p:nvSpPr>
        <p:spPr>
          <a:xfrm>
            <a:off x="3162300" y="47910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deverá estimar quais produtos utilizarão a ferrovia, em que volumes, entre quais origens e destinos, com qual ritmo de maturação e em qual horizonte.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AD65C49-CB1C-4F07-B2A2-A4CB9A636386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F188595-D0B9-407F-9C8C-B9F7A23375C4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7056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Enquanto a unidade de análise e a configuração técnica permanecerem abertas, resultados de rede, custos e benefícios poderão referir-se a objetos diferentes.</a:t>
            </a:r>
          </a:p>
        </p:txBody>
      </p:sp>
    </p:spTree>
    <p:extLst>
      <p:ext uri="{BB962C8B-B14F-4D97-AF65-F5344CB8AC3E}">
        <p14:creationId xmlns:p14="http://schemas.microsoft.com/office/powerpoint/2010/main" val="13063394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1CAF296-08E4-4030-B13D-E4E9B05B5F54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EE17973-F167-4F35-BB6F-DCEB377D0E4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259DFE6-07BD-4F44-9BA4-ADAF898D0E4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B04FF6B-C0FF-4C89-B433-7F87132C8332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Lacunas para implantação e avaliação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2910DB8-A8FF-40C1-8226-616B47A1D717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36FB72-BB6B-4046-AE9F-1BB13EFF251E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2D65777-6F18-46D3-9837-F444B003F0C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53315E5-42A1-4954-8E7D-DEC89A1CD1CB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Depois que o objeto for estabilizado, a equipe ainda precisará resolver condições institucionais, territoriais e metodológicas para concluir a FAP e encaminhá-la aos produtos seguintes.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DAE3339-2193-4B7D-A027-918DC85F8AC3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95D7ECE-3BAE-42C7-B16C-BAF68D9BE432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Instituições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12D57063-0651-4A87-BD70-2C3609135AE9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B1BEC80-98DE-4C84-88ED-6905749BD9FC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deverá identificar a titularidade, as competências, o responsável pela implantação, o operador e a articulação necessária entre União, Estado, municípios e agentes privados.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F0321AD-65CB-499C-A3EC-8325D5F8CEE5}"/>
              </a:ext>
            </a:extLst>
          </p:cNvPr>
          <p:cNvSpPr>
            <a:spLocks noGrp="1"/>
          </p:cNvSpPr>
          <p:nvPr/>
        </p:nvSpPr>
        <p:spPr>
          <a:xfrm>
            <a:off x="476250" y="31432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434DFFF-741E-4A57-AC60-10BB03C656AF}"/>
              </a:ext>
            </a:extLst>
          </p:cNvPr>
          <p:cNvSpPr>
            <a:spLocks noGrp="1"/>
          </p:cNvSpPr>
          <p:nvPr/>
        </p:nvSpPr>
        <p:spPr>
          <a:xfrm>
            <a:off x="571500" y="32004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Território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F88A1165-FAEB-4EE4-B0F9-E6938C660792}"/>
              </a:ext>
            </a:extLst>
          </p:cNvPr>
          <p:cNvSpPr>
            <a:spLocks noGrp="1"/>
          </p:cNvSpPr>
          <p:nvPr/>
        </p:nvSpPr>
        <p:spPr>
          <a:xfrm>
            <a:off x="3048000" y="32099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2002ED2-E18E-45A7-8B19-CE97F4FB9192}"/>
              </a:ext>
            </a:extLst>
          </p:cNvPr>
          <p:cNvSpPr>
            <a:spLocks noGrp="1"/>
          </p:cNvSpPr>
          <p:nvPr/>
        </p:nvSpPr>
        <p:spPr>
          <a:xfrm>
            <a:off x="3162300" y="31908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projeto precisa de geometria georreferenciada suficiente para identificar municípios, áreas protegidas, comunidades afetadas e exposições climáticas e geotécnicas.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6200BBA-2A19-40E0-BB8F-ACF8641860A4}"/>
              </a:ext>
            </a:extLst>
          </p:cNvPr>
          <p:cNvSpPr>
            <a:spLocks noGrp="1"/>
          </p:cNvSpPr>
          <p:nvPr/>
        </p:nvSpPr>
        <p:spPr>
          <a:xfrm>
            <a:off x="476250" y="39433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9463CE2-680C-4EDA-8633-1DF8592E3F17}"/>
              </a:ext>
            </a:extLst>
          </p:cNvPr>
          <p:cNvSpPr>
            <a:spLocks noGrp="1"/>
          </p:cNvSpPr>
          <p:nvPr/>
        </p:nvSpPr>
        <p:spPr>
          <a:xfrm>
            <a:off x="571500" y="40005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Rede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816BF64D-B0CC-431A-9471-CC96AE1AE3D6}"/>
              </a:ext>
            </a:extLst>
          </p:cNvPr>
          <p:cNvSpPr>
            <a:spLocks noGrp="1"/>
          </p:cNvSpPr>
          <p:nvPr/>
        </p:nvSpPr>
        <p:spPr>
          <a:xfrm>
            <a:off x="3048000" y="40100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36F67F5-0181-4C3B-9591-CF44E7BD1C8F}"/>
              </a:ext>
            </a:extLst>
          </p:cNvPr>
          <p:cNvSpPr>
            <a:spLocks noGrp="1"/>
          </p:cNvSpPr>
          <p:nvPr/>
        </p:nvSpPr>
        <p:spPr>
          <a:xfrm>
            <a:off x="3162300" y="39909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D12 e D13 deverão produzir resultados para o mesmo traçado, a mesma capacidade, o mesmo horizonte e o mesmo pacote descritos na FAP.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2AC85E8-EF70-4EF8-BD6F-0B90A7034652}"/>
              </a:ext>
            </a:extLst>
          </p:cNvPr>
          <p:cNvSpPr>
            <a:spLocks noGrp="1"/>
          </p:cNvSpPr>
          <p:nvPr/>
        </p:nvSpPr>
        <p:spPr>
          <a:xfrm>
            <a:off x="476250" y="474345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57D9602-637E-4F30-893C-5FA4F68AAFD5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24003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Custos e benefícios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B9381C04-2120-45D0-9214-9036D50EB44E}"/>
              </a:ext>
            </a:extLst>
          </p:cNvPr>
          <p:cNvSpPr>
            <a:spLocks noGrp="1"/>
          </p:cNvSpPr>
          <p:nvPr/>
        </p:nvSpPr>
        <p:spPr>
          <a:xfrm>
            <a:off x="3048000" y="481012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BAC947E-2F68-494F-9865-A1622024F7AD}"/>
              </a:ext>
            </a:extLst>
          </p:cNvPr>
          <p:cNvSpPr>
            <a:spLocks noGrp="1"/>
          </p:cNvSpPr>
          <p:nvPr/>
        </p:nvSpPr>
        <p:spPr>
          <a:xfrm>
            <a:off x="3162300" y="4791075"/>
            <a:ext cx="8343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componentes enviados ao D15 e a definição de beneficiários e do cenário sem projeto enviada ao D16 deverão corresponder ao mesmo objeto.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B111CFA-8B50-4A35-B0DE-009C7E377EC4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15F9E0B-45AB-4F21-8C50-AF2A9CC752D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Cada lacuna deverá indicar a equipe responsável, a evidência esperada, o momento relativo de entrega e o produto que utilizará 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6967898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A7635DF-AADD-4B7A-A953-93D86ADDB44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78D3DD0-DA1B-4A0E-A929-271DA662405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B8328A2-0C01-4E5E-943E-BEE808D52584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8EE939F-5C25-4F06-B58D-867FC4C2A8EC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Preparação da FAP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3A6FD9F-3928-4DF6-95B5-F8238DC05D3A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E6F2EEA-4496-478E-8CD1-AF22892597D8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912856B-E04F-42A3-9750-E65A7DA2ECC4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59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C09913-F648-4911-9245-9AA09D84B372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preenchimento começa pela estabilização da identidade e da configuração que todas as equipes utilizarão. As três etapas abaixo devem ocorrer antes da produção dos resultados.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25D03C3-2EEF-498E-A472-F88DB3560618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390900" cy="2333625"/>
          </a:xfrm>
          <a:prstGeom prst="roundRect">
            <a:avLst>
              <a:gd name="adj" fmla="val 3673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6153535-92AD-4A42-8F57-C08F4A597AA1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9BF8DEE-BA8C-4561-96EF-2C3B4C96F288}"/>
              </a:ext>
            </a:extLst>
          </p:cNvPr>
          <p:cNvSpPr>
            <a:spLocks noGrp="1"/>
          </p:cNvSpPr>
          <p:nvPr/>
        </p:nvSpPr>
        <p:spPr>
          <a:xfrm>
            <a:off x="14097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Consolidar a identidade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0DEB7EB-A3CA-4342-A32B-B263A8390095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3086100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reconcilia nomes e códigos, preserva as fontes originais e registra as divergências que ainda exigem decisão.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69D937F-B389-41BF-ACEC-F9E16D35F1D9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3390900" cy="2333625"/>
          </a:xfrm>
          <a:prstGeom prst="roundRect">
            <a:avLst>
              <a:gd name="adj" fmla="val 3673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F217762-4BAE-4792-83F6-2E0CDD6F9730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DED25E6-EE60-4DCD-AD4D-7BBE4A410595}"/>
              </a:ext>
            </a:extLst>
          </p:cNvPr>
          <p:cNvSpPr>
            <a:spLocks noGrp="1"/>
          </p:cNvSpPr>
          <p:nvPr/>
        </p:nvSpPr>
        <p:spPr>
          <a:xfrm>
            <a:off x="49530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Definir o objeto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3281BC6-C5A2-4138-8370-BEB0FF0690A3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3086100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declara se a unidade de análise corresponde a um projeto isolado, a um componente, a um pacote ou ao sistema decisório completo.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452D035-93A1-4850-A398-DFEF8BF9C68A}"/>
              </a:ext>
            </a:extLst>
          </p:cNvPr>
          <p:cNvSpPr>
            <a:spLocks noGrp="1"/>
          </p:cNvSpPr>
          <p:nvPr/>
        </p:nvSpPr>
        <p:spPr>
          <a:xfrm>
            <a:off x="7943850" y="2571750"/>
            <a:ext cx="3390900" cy="2333625"/>
          </a:xfrm>
          <a:prstGeom prst="roundRect">
            <a:avLst>
              <a:gd name="adj" fmla="val 3673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EC15B4A-9FBA-4C6C-9152-68107A12B2AD}"/>
              </a:ext>
            </a:extLst>
          </p:cNvPr>
          <p:cNvSpPr>
            <a:spLocks noGrp="1"/>
          </p:cNvSpPr>
          <p:nvPr/>
        </p:nvSpPr>
        <p:spPr>
          <a:xfrm>
            <a:off x="80581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B21D5A5-2ADC-4C4D-A523-2AB181DBED12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Fixar a configuração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06CAB10-C63D-4AE5-BE9D-4873D2AFF832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086100" cy="1685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FAP registra o traçado, a capacidade, o horizonte de operação, a demanda e as relações com outros projetos que formarão a análise.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7E3651F-E0DD-4EC9-A834-398F8FFC999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1442E0D-BDCA-467A-B7E3-F1AE34495EC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estabilização não exige que todas as informações estejam completas, mas exige que cada equipe saiba qual objeto está sendo descrito.</a:t>
            </a:r>
          </a:p>
        </p:txBody>
      </p:sp>
    </p:spTree>
    <p:extLst>
      <p:ext uri="{BB962C8B-B14F-4D97-AF65-F5344CB8AC3E}">
        <p14:creationId xmlns:p14="http://schemas.microsoft.com/office/powerpoint/2010/main" val="8709920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4D64D52F-0E78-4875-8F9C-228AED00A6B1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1E4F0EC-219A-4510-9B1B-3BEB30E1FE4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A1A68B9-D5CD-43DE-AAD8-D46BA70AA378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1CD273-AD29-4427-8479-2AA11B2E8313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Produção e validação da FAP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E68B9AA-C427-4214-BF3D-0A48BAC8461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C6E358-80A2-4501-8D8E-48365A36DEF4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914EA48-4FC5-4BC9-9FEB-31B541F3692C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74F2BCA-58F7-4FE2-91DD-3B2A9310BD40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Depois que o objeto estiver definido, as equipes produzem as evidências, validam o conteúdo e encaminham um conjunto rastreável de dados aos Produtos D15, D16 e D17.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B1867CE-430F-40E1-BA3A-5154748588DC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390900" cy="2143125"/>
          </a:xfrm>
          <a:prstGeom prst="roundRect">
            <a:avLst>
              <a:gd name="adj" fmla="val 400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082A176-A1A8-41BF-8276-410FA21B146D}"/>
              </a:ext>
            </a:extLst>
          </p:cNvPr>
          <p:cNvSpPr>
            <a:spLocks noGrp="1"/>
          </p:cNvSpPr>
          <p:nvPr/>
        </p:nvSpPr>
        <p:spPr>
          <a:xfrm>
            <a:off x="971550" y="24955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BF85269-1075-4688-BD91-8BCC50EB08D9}"/>
              </a:ext>
            </a:extLst>
          </p:cNvPr>
          <p:cNvSpPr>
            <a:spLocks noGrp="1"/>
          </p:cNvSpPr>
          <p:nvPr/>
        </p:nvSpPr>
        <p:spPr>
          <a:xfrm>
            <a:off x="1409700" y="24669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Produzir evidências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9A4494-7856-428C-9FC2-F8750BB2EF0B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3086100" cy="149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equipes incorporam os resultados do D12 e do D13 e realizam, no D14, as análises territoriais, ambientais, institucionais, sociais e econômicas aplicáveis.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416E7CE-268F-4CFE-BDC8-E169AC840451}"/>
              </a:ext>
            </a:extLst>
          </p:cNvPr>
          <p:cNvSpPr>
            <a:spLocks noGrp="1"/>
          </p:cNvSpPr>
          <p:nvPr/>
        </p:nvSpPr>
        <p:spPr>
          <a:xfrm>
            <a:off x="4400550" y="2381250"/>
            <a:ext cx="3390900" cy="2143125"/>
          </a:xfrm>
          <a:prstGeom prst="roundRect">
            <a:avLst>
              <a:gd name="adj" fmla="val 400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9329DAD-F2F8-40DC-BC2A-460C57DE0811}"/>
              </a:ext>
            </a:extLst>
          </p:cNvPr>
          <p:cNvSpPr>
            <a:spLocks noGrp="1"/>
          </p:cNvSpPr>
          <p:nvPr/>
        </p:nvSpPr>
        <p:spPr>
          <a:xfrm>
            <a:off x="4514850" y="24955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6E4C04D-933A-40FD-9F15-91CEF8E2613B}"/>
              </a:ext>
            </a:extLst>
          </p:cNvPr>
          <p:cNvSpPr>
            <a:spLocks noGrp="1"/>
          </p:cNvSpPr>
          <p:nvPr/>
        </p:nvSpPr>
        <p:spPr>
          <a:xfrm>
            <a:off x="4953000" y="24669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Validar o conteúdo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BF8EAC3-3180-4FA3-AB49-A02B5AD0396E}"/>
              </a:ext>
            </a:extLst>
          </p:cNvPr>
          <p:cNvSpPr>
            <a:spLocks noGrp="1"/>
          </p:cNvSpPr>
          <p:nvPr/>
        </p:nvSpPr>
        <p:spPr>
          <a:xfrm>
            <a:off x="4552950" y="2914650"/>
            <a:ext cx="3086100" cy="149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Especialistas modais e equipes transversais revisam as evidências, registram discordâncias e atribuem responsáveis às lacunas que permanecem abertas.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39B045F-2658-4062-85B9-7F19908D21DF}"/>
              </a:ext>
            </a:extLst>
          </p:cNvPr>
          <p:cNvSpPr>
            <a:spLocks noGrp="1"/>
          </p:cNvSpPr>
          <p:nvPr/>
        </p:nvSpPr>
        <p:spPr>
          <a:xfrm>
            <a:off x="7943850" y="2381250"/>
            <a:ext cx="3390900" cy="2143125"/>
          </a:xfrm>
          <a:prstGeom prst="roundRect">
            <a:avLst>
              <a:gd name="adj" fmla="val 400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0B0F9E6-F5A0-4C04-872E-A2113541B28A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1CB7D00-F6D6-4CFC-9F64-5EC56F29729C}"/>
              </a:ext>
            </a:extLst>
          </p:cNvPr>
          <p:cNvSpPr>
            <a:spLocks noGrp="1"/>
          </p:cNvSpPr>
          <p:nvPr/>
        </p:nvSpPr>
        <p:spPr>
          <a:xfrm>
            <a:off x="8496300" y="24669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Encaminhar a base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BAA60D9-8896-46D1-996A-19540A12061E}"/>
              </a:ext>
            </a:extLst>
          </p:cNvPr>
          <p:cNvSpPr>
            <a:spLocks noGrp="1"/>
          </p:cNvSpPr>
          <p:nvPr/>
        </p:nvSpPr>
        <p:spPr>
          <a:xfrm>
            <a:off x="8096250" y="2914650"/>
            <a:ext cx="3086100" cy="149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entrega aos Produtos D15, D16 e D17 dados, hipóteses e limitações rastreáveis, sem antecipar conclusões sobre viabilidade ou prioridade.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8B18A9E-207E-40A6-AF50-38F2258C0D3F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10096500" cy="838200"/>
          </a:xfrm>
          <a:prstGeom prst="roundRect">
            <a:avLst>
              <a:gd name="adj" fmla="val 6818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No exemplo da Ferrovia Hidro-Oceânica, a FAP já pode registrar a identidade, as relações sistêmicas, as hipóteses e as lacunas. As informações atuais ainda não permitem concluir sobre efeitos que possam ser atribuídos ao projeto depois de descontar transferências, deslocamentos e sobreposições, nem sobre viabilidade socioeconômica ou posição diante das alternativas.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BD5248D2-FEF8-465C-8D6E-CED935A44DA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50EFB9E1-1597-479F-8903-02A5F565292A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preenchimento incompleto não desqualifica o projeto. Ele torna explícito o trabalho necessário para que a avaliação possa avançar.</a:t>
            </a:r>
          </a:p>
        </p:txBody>
      </p:sp>
    </p:spTree>
    <p:extLst>
      <p:ext uri="{BB962C8B-B14F-4D97-AF65-F5344CB8AC3E}">
        <p14:creationId xmlns:p14="http://schemas.microsoft.com/office/powerpoint/2010/main" val="17851532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5A4ABCD-0DEE-4B23-8CCD-964AA1B348B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8265E89-6B7E-4C8F-A768-D2FC9A671CC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46A3C4F-AD30-4861-962B-200085D6DC8E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533400" cy="5200650"/>
          </a:xfrm>
          <a:prstGeom prst="rect">
            <a:avLst/>
          </a:prstGeom>
          <a:solidFill>
            <a:srgbClr val="55B77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725E1C2-30AF-466E-AC6E-6A3CAFC12766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2000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defRPr>
            </a:pPr>
            <a:r>
              <a: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E8FF768-8F76-40C7-92D5-07A22EB0C3E5}"/>
              </a:ext>
            </a:extLst>
          </p:cNvPr>
          <p:cNvSpPr>
            <a:spLocks noGrp="1"/>
          </p:cNvSpPr>
          <p:nvPr/>
        </p:nvSpPr>
        <p:spPr>
          <a:xfrm>
            <a:off x="2809875" y="1943100"/>
            <a:ext cx="809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Programas de Estado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44802271-96DD-4DF9-B7C7-B806BAA86653}"/>
              </a:ext>
            </a:extLst>
          </p:cNvPr>
          <p:cNvSpPr>
            <a:spLocks noGrp="1"/>
          </p:cNvSpPr>
          <p:nvPr/>
        </p:nvSpPr>
        <p:spPr>
          <a:xfrm>
            <a:off x="2857500" y="2924175"/>
            <a:ext cx="7810500" cy="0"/>
          </a:xfrm>
          <a:prstGeom prst="line">
            <a:avLst/>
          </a:prstGeom>
          <a:noFill/>
          <a:ln w="28575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32CC00-9F73-4CA9-9A39-9F8FD40931DE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7715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57150" rIns="3810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Programas de Estado organizam projetos e ações que respondem, em conjunto, a problemas públicos amplos. Um projeto pode contribuir para mais de um programa porque o mesmo ativo pode produzir resultados distintos, mas preserva uma única identidade cadastral e uma única FAP.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C0E5138-871A-403F-AF28-1978044B578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ADCDBAF-1885-4BC3-9506-5746EDD365D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5170106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DF67738-8870-45AF-9AE6-EC05C15B135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30BF45D-96C6-43C8-BDA8-BCFC1B98B6EF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C4007BA-E9DF-45DF-9E16-54C7D795CB51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49406CE-62EF-42C5-91DF-4B49B52AE09A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Conceitos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AC0940F-B1EF-4038-AF0D-90D1C0157464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1BBA42-7A24-4AE2-973F-1A55DDE4822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84ED559-60F5-415F-A218-15490E983FB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F6B952B-A3F9-4992-8B85-1F4C3FB9252B}"/>
              </a:ext>
            </a:extLst>
          </p:cNvPr>
          <p:cNvSpPr>
            <a:spLocks noGrp="1"/>
          </p:cNvSpPr>
          <p:nvPr/>
        </p:nvSpPr>
        <p:spPr>
          <a:xfrm>
            <a:off x="523875" y="1676400"/>
            <a:ext cx="1905000" cy="704850"/>
          </a:xfrm>
          <a:prstGeom prst="roundRect">
            <a:avLst>
              <a:gd name="adj" fmla="val 9459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EB546FA-EC36-4DF7-9907-33E2C75B27E3}"/>
              </a:ext>
            </a:extLst>
          </p:cNvPr>
          <p:cNvSpPr>
            <a:spLocks noGrp="1"/>
          </p:cNvSpPr>
          <p:nvPr/>
        </p:nvSpPr>
        <p:spPr>
          <a:xfrm>
            <a:off x="638175" y="175260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Tema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F99DA1-FBBA-4692-9790-C177B7B1B6A5}"/>
              </a:ext>
            </a:extLst>
          </p:cNvPr>
          <p:cNvSpPr>
            <a:spLocks noGrp="1"/>
          </p:cNvSpPr>
          <p:nvPr/>
        </p:nvSpPr>
        <p:spPr>
          <a:xfrm>
            <a:off x="2686050" y="1704975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No PLI, um tema representa um problema típico identificado pelas escutas e análises. Ele descreve uma necessidade pública e pode admitir mais de uma solução.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EEBAF9A-83F1-4F8D-BC10-1536DDFC1324}"/>
              </a:ext>
            </a:extLst>
          </p:cNvPr>
          <p:cNvSpPr>
            <a:spLocks noGrp="1"/>
          </p:cNvSpPr>
          <p:nvPr/>
        </p:nvSpPr>
        <p:spPr>
          <a:xfrm>
            <a:off x="523875" y="2486025"/>
            <a:ext cx="1905000" cy="704850"/>
          </a:xfrm>
          <a:prstGeom prst="roundRect">
            <a:avLst>
              <a:gd name="adj" fmla="val 9459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57230F6-2E66-4DDA-B481-3626B127EAC5}"/>
              </a:ext>
            </a:extLst>
          </p:cNvPr>
          <p:cNvSpPr>
            <a:spLocks noGrp="1"/>
          </p:cNvSpPr>
          <p:nvPr/>
        </p:nvSpPr>
        <p:spPr>
          <a:xfrm>
            <a:off x="638175" y="2562225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61D4132-ADF6-4408-B744-21C811FD4096}"/>
              </a:ext>
            </a:extLst>
          </p:cNvPr>
          <p:cNvSpPr>
            <a:spLocks noGrp="1"/>
          </p:cNvSpPr>
          <p:nvPr/>
        </p:nvSpPr>
        <p:spPr>
          <a:xfrm>
            <a:off x="2686050" y="251460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projeto é uma ação física, operacional, financeira ou jurídico-institucional que procura resolver ou mitigar um problema registrado em um tema.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373B9EF-C06E-463C-95EB-9D8602328FE7}"/>
              </a:ext>
            </a:extLst>
          </p:cNvPr>
          <p:cNvSpPr>
            <a:spLocks noGrp="1"/>
          </p:cNvSpPr>
          <p:nvPr/>
        </p:nvSpPr>
        <p:spPr>
          <a:xfrm>
            <a:off x="523875" y="3295650"/>
            <a:ext cx="1905000" cy="704850"/>
          </a:xfrm>
          <a:prstGeom prst="roundRect">
            <a:avLst>
              <a:gd name="adj" fmla="val 9459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A488497-4A74-47EE-8681-D59E27DC9385}"/>
              </a:ext>
            </a:extLst>
          </p:cNvPr>
          <p:cNvSpPr>
            <a:spLocks noGrp="1"/>
          </p:cNvSpPr>
          <p:nvPr/>
        </p:nvSpPr>
        <p:spPr>
          <a:xfrm>
            <a:off x="638175" y="33718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475C37A-7DBE-4D1C-8107-3C8078FCC41B}"/>
              </a:ext>
            </a:extLst>
          </p:cNvPr>
          <p:cNvSpPr>
            <a:spLocks noGrp="1"/>
          </p:cNvSpPr>
          <p:nvPr/>
        </p:nvSpPr>
        <p:spPr>
          <a:xfrm>
            <a:off x="2686050" y="3324225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programa combina projetos e ações que, em conjunto, enfrentam vários temas relacionados. Ele funciona como plano de governo e não como novo nome para um tema.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A86DC3D-DBED-4C90-ADFA-3D82AD9C6438}"/>
              </a:ext>
            </a:extLst>
          </p:cNvPr>
          <p:cNvSpPr>
            <a:spLocks noGrp="1"/>
          </p:cNvSpPr>
          <p:nvPr/>
        </p:nvSpPr>
        <p:spPr>
          <a:xfrm>
            <a:off x="523875" y="4105275"/>
            <a:ext cx="1905000" cy="704850"/>
          </a:xfrm>
          <a:prstGeom prst="roundRect">
            <a:avLst>
              <a:gd name="adj" fmla="val 9459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4A9D9B-B398-4326-8166-700A82153C38}"/>
              </a:ext>
            </a:extLst>
          </p:cNvPr>
          <p:cNvSpPr>
            <a:spLocks noGrp="1"/>
          </p:cNvSpPr>
          <p:nvPr/>
        </p:nvSpPr>
        <p:spPr>
          <a:xfrm>
            <a:off x="638175" y="4181475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Critérios PLI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CF7B83-4F08-4130-8623-2100358CE76C}"/>
              </a:ext>
            </a:extLst>
          </p:cNvPr>
          <p:cNvSpPr>
            <a:spLocks noGrp="1"/>
          </p:cNvSpPr>
          <p:nvPr/>
        </p:nvSpPr>
        <p:spPr>
          <a:xfrm>
            <a:off x="2686050" y="4133850"/>
            <a:ext cx="885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Critérios PLI traduzem os objetivos do Estado em métricas quantitativas e qualitativas que o D17 utilizará para comparar soluções dentro dos programas.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44F877F-32C3-4385-B2F4-020CB56FCC3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D5FA244-0C56-4610-B9A5-22563EFB90CA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132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No Produto D17, os projetos serão comparados dentro de seus respectivos programas, e a priorização resultante orientará carteiras de curto, médio e longo prazo.</a:t>
            </a:r>
          </a:p>
        </p:txBody>
      </p:sp>
    </p:spTree>
    <p:extLst>
      <p:ext uri="{BB962C8B-B14F-4D97-AF65-F5344CB8AC3E}">
        <p14:creationId xmlns:p14="http://schemas.microsoft.com/office/powerpoint/2010/main" val="478818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A5100813-8570-4456-ADD6-1C2897CCFC5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714A930-354F-421B-945C-EE8D8C9D21A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922B2BC-078D-4C35-BB72-F104D35E510E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2F977E-C631-47F0-8481-8CBB8247E68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Vínculos programáticos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BCAABCF-37CD-403A-89E8-920C13012133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A43E379-6F13-43B0-920F-E36876AFEA3C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3FE0B9D-0A5A-4C92-8FA2-4BCCE0ABE35A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D0E984B-BBA0-466A-B9FF-B9977447B5E7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vínculos mostram qual função pública cada projeto desempenha. Eles não criam cópias da iniciativa e não autorizam a duplicação de custos ou benefícios.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36FA9DC-ACC1-449C-AC3E-598F686E1B52}"/>
              </a:ext>
            </a:extLst>
          </p:cNvPr>
          <p:cNvSpPr>
            <a:spLocks noGrp="1"/>
          </p:cNvSpPr>
          <p:nvPr/>
        </p:nvSpPr>
        <p:spPr>
          <a:xfrm>
            <a:off x="476250" y="22669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6F0B124-F19A-479E-A169-3F90603B13A9}"/>
              </a:ext>
            </a:extLst>
          </p:cNvPr>
          <p:cNvSpPr>
            <a:spLocks noGrp="1"/>
          </p:cNvSpPr>
          <p:nvPr/>
        </p:nvSpPr>
        <p:spPr>
          <a:xfrm>
            <a:off x="571500" y="23241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Programa-âncora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3C998C5F-CD9B-4039-B48A-2CAD767B5CA6}"/>
              </a:ext>
            </a:extLst>
          </p:cNvPr>
          <p:cNvSpPr>
            <a:spLocks noGrp="1"/>
          </p:cNvSpPr>
          <p:nvPr/>
        </p:nvSpPr>
        <p:spPr>
          <a:xfrm>
            <a:off x="3048000" y="233362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C9EE58C-5C0E-4219-BACF-106C84DE5699}"/>
              </a:ext>
            </a:extLst>
          </p:cNvPr>
          <p:cNvSpPr>
            <a:spLocks noGrp="1"/>
          </p:cNvSpPr>
          <p:nvPr/>
        </p:nvSpPr>
        <p:spPr>
          <a:xfrm>
            <a:off x="3162300" y="2314575"/>
            <a:ext cx="834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programa-âncora representa a função pública principal que a equipe propõe para o projeto e funciona como referência central para sua comparação no D17.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16804E7-CE28-4002-90A9-E0A7A7A7F05C}"/>
              </a:ext>
            </a:extLst>
          </p:cNvPr>
          <p:cNvSpPr>
            <a:spLocks noGrp="1"/>
          </p:cNvSpPr>
          <p:nvPr/>
        </p:nvSpPr>
        <p:spPr>
          <a:xfrm>
            <a:off x="476250" y="29527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C8319B-CA76-432A-90E3-9FCA9A962015}"/>
              </a:ext>
            </a:extLst>
          </p:cNvPr>
          <p:cNvSpPr>
            <a:spLocks noGrp="1"/>
          </p:cNvSpPr>
          <p:nvPr/>
        </p:nvSpPr>
        <p:spPr>
          <a:xfrm>
            <a:off x="571500" y="30099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Vínculo secundário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6FA58B81-DD65-4286-A9B1-D2F7A5DFACB6}"/>
              </a:ext>
            </a:extLst>
          </p:cNvPr>
          <p:cNvSpPr>
            <a:spLocks noGrp="1"/>
          </p:cNvSpPr>
          <p:nvPr/>
        </p:nvSpPr>
        <p:spPr>
          <a:xfrm>
            <a:off x="3048000" y="301942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124F73B-B6DD-4491-8E44-208A8B92728D}"/>
              </a:ext>
            </a:extLst>
          </p:cNvPr>
          <p:cNvSpPr>
            <a:spLocks noGrp="1"/>
          </p:cNvSpPr>
          <p:nvPr/>
        </p:nvSpPr>
        <p:spPr>
          <a:xfrm>
            <a:off x="3162300" y="3000375"/>
            <a:ext cx="834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vínculo secundário registra outra contribuição relevante do mesmo projeto, sem gerar nova FAP e sem duplicar seus custos ou benefícios.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1106ABF-97AC-465C-B121-2E4AABDADA81}"/>
              </a:ext>
            </a:extLst>
          </p:cNvPr>
          <p:cNvSpPr>
            <a:spLocks noGrp="1"/>
          </p:cNvSpPr>
          <p:nvPr/>
        </p:nvSpPr>
        <p:spPr>
          <a:xfrm>
            <a:off x="476250" y="36385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AE58918-321E-4885-9633-4E67C668496A}"/>
              </a:ext>
            </a:extLst>
          </p:cNvPr>
          <p:cNvSpPr>
            <a:spLocks noGrp="1"/>
          </p:cNvSpPr>
          <p:nvPr/>
        </p:nvSpPr>
        <p:spPr>
          <a:xfrm>
            <a:off x="571500" y="36957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 finalístico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2A09231E-E3D0-457A-BDE3-BE53B049F538}"/>
              </a:ext>
            </a:extLst>
          </p:cNvPr>
          <p:cNvSpPr>
            <a:spLocks noGrp="1"/>
          </p:cNvSpPr>
          <p:nvPr/>
        </p:nvSpPr>
        <p:spPr>
          <a:xfrm>
            <a:off x="3048000" y="370522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7BE3D3D-0C16-40DD-9FB6-8244FA065186}"/>
              </a:ext>
            </a:extLst>
          </p:cNvPr>
          <p:cNvSpPr>
            <a:spLocks noGrp="1"/>
          </p:cNvSpPr>
          <p:nvPr/>
        </p:nvSpPr>
        <p:spPr>
          <a:xfrm>
            <a:off x="3162300" y="3686175"/>
            <a:ext cx="834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programa finalístico reúne intervenções que produzem resultados diretamente percebidos pelos usuários, pelo sistema produtivo ou pelos territórios.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53A8FA0-7479-4017-8DF6-ECF47D6B23DD}"/>
              </a:ext>
            </a:extLst>
          </p:cNvPr>
          <p:cNvSpPr>
            <a:spLocks noGrp="1"/>
          </p:cNvSpPr>
          <p:nvPr/>
        </p:nvSpPr>
        <p:spPr>
          <a:xfrm>
            <a:off x="476250" y="43243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B15F216-B9DC-47B6-95F5-AABD48EBD5F1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 habilitador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A5E8C30F-4ADA-4449-BA9F-41FE8F8ABCDC}"/>
              </a:ext>
            </a:extLst>
          </p:cNvPr>
          <p:cNvSpPr>
            <a:spLocks noGrp="1"/>
          </p:cNvSpPr>
          <p:nvPr/>
        </p:nvSpPr>
        <p:spPr>
          <a:xfrm>
            <a:off x="3048000" y="439102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551E91E-463C-45AD-B3F2-C0A390E6F2F1}"/>
              </a:ext>
            </a:extLst>
          </p:cNvPr>
          <p:cNvSpPr>
            <a:spLocks noGrp="1"/>
          </p:cNvSpPr>
          <p:nvPr/>
        </p:nvSpPr>
        <p:spPr>
          <a:xfrm>
            <a:off x="3162300" y="4371975"/>
            <a:ext cx="834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programa habilitador reúne capacidades, salvaguardas, regras e instrumentos transversais necessários para que os projetos finalísticos possam ser implantados e operados.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0904BC4-0A9C-48C1-9558-C048387567E5}"/>
              </a:ext>
            </a:extLst>
          </p:cNvPr>
          <p:cNvSpPr>
            <a:spLocks noGrp="1"/>
          </p:cNvSpPr>
          <p:nvPr/>
        </p:nvSpPr>
        <p:spPr>
          <a:xfrm>
            <a:off x="476250" y="50101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BC8936F-DDC2-4641-9BF6-83F3FA609221}"/>
              </a:ext>
            </a:extLst>
          </p:cNvPr>
          <p:cNvSpPr>
            <a:spLocks noGrp="1"/>
          </p:cNvSpPr>
          <p:nvPr/>
        </p:nvSpPr>
        <p:spPr>
          <a:xfrm>
            <a:off x="571500" y="5067300"/>
            <a:ext cx="2400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Carteira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D845947F-5AC3-4C68-A799-0F85D89BA733}"/>
              </a:ext>
            </a:extLst>
          </p:cNvPr>
          <p:cNvSpPr>
            <a:spLocks noGrp="1"/>
          </p:cNvSpPr>
          <p:nvPr/>
        </p:nvSpPr>
        <p:spPr>
          <a:xfrm>
            <a:off x="3048000" y="507682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E2BAA01-A8C0-419E-9AC5-B4C00DE0DB64}"/>
              </a:ext>
            </a:extLst>
          </p:cNvPr>
          <p:cNvSpPr>
            <a:spLocks noGrp="1"/>
          </p:cNvSpPr>
          <p:nvPr/>
        </p:nvSpPr>
        <p:spPr>
          <a:xfrm>
            <a:off x="3162300" y="5057775"/>
            <a:ext cx="8343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corresponde ao conjunto de projetos e ações priorizados dentro de um programa, com dependências, sequência de implementação e horizontes definidos.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BF9DD57-3A24-4FAC-AA62-B167A1D70CCD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91CF92D-4D00-4B27-95B4-AE3B8DDC9D19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Cada projeto mantém um único identificador e uma única FAP, mesmo quando participa de diferentes programas.</a:t>
            </a:r>
          </a:p>
        </p:txBody>
      </p:sp>
    </p:spTree>
    <p:extLst>
      <p:ext uri="{BB962C8B-B14F-4D97-AF65-F5344CB8AC3E}">
        <p14:creationId xmlns:p14="http://schemas.microsoft.com/office/powerpoint/2010/main" val="17933727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FFDBD4E1-3A57-4278-8C13-44A4A511098D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DF4B9D-A5F4-4662-8C2C-E6B15262C2CE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B39D469-68CA-4FE0-9AF0-09955E5AD9C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DED1D6C-AD0F-4F00-AB6C-217B639F51CB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Formação dos programas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2DDAB56-3D2B-4521-9504-B3F97F0EC14D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F814C5-7FBF-4E0E-93D7-7261F1FEB67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87AAFAC-EE5A-480F-8760-50CA48FE1397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92055ED-C230-4E38-9B56-3AC062FFFF04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programas não reproduzem a lista de temas. Eles reorganizam projetos originados em problemas diferentes quando as soluções contribuem para uma mesma finalidade de política pública.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368C8CD-9EDD-4245-B919-F3ABA562F09D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390900" cy="2381250"/>
          </a:xfrm>
          <a:prstGeom prst="roundRect">
            <a:avLst>
              <a:gd name="adj" fmla="val 360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76E56F3-D5B3-4308-8F5E-AE819A3601C9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23A5B8C-EFEB-4B98-BC05-64FD58C6E7BD}"/>
              </a:ext>
            </a:extLst>
          </p:cNvPr>
          <p:cNvSpPr>
            <a:spLocks noGrp="1"/>
          </p:cNvSpPr>
          <p:nvPr/>
        </p:nvSpPr>
        <p:spPr>
          <a:xfrm>
            <a:off x="14097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Identificar os problemas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C6BD15D-6ED6-41AA-83D1-6BB7275E86E6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3086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escutas e as análises do PLI transformaram necessidades, riscos, gargalos e oportunidades em 33 temas, sem determinar previamente uma solução única.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E9BC011-E9D8-4A3F-B350-FF074A72D892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3390900" cy="2381250"/>
          </a:xfrm>
          <a:prstGeom prst="roundRect">
            <a:avLst>
              <a:gd name="adj" fmla="val 360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DC24782-1548-46E8-8FD3-BED9CD91C6F1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BA5783D-4E23-4881-B1C5-A64BFAC7FF82}"/>
              </a:ext>
            </a:extLst>
          </p:cNvPr>
          <p:cNvSpPr>
            <a:spLocks noGrp="1"/>
          </p:cNvSpPr>
          <p:nvPr/>
        </p:nvSpPr>
        <p:spPr>
          <a:xfrm>
            <a:off x="49530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Organizar as respostas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8B965E9-D4B5-4849-A36B-980DE2747CA3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3086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D11 vinculou projetos e ações aos temas. As soluções diferem quanto à função, à escala, à maturidade e à dependência de outras intervenções.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BF8C0B1-5F61-4194-854C-B2BAAB4269F3}"/>
              </a:ext>
            </a:extLst>
          </p:cNvPr>
          <p:cNvSpPr>
            <a:spLocks noGrp="1"/>
          </p:cNvSpPr>
          <p:nvPr/>
        </p:nvSpPr>
        <p:spPr>
          <a:xfrm>
            <a:off x="7943850" y="2571750"/>
            <a:ext cx="3390900" cy="2381250"/>
          </a:xfrm>
          <a:prstGeom prst="roundRect">
            <a:avLst>
              <a:gd name="adj" fmla="val 360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560C222-123E-495E-A005-2F48720166FA}"/>
              </a:ext>
            </a:extLst>
          </p:cNvPr>
          <p:cNvSpPr>
            <a:spLocks noGrp="1"/>
          </p:cNvSpPr>
          <p:nvPr/>
        </p:nvSpPr>
        <p:spPr>
          <a:xfrm>
            <a:off x="80581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8E9866C-11FD-4AB6-A079-ED514E299C00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Reconhecer os mecanismos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EBA949D-69E8-42D2-881F-9298C4C36D71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086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examina a função de cada projeto e agrupa soluções que contribuem para o mesmo problema público amplo, mesmo quando nasceram em temas distintos.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FB28766-B198-4EF8-9FFB-697F1A03D630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4522"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programa-âncora é proposto para cada projeto a partir de sua função principal e não decorre automaticamente do tema em que ele surgiu.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Intermodalidade, descarbonização, emprego, redução das desigualdades e desenvolvimento regional permanecem critérios transversais de avaliação.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79D6A75-30DE-477C-B168-4464649D2FF0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AC3E4AB-BD2B-4CA4-9A22-6ADC560D1EB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Programas são estruturas de decisão construídas a partir das funções dos projetos e podem ser revistas quando novas evidências surgirem.</a:t>
            </a:r>
          </a:p>
        </p:txBody>
      </p:sp>
    </p:spTree>
    <p:extLst>
      <p:ext uri="{BB962C8B-B14F-4D97-AF65-F5344CB8AC3E}">
        <p14:creationId xmlns:p14="http://schemas.microsoft.com/office/powerpoint/2010/main" val="10111917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D1C323B-0F2E-429B-BDC9-E89A4A3E951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D9C9EBA-CC6A-4A11-962A-1777ACED7B7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21E4D91-F46F-4551-AAC9-76D0EDCF9893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ED35B01-4E1A-494C-988C-B751EB8E858B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Estrutura programática revisável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7D4F5D7-4E10-4027-8C23-AFD9EFD784CA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43B263F-F10F-4D50-8326-5434BEA6FBF4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E95815-81AC-489D-B50A-7AB192F5A4BE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A5BCAD0-C054-429D-8896-86530B31BF74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primeira versão da arquitetura organiza a carteira em programas voltados a resultados públicos e em programas que criam condições de implantação. Essa estrutura será testada durante o preenchimento das FAPs.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2C9AEB9-89F7-467F-9891-0EB29E44BC3B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390900" cy="2381250"/>
          </a:xfrm>
          <a:prstGeom prst="roundRect">
            <a:avLst>
              <a:gd name="adj" fmla="val 360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8D13B95-F151-4E80-9DAA-68A77402B1FB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CD947EC-EA8E-4E83-A1CE-B6087DDDDAF5}"/>
              </a:ext>
            </a:extLst>
          </p:cNvPr>
          <p:cNvSpPr>
            <a:spLocks noGrp="1"/>
          </p:cNvSpPr>
          <p:nvPr/>
        </p:nvSpPr>
        <p:spPr>
          <a:xfrm>
            <a:off x="14097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Organizar os programas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17693BC-EA93-4FF4-8B3D-0B03FF2DC4A0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3086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arquitetura inicial reúne nove programas finalísticos, orientados aos resultados de política pública, e cinco programas habilitadores, voltados às condições de implantação e operação.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FCE586C-1D3A-4C14-BD9A-85699EF6320B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3390900" cy="2381250"/>
          </a:xfrm>
          <a:prstGeom prst="roundRect">
            <a:avLst>
              <a:gd name="adj" fmla="val 360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3192D81-3184-4C1D-804D-52A7291960E7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707B953-1C38-4893-A2F8-97EFA4F09AB3}"/>
              </a:ext>
            </a:extLst>
          </p:cNvPr>
          <p:cNvSpPr>
            <a:spLocks noGrp="1"/>
          </p:cNvSpPr>
          <p:nvPr/>
        </p:nvSpPr>
        <p:spPr>
          <a:xfrm>
            <a:off x="49530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99540"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Acrescentar custos e benefícios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B1C3F90-A433-47AA-A041-2CAFD9863C10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3086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D15 estimará os custos e o D16 calculará os resultados socioeconômicos com base no mesmo objeto e no mesmo cenário de referência descritos na FAP.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221B7F6-DA95-4288-9597-05C0F77F77F4}"/>
              </a:ext>
            </a:extLst>
          </p:cNvPr>
          <p:cNvSpPr>
            <a:spLocks noGrp="1"/>
          </p:cNvSpPr>
          <p:nvPr/>
        </p:nvSpPr>
        <p:spPr>
          <a:xfrm>
            <a:off x="7943850" y="2571750"/>
            <a:ext cx="3390900" cy="2381250"/>
          </a:xfrm>
          <a:prstGeom prst="roundRect">
            <a:avLst>
              <a:gd name="adj" fmla="val 360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8DDDFF7-DB3B-438C-81C7-87D594066547}"/>
              </a:ext>
            </a:extLst>
          </p:cNvPr>
          <p:cNvSpPr>
            <a:spLocks noGrp="1"/>
          </p:cNvSpPr>
          <p:nvPr/>
        </p:nvSpPr>
        <p:spPr>
          <a:xfrm>
            <a:off x="80581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D13BEAC-83E1-4704-A4D5-E2872C2DA7B6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Formar as carteiras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04BE805-55D0-4CBE-8333-014574BDA060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086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D17 comparará soluções que cumprem funções semelhantes ou complementares e organizará uma sequência de implementação para cada programa.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E3C7FC9-20DF-4F9C-B12C-DB4557D5CED3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590550"/>
          </a:xfrm>
          <a:prstGeom prst="roundRect">
            <a:avLst>
              <a:gd name="adj" fmla="val 9677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Se as FAPs revelarem redundâncias, lacunas ou novas relações, a equipe poderá fundir, subdividir ou redefinir programas sem alterar o identificador e a história cadastral dos projetos.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7758FF6-C494-4762-86F6-C9E76EAAC30E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E19B25B-117C-447A-868C-DE7EF0BA45A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arquitetura programática é uma hipótese de organização da carteira que será validada projeto a projeto.</a:t>
            </a:r>
          </a:p>
        </p:txBody>
      </p:sp>
    </p:spTree>
    <p:extLst>
      <p:ext uri="{BB962C8B-B14F-4D97-AF65-F5344CB8AC3E}">
        <p14:creationId xmlns:p14="http://schemas.microsoft.com/office/powerpoint/2010/main" val="16838603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C7F065D4-C45F-4364-A746-B48B3A77B4F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C7E6EDB-4D14-427E-A01D-0AB14E9E0D25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B71FDE0-66C3-464D-B539-215836CD9E4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1B1499-6A14-43C6-8377-45B32A2A100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Arquitetura inicial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DCE2B390-C73F-436A-BF60-F410EEC9C91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7BC3CA-93DE-4F82-B8D8-3E5694EAFAB9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93496B2-FAFF-431E-A80E-009BDC921B6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56F26D6-F1D1-409C-8ED4-ED5EB3DE4780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095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83097"/>
          </a:bodyPr>
          <a:lstStyle/>
          <a:p>
            <a:pPr algn="l">
              <a:lnSpc>
                <a:spcPct val="105000"/>
              </a:lnSpc>
              <a:buNone/>
              <a:defRPr sz="1313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13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nove programas finalísticos representam os resultados públicos que a carteira procura produzir. Os cinco habilitadores organizam condições que atravessam vários projetos.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D25B4C0-D83D-440A-AC8A-E335D6BAC80D}"/>
              </a:ext>
            </a:extLst>
          </p:cNvPr>
          <p:cNvSpPr>
            <a:spLocks noGrp="1"/>
          </p:cNvSpPr>
          <p:nvPr/>
        </p:nvSpPr>
        <p:spPr>
          <a:xfrm>
            <a:off x="476250" y="2047875"/>
            <a:ext cx="5381625" cy="3714750"/>
          </a:xfrm>
          <a:prstGeom prst="roundRect">
            <a:avLst>
              <a:gd name="adj" fmla="val 2051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0A956F9-ABFC-4D46-8ED7-CBEA00ABC15A}"/>
              </a:ext>
            </a:extLst>
          </p:cNvPr>
          <p:cNvSpPr>
            <a:spLocks noGrp="1"/>
          </p:cNvSpPr>
          <p:nvPr/>
        </p:nvSpPr>
        <p:spPr>
          <a:xfrm>
            <a:off x="6238875" y="2047875"/>
            <a:ext cx="5381625" cy="3714750"/>
          </a:xfrm>
          <a:prstGeom prst="roundRect">
            <a:avLst>
              <a:gd name="adj" fmla="val 2051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997A76E-1144-4007-B3A2-B0B0FDED2982}"/>
              </a:ext>
            </a:extLst>
          </p:cNvPr>
          <p:cNvSpPr>
            <a:spLocks noGrp="1"/>
          </p:cNvSpPr>
          <p:nvPr/>
        </p:nvSpPr>
        <p:spPr>
          <a:xfrm>
            <a:off x="590550" y="2124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9 programas finalísticos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F5F6C60-1792-4FBD-8C54-0235CE953C35}"/>
              </a:ext>
            </a:extLst>
          </p:cNvPr>
          <p:cNvSpPr>
            <a:spLocks noGrp="1"/>
          </p:cNvSpPr>
          <p:nvPr/>
        </p:nvSpPr>
        <p:spPr>
          <a:xfrm>
            <a:off x="6353175" y="2124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5 programas habilitadores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E9A3212-E2C3-4161-B731-D3280C2F38C6}"/>
              </a:ext>
            </a:extLst>
          </p:cNvPr>
          <p:cNvSpPr>
            <a:spLocks noGrp="1"/>
          </p:cNvSpPr>
          <p:nvPr/>
        </p:nvSpPr>
        <p:spPr>
          <a:xfrm>
            <a:off x="590550" y="2543175"/>
            <a:ext cx="5153025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P01 · Eficiência do comércio exterior e sistema portuário paulista.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P02 · Desafogamento e redundância dos acessos à Macrometrópole Paulista.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P03 · Eficiência logística do interior e corredores produtivos.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P04 · Conectividade interregional de passageiros e acesso a serviços.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P05 · Mobilidade de alta capacidade e estruturação de eixos sobre trilhos.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P06 · Acessibilidade rural e capilaridade territorial.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P07 · Segurança viária e proteção à vida.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P08 · Gestão segura e previsível de cargas críticas, perigosas e especiais.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P09 · Infraestrutura e logística energética.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7E281E9-C1C4-497B-92BE-CB0C4E103EB7}"/>
              </a:ext>
            </a:extLst>
          </p:cNvPr>
          <p:cNvSpPr>
            <a:spLocks noGrp="1"/>
          </p:cNvSpPr>
          <p:nvPr/>
        </p:nvSpPr>
        <p:spPr>
          <a:xfrm>
            <a:off x="6353175" y="2543175"/>
            <a:ext cx="5153025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H01 · Resiliência climática e continuidade operacional.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H02 · Inteligência logística, dados e operação digital.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H03 · Ordenamento territorial, ambiental e inserção urbana.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H04 · Governança, regulação e capacidade de entrega.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H05 · Financiamento, incentivos e contratação inovadora.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0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0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habilitadores não competem com os programas finalísticos. Eles criam condições para que seus projetos funcionem e sejam implementáveis.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EC4515A-6443-43FF-9C20-EC373CDEECE6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68BB87A-BADC-4A18-8C66-6A7B459911E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arquitetura será testada projeto a projeto e poderá ser refinada durante a consolidação das FAPs.</a:t>
            </a:r>
          </a:p>
        </p:txBody>
      </p:sp>
    </p:spTree>
    <p:extLst>
      <p:ext uri="{BB962C8B-B14F-4D97-AF65-F5344CB8AC3E}">
        <p14:creationId xmlns:p14="http://schemas.microsoft.com/office/powerpoint/2010/main" val="7527551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94C1DB8-239E-4130-8E5E-0E8BF0BE1652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F150546-AC92-4F25-9626-F2FFCA78318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CD5CA02-E445-4D35-9ECE-00475B47672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020DDCE-6844-4209-9681-F29C804447EA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Verificação da cobertura dos temas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D0DAD2A-75A4-46A0-8D02-A63D91326E11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60C9D7-691A-4C3E-86D9-86FDBA401158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C869325-9696-4536-874D-1FAD04A25A87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8821FEA-CF7B-4A7B-852C-6687A0BE0587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arquitetura programática somente será considerada consistente quando todos os temas e todos os projetos mantidos pelo D11 puderem ser rastreados até pelo menos um programa ou até uma justificativa explícita de tratamento.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81E7605-BF67-4D58-AA76-789D344EA001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1F1F80D-5EDE-42E2-8FD4-D0F70B05A468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Matriz tema–projeto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2E613D5A-6AE8-4E93-825F-32C2D8D5CC04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5525420-1EC1-4E6A-A639-D205299DED17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base em Excel registrará, para cada um dos 33 temas, quais projetos ou ações procuram responder ao problema originalmente identificado.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D65C514-4D09-483D-9AB2-8CA092FE9AE1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84B3395-A8F6-40D6-87FA-541516A36294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Matriz projeto–programa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6A546E91-8DB3-4063-ACDC-4197759C1447}"/>
              </a:ext>
            </a:extLst>
          </p:cNvPr>
          <p:cNvSpPr>
            <a:spLocks noGrp="1"/>
          </p:cNvSpPr>
          <p:nvPr/>
        </p:nvSpPr>
        <p:spPr>
          <a:xfrm>
            <a:off x="304800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3C04D7D-8EB3-4D8D-AED2-F63DF4410B12}"/>
              </a:ext>
            </a:extLst>
          </p:cNvPr>
          <p:cNvSpPr>
            <a:spLocks noGrp="1"/>
          </p:cNvSpPr>
          <p:nvPr/>
        </p:nvSpPr>
        <p:spPr>
          <a:xfrm>
            <a:off x="3162300" y="304800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Para cada projeto, a base indicará um programa-âncora e, quando houver contribuição demonstrável, os vínculos secundários com outros programas.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61E48EC-45CC-46A7-8884-834C95C34B8B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ACD16B-54BB-4A61-B4EE-47782A76D294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Sobreposições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2AB4C928-8B6A-4835-BB4E-AE02841A468D}"/>
              </a:ext>
            </a:extLst>
          </p:cNvPr>
          <p:cNvSpPr>
            <a:spLocks noGrp="1"/>
          </p:cNvSpPr>
          <p:nvPr/>
        </p:nvSpPr>
        <p:spPr>
          <a:xfrm>
            <a:off x="304800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7B41EBC-F568-45AC-AA30-E7996E6DF8E9}"/>
              </a:ext>
            </a:extLst>
          </p:cNvPr>
          <p:cNvSpPr>
            <a:spLocks noGrp="1"/>
          </p:cNvSpPr>
          <p:nvPr/>
        </p:nvSpPr>
        <p:spPr>
          <a:xfrm>
            <a:off x="3162300" y="370522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presença do mesmo projeto em mais de um programa permanecerá visível, mas não criará uma nova FAP nem permitirá duplicar custos ou benefícios.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A32FBC5-AC78-4411-87D5-88744A6FF372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B6DC7E4-A0CF-4C40-92F0-082BB0050EC6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Lacunas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3E421A0C-2C44-49A8-AC0E-CD607C7BBD42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AED83E5-E1E8-4823-A71E-85182B30432C}"/>
              </a:ext>
            </a:extLst>
          </p:cNvPr>
          <p:cNvSpPr>
            <a:spLocks noGrp="1"/>
          </p:cNvSpPr>
          <p:nvPr/>
        </p:nvSpPr>
        <p:spPr>
          <a:xfrm>
            <a:off x="3162300" y="436245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Se um tema permanecer sem resposta programática, a equipe registrará a lacuna e verificará se o problema exige novo projeto, nova ação ou revisão da arquitetura.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5EB4ABF-2FBB-421E-9A1A-0308B2B89820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A39BA76-BB27-45BD-80BB-D8EDB9AA07AE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Controle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F21550D3-C33D-4641-A4F7-526D94D40F85}"/>
              </a:ext>
            </a:extLst>
          </p:cNvPr>
          <p:cNvSpPr>
            <a:spLocks noGrp="1"/>
          </p:cNvSpPr>
          <p:nvPr/>
        </p:nvSpPr>
        <p:spPr>
          <a:xfrm>
            <a:off x="304800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6B4D766-1208-4E50-87AB-E4FAE7AA19D2}"/>
              </a:ext>
            </a:extLst>
          </p:cNvPr>
          <p:cNvSpPr>
            <a:spLocks noGrp="1"/>
          </p:cNvSpPr>
          <p:nvPr/>
        </p:nvSpPr>
        <p:spPr>
          <a:xfrm>
            <a:off x="3162300" y="50196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matriz completa acompanhará a base do D14 e permitirá revisar a cobertura sempre que um projeto for incluído, excluído, combinado ou redesenhado.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47AF086-BFAF-4CB2-BDD1-5F03AD887A15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1767AE6-A153-40FD-9F14-F2EF2DC158C8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slides seguintes apresentam os programas e exemplos representativos; a matriz em Excel manterá a verificação exaustiva de cobertura.</a:t>
            </a:r>
          </a:p>
        </p:txBody>
      </p:sp>
    </p:spTree>
    <p:extLst>
      <p:ext uri="{BB962C8B-B14F-4D97-AF65-F5344CB8AC3E}">
        <p14:creationId xmlns:p14="http://schemas.microsoft.com/office/powerpoint/2010/main" val="712252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49D75C9-3268-4213-883B-3F33C06A023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00BFA36-062A-42D6-96AD-7F6715C382E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A546E61-A47C-406A-AA78-A8B83060494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CAEB05-489D-4609-83D5-03D201280A70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P01 · Eficiência do comércio exterior e sistema portuário paulista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6E75F8B0-DDB3-48E2-A760-3828FA143688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62F6CA-3756-4FF6-B0AF-097BFC37F3E8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090AF56-D954-4D2A-B283-A48050682673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68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B02A202-0444-4A49-A8FF-8D342D2EC2B6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3575F00-F147-4F01-8650-0C7DCEDC9EFB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F6AE58B-7C58-49AF-BC73-2B6D0BCCF551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1256B7B-3A0D-47E8-8454-019C12450AFB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P01 organiza as respostas destinadas a reduzir limitações de capacidade, acesso e confiabilidade que condicionam as exportações, as importações e o funcionamento do sistema portuário paulista.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04DB1CC-7D82-4D78-8DDA-017F3A93D47D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6313B8A-7A68-4803-8736-E11D95EBF265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E79F81D-5AFA-4D93-9015-CA0E0E4FD73F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8085821-A3D2-4DFB-9078-47A7CFB79E54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6C293A8-710E-4345-882A-2B1250FC2CC9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combina intervenções nos portos com acessos rodoviários e ferroviários, canais de navegação, áreas de apoio e alternativas de expansão ou descentralização portuária. As soluções precisam ser avaliadas como sistemas, porque a capacidade do porto depende da capacidade de suas conexões.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67D07FA-D699-42E4-9FFF-49C40A651FD5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3ª Pista da Imigrantes e os acessos à Margem Direita do Porto de Santos tratam gargalos rodoviários de chegada ao principal complexo portuário.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Ferrovia Linha Verde e a ligação Guararema–São Sebastião representam alternativas para diversificar o acesso ferroviário aos portos.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arrendamento da área SSB01 no Porto de São Sebastião, o Novo Porto no Litoral Sul e a concessão do Canal de Santos ampliam ou reorganizam capacidades portuárias e aquaviárias.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1DF5B53-453D-4403-BC94-AA965CF2951E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45141A8-8A6D-4631-B058-9EECE020FC10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projeto do P01 também pode integrar o P02 quando melhora os acessos à Macrometrópole ou o P03 quando conecta regiões produtoras do interior aos portos.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93B0BC4-3508-4BEE-922D-F735207CCA6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D165969-47D0-4BED-85CB-F9EAE07A5A9D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4437693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CEA5CEF-4E7A-4EAB-BDFA-2064A88CCD2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31D18D4-1681-493C-B2B1-871ABDB4334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B40EB47-DDDE-4EE3-8396-638A1EED5FBB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3E75A1C-D34D-404F-B892-D10BB0EB37C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fontScale="97701"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P02 · Desafogamento e redundância dos acessos à Macrometrópole Paulista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7B0E228-8109-42A7-88C1-4734ECFB1795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86F7716-A363-46FD-A5A2-423F390BEE5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88036D-9B70-4E01-932A-18426097EBF4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69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31F2F1D-FCF2-426F-91E8-BDE4DFF6E5A3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B92FCA2-E0E5-40FA-8AFC-5622A6C3654D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984A4B4-0D14-450D-8F10-F2E2DD15E873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F699FC-EB7C-4235-B1F0-8691E97210D1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85478"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Macrometrópole Paulista corresponde ao sistema urbano e econômico ampliado formado pela Região Metropolitana de São Paulo e pelos principais espaços metropolitanos articulados a ela. O P02 enfrenta a concentração de fluxos e a insuficiência de rotas alternativas em suas entradas, saídas e travessias.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9B9D292-F350-4346-991A-7B3A622A9A92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24072A9-EC5B-4BD4-BD3B-65427EBEB3FE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29A6F90-B6F7-4E42-AFF6-3751B310B136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D52738E-9973-4E79-A9D0-4103124FE5F8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623476A-8B60-4B4A-9604-F2FEB86DFCA6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reúne novas ligações rodoviárias, variantes do Rodoanel, extensões de corredores, marginais, dispositivos e soluções ferroviárias de contorno. Cada alternativa deve ser relacionada ao gargalo que pretende aliviar e comparada com soluções que exercem a mesma função.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E12E31C-1436-4BF1-BDF8-4C99941105D0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novo traçado Rodoanel–BR-116 e as ligações Embu das Artes–Cotia e SP-270–Marginal Pinheiros criam ou reorganizam rotas de acesso à região metropolitana.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extensão da SP-354 até Itapevi e a alternativa para o Rodoanel Oeste oferecem possibilidades adicionais de distribuição dos fluxos rodoviários.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Ferroanel Norte da Região Metropolitana de São Paulo representa uma solução ferroviária destinada a separar parte dos fluxos de passagem da rede urbana.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46B56D6-8129-41C7-9B9C-B2D99B20C78F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6DCF033-BD6E-4526-AFEB-CA17E983553D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Uma intervenção também pode participar do P01 quando atende fluxos portuários e do P07 quando demonstra um mecanismo específico de redução de acidentes.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C2C673E9-EC1B-4C01-849A-322DEB23B3FD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3A34826-124E-41AC-A0D8-7A592869D294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5513223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D339E78-2989-45AD-B7B0-1F2FD2853F9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73B217F-E651-40A0-B51B-64A9A23433E4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4DE183A-4889-44A0-A31D-29CC86BB1BBC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FD35EC-0751-42D7-BC4E-F1B7A1534C5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P03 · Eficiência logística do interior e corredores produtivos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43CB6DC0-5CF3-4DDF-9F7F-650E3D8F4DF9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E59E66-6384-4B18-99FA-347684BCCD04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F380D54-22CF-403D-A977-2C46026B306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70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7DD0EB1-3B4F-4F64-BE11-34CD346FFC20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42F19A-461A-4AA8-85EA-D036688F222D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12366A6-064C-47D7-B458-02B6B334A835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7268E18-A2E2-4169-A498-82AAA3695CD1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P03 organiza soluções para reduzir ineficiências nos corredores produtivos do interior e melhorar a articulação entre rodovias, ferrovias, hidrovia e terminais.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AF1C0F0-316A-4DCB-8E71-FF7EF5501C99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DDCA80F-1531-4551-9583-51FBDFA8A303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5DF1608-5100-4EBD-A6ED-08A33AC3B712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9F1EABD-0126-477D-80F1-3D59464CE25A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6C21EAE-7E45-4737-AE0B-BFEF4C940FEB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pode reunir corredores rodoviários e ferroviários, intervenções na Hidrovia Tietê–Paraná, terminais intermodais, ferrovias regionais de curta distância e sistemas de controle. Quando houver dependência funcional, a análise deverá considerar o pacote completo e a contribuição de cada componente.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90E6C1F-EA28-4030-9A9C-9D549DAA3943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Ferrovia Hidro-Oceânica e a ligação Araçatuba–Bauru representam alternativas ferroviárias associadas a corredores de longa distância e à hidrovia.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intervenções na Hidrovia Tietê–Paraná e o Terminal de Pederneiras tratam a navegação, o transbordo e a integração com outros modos de transporte.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recuperação da Malha Oeste e a ligação Castello Branco–Marília reforçam eixos produtivos existentes no interior do Estado.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B5739E0-0C1B-4025-A9B8-53F4C3669F79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B2CE891-287C-44FB-8D82-945209AEE367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Projetos do P03 podem integrar o P01 quando conectam o interior aos portos e o P08 quando transportam cargas que exigem regras ou condições especiais.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14868B1-3B2B-4F42-B42F-EDDDE999795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85DE4F7-C073-4BC0-A9D4-6010F3F893B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9329930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A0E28F2-AE6F-4317-A9D0-D6EA97F8F4D2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FA10D4-C8BE-4CDD-AF6F-7A33D48E3B42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BB162F0-D5B0-4EC5-BE4A-FADF9474334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54512AA-BFDB-4099-8B76-351A084D8164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P04 · Conectividade interregional de passageiros e acesso a serviços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C2CE009-838B-400A-8D98-FD75176A7818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23EE6E-E54E-4653-BDB9-41E84F5DF89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D371B6-9241-4257-9BA9-61B60D39435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71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43C7B65-7764-483A-B250-4ED370A63978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F18E7B-F2B8-4BF7-A7F8-916CD12FC9B6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74171FC-9BEC-43EC-84B1-DC59A032054D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CB92DC0-4FA8-426F-AD09-7F2518D430C9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P04 reúne soluções destinadas a ampliar a conectividade de passageiros entre regiões, centros urbanos e polos de serviços do Estado.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4626767-56F3-49FA-9F3F-34C814F86575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1965719-2125-4A7A-95B4-5895F2BD0B75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86D250D-11A4-42C5-8936-8F4EC244CB54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2C76CDC-4851-4C0E-9936-D31F01C8CA4A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23AE192-1205-41B2-8A9E-EF05504BE0F2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pode combinar trens intercidades, ramais ferroviários regionais, travessias, serviços aeroviários e outras soluções de transporte interregional. A tecnologia deve decorrer da função da ligação e da demanda atendida, e não apenas do modo previamente associado ao projeto.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6E71B89-37F2-4EBD-9ED5-BCBE06671D7E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6457"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quatro eixos do Trem Intercidades conectam regiões e centros urbanos por serviços ferroviários de passageiros.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ligação Campinas–São José dos Campos propõe uma conexão ferroviária regional que ainda precisa ser delimitada e avaliada.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concessão das Travessias, o Programa de Exploração Aeroviária e o Aeroporto de Olímpia representam soluções aquaviárias e aeroviárias para conexões regionais específicas. Embora integrem o mesmo programa, atendem mercados distintos e não devem ser tratados como alternativas diretamente concorrentes.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ED56EA0-844F-4B1A-9F43-B5621A9F6182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47F7E66-4666-4C67-B0EF-65C6EBFD98CA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eixos ferroviários também podem integrar o P05 quando estruturam deslocamentos metropolitanos ou corredores de alta capacidade.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D7BECE6-DC35-4F49-A2EF-F11AC1164FC3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ABE54C0-906C-44AD-9A3D-7C0C0190A302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8220122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81C6575-B64C-412F-86BC-73FE56F29E5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7E8622-1B8E-446A-9629-74445FF0E577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2F2AFFC-6075-475E-B96C-30330A70C6E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DFB789A-427B-431E-B774-A112C3FC85C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P05 · Mobilidade de alta capacidade e estruturação de eixos sobre trilhos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FA348D2-2355-47ED-B919-9FCFCE79DABA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AD5D664-386C-4578-92D0-032FFABDD0BB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FE950F8-E1A9-46CA-B1AD-618B1ABD8BF7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72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9AED848-0F78-4A74-8CC5-15BA479FA19A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03AC862-5D5E-45AB-A497-22A0E04EB315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BED12C5-9211-44C0-A107-0DAD44D1A15E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696DA6B-F312-4527-9CB2-EDBD9754965D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P05 organiza intervenções voltadas à mobilidade de alta capacidade e à estruturação de eixos urbanos e metropolitanos sobre trilhos.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77D833F-0D4E-45A2-8240-6A0A3C4DDDDF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F76DE17-D09D-4D41-A981-6F993F6A48CD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44436F6-6A04-4587-BF28-8E1751727F5C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E014591-7A4D-4E2D-8000-A4456BA3DE45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05281EF-1829-448B-94E0-98745329C340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reúne veículos leves sobre trilhos, expansões do Metrô e da Companhia Paulista de Trens Metropolitanos, projetos do Plano Integrado de Transportes Urbanos e componentes do Trem Intercidades que também exerçam função metropolitana. Cada intervenção conserva uma única FAP.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5E5DB92-CD17-4365-B13B-A4D362E017DC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projetos de veículos leves sobre trilhos da Baixada Santista, de Campinas e de Sorocaba estruturam ligações urbanas ou regionais de maior capacidade.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eixos do Trem Intercidades podem participar deste programa quando organizam também deslocamentos metropolitanos.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expansões previstas no Plano Integrado de Transportes Urbanos reúnem novas ligações e ampliações de redes sobre trilhos.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7DEDB44-0215-4DBE-BF3A-5D3485989522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9524162-DC92-416E-9063-8F6610E21CF5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0887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sobreposição com o P04 é legítima quando o mesmo eixo atende à conectividade entre regiões e à mobilidade metropolitana, desde que cada função seja descrita separadamente.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A66B9F2-0B15-4EC4-84BA-54B0814CA84D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3E36F52-BE47-4EC6-838F-F269BD89828F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5015640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1033AB3-777C-404B-83E5-A9558FCE86D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F826234-851A-4467-9013-1E2C9083651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82E258D-2840-4556-881C-96E69B07157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EF125B-F0CE-4C42-8A28-D93A51C42384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P06 · Acessibilidade rural e capilaridade territorial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5A15A6F0-A3AE-4E22-B892-8C4063CEF55B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D57A0F9-52A4-404D-B138-1D943ED2E58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687791-0F91-4081-B3AE-B63EC9B12EC3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73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BC7DF25-07CF-49C4-9448-BB28111673AA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5449785-4561-4DE9-A928-BFEA0610338A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AFE4E82-0981-4A6F-A91D-5157F4D0D536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CBF2E93-F256-4115-A1FF-7C4EEBA557D0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P06 enfrenta a dificuldade de acesso de áreas rurais, comunidades isoladas e territórios de menor densidade à rede principal de transportes e aos serviços que dela dependem.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FAE74BB-D4F2-4035-A5F6-D6BEBA78DFFC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D19A2C7-9BEE-4955-B82E-F0AA31A13A41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EA70103-28C4-4E18-844C-A18F1C4A7981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72FC4A0-BBF5-48C4-B234-F3DD5E3DC5FA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BCD9ABC-FBB9-4F89-A795-0B7AA7921AED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reúne a transferência da gestão de trechos municipais para o Estado, denominada estadualização, além de pontes, estradas rurais, ligações entre municípios e requalificações de corredores em áreas de baixa densidade. A avaliação deve registrar o território beneficiado e a função de acesso desempenhada por cada intervenção.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ACC7E6F-F211-4070-979F-7D3C8ECDC741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de Estadualização de Rodovias Municipais e o Programa de Logística Rural organizam conjuntos de intervenções voltados à capilaridade da rede.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ligações Eldorado–Capão Bonito, Iguape–Jacupiranga e Sete Barras–Iporanga procuram melhorar conexões territoriais no sul do Estado.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intervenção na SP-165 busca atender comunidades quilombolas lindeiras e exige análise específica de acesso, território e segurança.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CA17A1C-CBEB-4961-AAD6-C7ACDC9705F6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4380427-AE2D-465F-A17B-1D9406216702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7008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projeto também pode receber vínculo com o P07, Segurança viária e proteção à vida, quando houver evidência de redução de acidentes, e com H01, Resiliência climática, ou H03, Ordenamento territorial, quando depender dessas condições.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77156C9-D792-4F5D-BBDF-8BA05C59C55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2154B2F-987D-4BC9-B6F9-940AC28F1BBD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8596225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4BED05E4-A57D-4962-87CF-339A181C04E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BB1A82D-054B-4081-8ACF-FC818AE588C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339B99E-D17E-46B0-9A9F-1A2105AE311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EFEAB1-B405-40A0-96D7-F69AA38F13E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P07 · Segurança viária e proteção à vida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9E46F123-F003-4CEA-A7CC-02ECEF70AB9E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DEDC0D1-CBB9-4762-94C2-95E0F990457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C908FD2-9F0B-4728-9239-A4E37829551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74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32410E9-6AF6-484F-A678-54C190F82380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A0082C3-034A-4F47-8F07-DA394A32F77F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DA44DB9-58B2-40F1-8C1C-B2C16C923B6E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F3D8D80-99D6-4B07-A220-5916296EB552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P07 organiza ações cujo resultado principal é reduzir a frequência ou a gravidade dos acidentes e, consequentemente, proteger a vida nas rodovias.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5988991F-2D03-46B6-A094-78C7898F910F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82B9242-485C-491B-B997-413333D96291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3A936A2-41AA-40F3-B4D8-F020C6746298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15C5CDF-7F07-4118-8DEA-0465F793A399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49161C9-5F4C-4161-BB9E-C0E416394805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pode combinar dispositivos de segurança, correções localizadas, contornos, requalificações e componentes do Programa de Modernização Rodoviária. Para cada projeto, a FAP deve explicar como a intervenção modifica a exposição ao risco ou reduz conflitos de tráfego.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545F2EC-1394-433C-959C-D3B5020CAB64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dispositivos em rodovias do Departamento de Estradas de Rodagem de São Paulo representam intervenções diretamente voltadas à segurança operacional.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Contorno de Mogi das Cruzes e as vias marginais em Campinas podem reduzir conflitos quando separam fluxos com funções diferentes.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duplicação da Marechal Rondon e outras obras de capacidade somente integrarão o programa se a FAP demonstrar um mecanismo específico de redução de acidentes.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78A17969-3260-4074-83F0-5C3CD41804DB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1DBCEFB-17BE-4CB1-9DC6-814B57960435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7008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Projetos do P02 ou do P06 podem participar do P07 quando sua concepção produz um efeito de segurança demonstrável, sem que todo aumento de capacidade seja automaticamente classificado como segurança.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DD7793B-9593-4A93-A826-0B992ECE9402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E9276F9-C1E6-4AC0-A9F0-74ABDA3A3BF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4402914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7A86873-6504-4C23-9B72-A0DB5C129270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A38C398-3456-4181-A3B9-B9A76DF1B295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C17312-9752-4622-87BB-C97D05306B8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BEBF91A-27CD-40CF-829A-4B6A2238B0CF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P08 · Gestão segura e previsível de cargas críticas, perigosas e especiais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D888CE2-F986-4678-A703-E0F76BE8C95C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886F437-4BFB-4A05-8CE1-F27515ABCC2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509E46A-0D68-4810-BCB4-2D471191750C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75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36E547D-ADC7-402F-9CA3-14DBDE0E6C82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2C1B6BA-E911-42F0-86A7-066A2FF82DC5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1055C9-69A4-40BE-A4B9-1D5CC0425C3D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827B5D0-244B-4F13-BE4D-8BE62815CA24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P08 trata do transporte de cargas cujas dimensões, características ou riscos exigem rotas, regras e condições operacionais específicas.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BC5E2B6-8F21-4509-BE14-E677C30B40F3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0E3EDA3-F902-4037-9BEC-C645FCB77B8C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5C7D296-F4EE-4230-90FD-9D40EB43646B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C394328-E1F4-40B0-BB1E-199E4A2347AE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66A514C-42DA-4E45-91E4-2177F31620AF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reúne rotas para cargas especiais, sistemas inteligentes e centros de controle, harmonização de normas, autorização de acessos e futuras adequações de pontes, viadutos, túneis e corredores. Parte da carteira física ainda precisa ser detalhada.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8EF3BFA-DE42-4B36-A797-F7BFEB9E0C04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de Rotas para Cargas Especiais organiza os corredores utilizados por cargas indivisíveis ou de dimensões fora do padrão.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sistema inteligente de transportes e o centro de controle concentrador permitem monitorar e coordenar operações especiais.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harmonização das normas do Departamento de Estradas de Rodagem do Estado de São Paulo e da Agência de Transporte do Estado de São Paulo, além da regulamentação dos acessos rodoviários, procura reduzir incompatibilidades institucionais.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BA8A162-4B7C-4927-B0F1-8D93B1F20360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309611E-5CFC-4005-931C-F3838CC84596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7008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projetos podem integrar o P09 quando se referem a combustíveis e energia, o P01 quando utilizam o sistema portuário, o H02 quando dependem de inteligência logística e operação digital e o H04 quando exigem governança ou regulação específica.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8E394E0-8BDA-4A06-AD35-71B462E7B74E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2CC944D-8E33-4C35-8CE2-B7123E7F353D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5833547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1CA58ECF-A308-4665-BB07-A1B6BE321675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D36376F-EE58-45AB-936F-631304ACE39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866EAB-74F1-4477-AF54-DA07BD1FB7F2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1880F2B-8537-4C40-903F-9E74BF3B5998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P09 · Infraestrutura e logística energética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AFAA363-4A46-4625-9860-CBE4D43DD555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5ADDEC3-B572-48C9-9FE2-7A6C9C473811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0C9F72F-CEEF-4D05-943E-A8F42C5B6B65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76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2DB3C18-8FC3-4C59-BB7C-AE0F4F9FBC84}"/>
              </a:ext>
            </a:extLst>
          </p:cNvPr>
          <p:cNvSpPr>
            <a:spLocks noGrp="1"/>
          </p:cNvSpPr>
          <p:nvPr/>
        </p:nvSpPr>
        <p:spPr>
          <a:xfrm>
            <a:off x="476250" y="1666875"/>
            <a:ext cx="11144250" cy="1009650"/>
          </a:xfrm>
          <a:prstGeom prst="roundRect">
            <a:avLst>
              <a:gd name="adj" fmla="val 660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2B5A9BA-26FB-421E-A542-D67E167951C0}"/>
              </a:ext>
            </a:extLst>
          </p:cNvPr>
          <p:cNvSpPr>
            <a:spLocks noGrp="1"/>
          </p:cNvSpPr>
          <p:nvPr/>
        </p:nvSpPr>
        <p:spPr>
          <a:xfrm>
            <a:off x="609600" y="1781175"/>
            <a:ext cx="1143000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PROPÓSITO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A25A243-E679-46EF-9F50-63A66DA154B6}"/>
              </a:ext>
            </a:extLst>
          </p:cNvPr>
          <p:cNvSpPr>
            <a:spLocks noGrp="1"/>
          </p:cNvSpPr>
          <p:nvPr/>
        </p:nvSpPr>
        <p:spPr>
          <a:xfrm>
            <a:off x="1905000" y="17526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Problema público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46D1DED-A3FB-4DF5-8018-06DA56125C1C}"/>
              </a:ext>
            </a:extLst>
          </p:cNvPr>
          <p:cNvSpPr>
            <a:spLocks noGrp="1"/>
          </p:cNvSpPr>
          <p:nvPr/>
        </p:nvSpPr>
        <p:spPr>
          <a:xfrm>
            <a:off x="1905000" y="2057400"/>
            <a:ext cx="95440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P09 organiza a infraestrutura necessária ao transporte, à conexão e ao apoio logístico dos fluxos de energia e combustíveis.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8172680-9D73-46A2-A093-A5B13A2C8D48}"/>
              </a:ext>
            </a:extLst>
          </p:cNvPr>
          <p:cNvSpPr>
            <a:spLocks noGrp="1"/>
          </p:cNvSpPr>
          <p:nvPr/>
        </p:nvSpPr>
        <p:spPr>
          <a:xfrm>
            <a:off x="476250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2DF9C12-035C-49B3-B012-ECCFDD9BFBA1}"/>
              </a:ext>
            </a:extLst>
          </p:cNvPr>
          <p:cNvSpPr>
            <a:spLocks noGrp="1"/>
          </p:cNvSpPr>
          <p:nvPr/>
        </p:nvSpPr>
        <p:spPr>
          <a:xfrm>
            <a:off x="6238875" y="2809875"/>
            <a:ext cx="5381625" cy="2476500"/>
          </a:xfrm>
          <a:prstGeom prst="roundRect">
            <a:avLst>
              <a:gd name="adj" fmla="val 3077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5FC1964-6C04-4E21-92E6-373B9B79C478}"/>
              </a:ext>
            </a:extLst>
          </p:cNvPr>
          <p:cNvSpPr>
            <a:spLocks noGrp="1"/>
          </p:cNvSpPr>
          <p:nvPr/>
        </p:nvSpPr>
        <p:spPr>
          <a:xfrm>
            <a:off x="590550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 programa organiza a resposta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D9CD1C6-BAFA-474C-A41A-F7C3E3A03326}"/>
              </a:ext>
            </a:extLst>
          </p:cNvPr>
          <p:cNvSpPr>
            <a:spLocks noGrp="1"/>
          </p:cNvSpPr>
          <p:nvPr/>
        </p:nvSpPr>
        <p:spPr>
          <a:xfrm>
            <a:off x="6353175" y="2886075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representativos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BBBF708-0412-43E8-8E9F-2988A1809D01}"/>
              </a:ext>
            </a:extLst>
          </p:cNvPr>
          <p:cNvSpPr>
            <a:spLocks noGrp="1"/>
          </p:cNvSpPr>
          <p:nvPr/>
        </p:nvSpPr>
        <p:spPr>
          <a:xfrm>
            <a:off x="590550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carteira pode combinar gasodutos, dutovias de etanol e de combustível sustentável de aviação, ligações marítimas, bases de apoio, berços de embarque e instrumentos para uso de faixas de domínio. A FAP deve indicar a função de cada componente e suas dependências regulatórias.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47CDBDF-EFF4-47B8-90FA-46DCB1261A23}"/>
              </a:ext>
            </a:extLst>
          </p:cNvPr>
          <p:cNvSpPr>
            <a:spLocks noGrp="1"/>
          </p:cNvSpPr>
          <p:nvPr/>
        </p:nvSpPr>
        <p:spPr>
          <a:xfrm>
            <a:off x="6353175" y="3305175"/>
            <a:ext cx="5153025" cy="1885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799"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Gasoduto Subida da Serra, destinado à Empresa Metropolitana de Águas e Energia, e a dutovia de etanol associada ao Gasoduto Caraguatatuba–Taubaté e aos berços de embarque conectam produção, transporte e instalações de destino.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ligação Paulínia–Viracopos propõe transportar combustível sustentável de aviação até o aeroporto por infraestrutura dedicada.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15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novas ligações marítimas do sistema de escoamento de gás denominado Rota 1, a extensão da rede dutoviária operada pela Logum até Jataí e a expansão do Gasoduto Bolívia–Brasil até Vaca Muerta representam ampliações de redes energéticas em escalas diferentes.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CE8A025-E429-41DB-B7A3-383561AF47EC}"/>
              </a:ext>
            </a:extLst>
          </p:cNvPr>
          <p:cNvSpPr>
            <a:spLocks noGrp="1"/>
          </p:cNvSpPr>
          <p:nvPr/>
        </p:nvSpPr>
        <p:spPr>
          <a:xfrm>
            <a:off x="476250" y="5410200"/>
            <a:ext cx="11144250" cy="47625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8B3E2FB-AFB9-4FBB-AAA3-05D035EA702B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7439"/>
          </a:bodyPr>
          <a:lstStyle/>
          <a:p>
            <a:pPr algn="l">
              <a:lnSpc>
                <a:spcPct val="105000"/>
              </a:lnSpc>
              <a:buNone/>
              <a:def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6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Projetos do P09 também podem pertencer ao P08 quando envolvem cargas perigosas ou sensíveis e ao P01 quando servem às exportações ou às instalações portuárias.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350052E-2441-4E49-9EC7-3D21062A2A7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57A947F-3A53-4449-B793-ADB1861900A4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exemplos ilustram a composição inicial do programa e não representam uma lista exaustiva nem uma ordem de prioridade.</a:t>
            </a:r>
          </a:p>
        </p:txBody>
      </p:sp>
    </p:spTree>
    <p:extLst>
      <p:ext uri="{BB962C8B-B14F-4D97-AF65-F5344CB8AC3E}">
        <p14:creationId xmlns:p14="http://schemas.microsoft.com/office/powerpoint/2010/main" val="1679238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FE1F9289-7322-421F-BC8F-384F6A6D265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8881809F-71B6-4AD6-BAAA-EB1372FA0993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B917DB4-4EF8-4C98-9D2E-A5DA40D53878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702BA73-620A-4C09-BAFA-D73EB6CB41B3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H01 e H02 · Continuidade e inteligência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3BB20DF-B738-4533-8E6D-BE45B2AD368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AA85C02-7B2A-473E-8D26-5148B88D1188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B8B6B17-16B5-43FD-80E5-AE43DCF27BF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102887-E5D3-476B-A039-3517212AABBE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programas habilitadores não concorrem com os programas finalísticos. Eles organizam capacidades e salvaguardas necessárias para que projetos de diferentes áreas possam operar com coerência.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675CE98-3B77-4085-B43B-5DAC99B8F706}"/>
              </a:ext>
            </a:extLst>
          </p:cNvPr>
          <p:cNvSpPr>
            <a:spLocks noGrp="1"/>
          </p:cNvSpPr>
          <p:nvPr/>
        </p:nvSpPr>
        <p:spPr>
          <a:xfrm>
            <a:off x="476250" y="2381250"/>
            <a:ext cx="5381625" cy="3095625"/>
          </a:xfrm>
          <a:prstGeom prst="roundRect">
            <a:avLst>
              <a:gd name="adj" fmla="val 246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32553DF-7FD6-4E2C-A71A-26C488D30E96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5381625" cy="3095625"/>
          </a:xfrm>
          <a:prstGeom prst="roundRect">
            <a:avLst>
              <a:gd name="adj" fmla="val 246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429944F-820B-4F6B-998B-68EE583B6858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8140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H01 · Resiliência climática e continuidade operacional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2EF7ED5-DA0E-41D2-BC9F-1018FCD64343}"/>
              </a:ext>
            </a:extLst>
          </p:cNvPr>
          <p:cNvSpPr>
            <a:spLocks noGrp="1"/>
          </p:cNvSpPr>
          <p:nvPr/>
        </p:nvSpPr>
        <p:spPr>
          <a:xfrm>
            <a:off x="6353175" y="24574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H02 · Inteligência logística, dados e operação digital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F2FC7F3-7763-4A45-8433-7F8BF2D1F569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5153025" cy="2505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9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9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H01 enfrenta o risco de interrupção ou perda de desempenho das redes diante de eventos climáticos e condições críticas do território. Ele reúne monitoramento, adaptação, redundância e ajustes de engenharia. A ação A7.3 corresponde ao monitoramento do risco das mudanças climáticas no setor de transportes e funciona como referência transversal.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B4ED92E-0CC9-4DDC-9269-2C91EA119620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5153025" cy="2505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9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9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H02 responde à necessidade de produzir e compartilhar informações operacionais que coordenem redes e apoiem decisões em tempo real. A ação A7.2 reúne medidas operacionais baseadas em sistemas inteligentes de transportes e em um centro de controle concentrador; o Centro de Controle Operacional da hidrovia é outro exemplo.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298C38B-F929-4FCF-8F9E-5D1993364DEC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313B5AC-00D4-4283-9671-88C4EB320F5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2556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dois habilitadores acompanham projetos finalísticos porque continuidade e informação são condições de desempenho do sistema, e não funções logísticas isoladas.</a:t>
            </a:r>
          </a:p>
        </p:txBody>
      </p:sp>
    </p:spTree>
    <p:extLst>
      <p:ext uri="{BB962C8B-B14F-4D97-AF65-F5344CB8AC3E}">
        <p14:creationId xmlns:p14="http://schemas.microsoft.com/office/powerpoint/2010/main" val="140312654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0E35E4C-8981-414A-B3B1-A364A29B4C4D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CA4A71D-31CF-4A23-BAA7-38AD128148C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1D6D5AF-CCCC-40D6-A718-5387787BC073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8A3F2E5-8213-4AC6-B38B-23F862815EF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H03 · Ordenamento territorial, ambiental e inserção urbana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87D46E3-5276-42B8-9628-77D516F4660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8F304F-FB25-4CED-87DB-9487C85C17D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21A79B2-9BDA-4558-8100-E36431F9485F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619D6B7-8197-41AE-8EBE-77104921AE1E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H03 trata dos conflitos e condicionantes que surgem quando projetos de transporte se inserem em áreas urbanas, ambientais ou produtivas com usos já estabelecidos.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C49C23B-E203-4A23-827E-105F5A0C352A}"/>
              </a:ext>
            </a:extLst>
          </p:cNvPr>
          <p:cNvSpPr>
            <a:spLocks noGrp="1"/>
          </p:cNvSpPr>
          <p:nvPr/>
        </p:nvSpPr>
        <p:spPr>
          <a:xfrm>
            <a:off x="476250" y="2333625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7AD5D50-52A1-4B29-A34E-712CD07DCD28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FUNÇÃO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9E105E2-1CB9-4DE8-B924-29229DC413EA}"/>
              </a:ext>
            </a:extLst>
          </p:cNvPr>
          <p:cNvSpPr>
            <a:spLocks noGrp="1"/>
          </p:cNvSpPr>
          <p:nvPr/>
        </p:nvSpPr>
        <p:spPr>
          <a:xfrm>
            <a:off x="1905000" y="241935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Compatibilizar projeto e território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735F9BE-2475-4881-88E1-4326B2DF2237}"/>
              </a:ext>
            </a:extLst>
          </p:cNvPr>
          <p:cNvSpPr>
            <a:spLocks noGrp="1"/>
          </p:cNvSpPr>
          <p:nvPr/>
        </p:nvSpPr>
        <p:spPr>
          <a:xfrm>
            <a:off x="1905000" y="2724150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programa organiza instrumentos que permitem ajustar o projeto às condições ambientais, urbanas e fundiárias de seu território, reduzindo conflitos e antecipando requisitos de licenciamento e articulação municipal.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2E4D854-F631-482C-84DB-01580F6C42E1}"/>
              </a:ext>
            </a:extLst>
          </p:cNvPr>
          <p:cNvSpPr>
            <a:spLocks noGrp="1"/>
          </p:cNvSpPr>
          <p:nvPr/>
        </p:nvSpPr>
        <p:spPr>
          <a:xfrm>
            <a:off x="476250" y="3429000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1CEF242-C7F8-4157-BA2D-9C3C24431008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MEIOS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BEE0960-3A93-46A2-8934-AD1834A60491}"/>
              </a:ext>
            </a:extLst>
          </p:cNvPr>
          <p:cNvSpPr>
            <a:spLocks noGrp="1"/>
          </p:cNvSpPr>
          <p:nvPr/>
        </p:nvSpPr>
        <p:spPr>
          <a:xfrm>
            <a:off x="1905000" y="35147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Planejamento e coordenação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ADE5446-3E11-4D9A-9599-75DCF04FC2F4}"/>
              </a:ext>
            </a:extLst>
          </p:cNvPr>
          <p:cNvSpPr>
            <a:spLocks noGrp="1"/>
          </p:cNvSpPr>
          <p:nvPr/>
        </p:nvSpPr>
        <p:spPr>
          <a:xfrm>
            <a:off x="1905000" y="3819525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Zoneamento Ecológico-Econômico, a Avaliação Ambiental Estratégica, a articulação com municípios e a organização de polos logísticos fornecem referências para avaliar traçados, localizações e alternativas.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89D937D-13DE-413D-BAB0-9E96BA55A338}"/>
              </a:ext>
            </a:extLst>
          </p:cNvPr>
          <p:cNvSpPr>
            <a:spLocks noGrp="1"/>
          </p:cNvSpPr>
          <p:nvPr/>
        </p:nvSpPr>
        <p:spPr>
          <a:xfrm>
            <a:off x="476250" y="4524375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14E983D-696B-43C0-BC6A-D861A8030EBF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APLICAÇÃO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D752FE3-6C23-4D59-8321-1744F95F3DC2}"/>
              </a:ext>
            </a:extLst>
          </p:cNvPr>
          <p:cNvSpPr>
            <a:spLocks noGrp="1"/>
          </p:cNvSpPr>
          <p:nvPr/>
        </p:nvSpPr>
        <p:spPr>
          <a:xfrm>
            <a:off x="1905000" y="46101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que exigem inserção cuidadosa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4466D2A-C206-41A2-B1CF-3B2AE5BC4F7C}"/>
              </a:ext>
            </a:extLst>
          </p:cNvPr>
          <p:cNvSpPr>
            <a:spLocks noGrp="1"/>
          </p:cNvSpPr>
          <p:nvPr/>
        </p:nvSpPr>
        <p:spPr>
          <a:xfrm>
            <a:off x="1905000" y="4914900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Novo Porto no Litoral Sul, a Área de Apoio Logístico em Caraguatatuba e as intervenções urbanas de contorno exemplificam casos em que a viabilidade depende da compatibilidade territorial.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76546D4-7D01-4702-9FCB-3ACA4049D1AA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F464BA3-16E3-456A-B850-200DFA48777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5132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H03 acompanha projetos físicos porque sua viabilidade depende do território em que serão implantados e dos efeitos que poderão produzir sobre esse território.</a:t>
            </a:r>
          </a:p>
        </p:txBody>
      </p:sp>
    </p:spTree>
    <p:extLst>
      <p:ext uri="{BB962C8B-B14F-4D97-AF65-F5344CB8AC3E}">
        <p14:creationId xmlns:p14="http://schemas.microsoft.com/office/powerpoint/2010/main" val="2765500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5534333-81C9-4499-9A85-FF900F38A296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EDCB1B4-C1F0-41B6-AA93-FBFD05860DC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863737D-B438-41E7-9A35-CEDCB15312B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6427CA4-D3F6-4190-BB13-9594C5B4552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H04 e H05 · Governança e financiamento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5ED05FE-AB98-42E6-A411-67F0C3D3C0ED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110660F-A994-4ABC-BEF7-582036D3F77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F6B5C64-752B-4F32-8540-3D12F9EAC24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79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F1E22A1-D3D6-416A-BA04-232B552C4517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definição técnica de uma solução não garante sua implementação. Os habilitadores H04 e H05 organizam, respectivamente, as regras e os instrumentos que permitem entregar e sustentar os projetos.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E09A509-183B-4294-8380-5672C01A73C1}"/>
              </a:ext>
            </a:extLst>
          </p:cNvPr>
          <p:cNvSpPr>
            <a:spLocks noGrp="1"/>
          </p:cNvSpPr>
          <p:nvPr/>
        </p:nvSpPr>
        <p:spPr>
          <a:xfrm>
            <a:off x="476250" y="2381250"/>
            <a:ext cx="5381625" cy="3095625"/>
          </a:xfrm>
          <a:prstGeom prst="roundRect">
            <a:avLst>
              <a:gd name="adj" fmla="val 246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424CAC0-5579-47CD-A5D1-581C0FFAA455}"/>
              </a:ext>
            </a:extLst>
          </p:cNvPr>
          <p:cNvSpPr>
            <a:spLocks noGrp="1"/>
          </p:cNvSpPr>
          <p:nvPr/>
        </p:nvSpPr>
        <p:spPr>
          <a:xfrm>
            <a:off x="6238875" y="2381250"/>
            <a:ext cx="5381625" cy="3095625"/>
          </a:xfrm>
          <a:prstGeom prst="roundRect">
            <a:avLst>
              <a:gd name="adj" fmla="val 246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1771FAF-951F-4D5E-8C29-8370B8754D92}"/>
              </a:ext>
            </a:extLst>
          </p:cNvPr>
          <p:cNvSpPr>
            <a:spLocks noGrp="1"/>
          </p:cNvSpPr>
          <p:nvPr/>
        </p:nvSpPr>
        <p:spPr>
          <a:xfrm>
            <a:off x="590550" y="24574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8436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H04 · Governança, regulação e capacidade de entrega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BBBEABD-4CE2-4991-A181-E874F29E0B4E}"/>
              </a:ext>
            </a:extLst>
          </p:cNvPr>
          <p:cNvSpPr>
            <a:spLocks noGrp="1"/>
          </p:cNvSpPr>
          <p:nvPr/>
        </p:nvSpPr>
        <p:spPr>
          <a:xfrm>
            <a:off x="6353175" y="2457450"/>
            <a:ext cx="5153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3526"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H05 · Financiamento, incentivos e contratação inovadora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6140292-A58A-4794-8E34-6F3A3608BBB5}"/>
              </a:ext>
            </a:extLst>
          </p:cNvPr>
          <p:cNvSpPr>
            <a:spLocks noGrp="1"/>
          </p:cNvSpPr>
          <p:nvPr/>
        </p:nvSpPr>
        <p:spPr>
          <a:xfrm>
            <a:off x="590550" y="2876550"/>
            <a:ext cx="5153025" cy="2505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H04 enfrenta lacunas de coordenação, competência e regulação que podem impedir ou atrasar projetos. Ele prevê instituir ou fortalecer a governança permanente do PLI, harmonizar as normas do Departamento de Estradas de Rodagem e da agência estadual reguladora dos transportes, aprimorar a legislação ferroviária regional e definir regras para portos, hidrovias e acessos.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F767EA7-4A68-4B09-A4A7-17329A8CB824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5153025" cy="2505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H05 organiza os instrumentos necessários para converter projetos definidos em empreendimentos financiáveis e contratáveis. Ele reúne incentivos, fundos, concessões, parcerias público-privadas e incorporação de tecnologia às licitações. A concessão das Travessias, os aeroportos e o Canal de Santos são aplicações possíveis.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E672A64-9E70-4862-A6B1-39D390C8DA0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CEDCFE5-7FF2-4C71-AA49-69FDF24282C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4373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Esses habilitadores podem vincular-se a qualquer programa finalístico, porque regras claras, instituições capazes e soluções financeiras adequadas são condições comuns de entrega.</a:t>
            </a:r>
          </a:p>
        </p:txBody>
      </p:sp>
    </p:spTree>
    <p:extLst>
      <p:ext uri="{BB962C8B-B14F-4D97-AF65-F5344CB8AC3E}">
        <p14:creationId xmlns:p14="http://schemas.microsoft.com/office/powerpoint/2010/main" val="16516260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CB0AEE9-D56F-4A8D-A7C9-FA0DD4E3D60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146CEA4-3A4D-4E32-B384-FDAE0DC0334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E491E5B-3603-4650-A871-F70D446E6B9A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50F24B-5A85-4527-95E2-F9325923A323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Sobreposições legítimas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5C9E0C7-C3BE-4EC2-9BC6-D23AC3A522B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DB2EA0-8430-4D5C-BE54-7DD810787B89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D0BA4A-88F9-49E5-A808-8D4E5976E6C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A158E8B-5D2C-4037-B217-477AE5EF9DC5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presença de um projeto em mais de um programa registra resultados públicos distintos produzidos pelo mesmo ativo. A base mantém uma única FAP e explica a função desempenhada em cada vínculo.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32E03A4-E38C-4531-A439-2D31702BB059}"/>
              </a:ext>
            </a:extLst>
          </p:cNvPr>
          <p:cNvSpPr>
            <a:spLocks noGrp="1"/>
          </p:cNvSpPr>
          <p:nvPr/>
        </p:nvSpPr>
        <p:spPr>
          <a:xfrm>
            <a:off x="476250" y="2400300"/>
            <a:ext cx="11144250" cy="962025"/>
          </a:xfrm>
          <a:prstGeom prst="roundRect">
            <a:avLst>
              <a:gd name="adj" fmla="val 396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AF8669D-1F7A-4122-A803-3A104C035871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2828925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A2.3.6 · Hidro-Oceânica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2B29F49B-506A-4C19-8779-EFE13E27740F}"/>
              </a:ext>
            </a:extLst>
          </p:cNvPr>
          <p:cNvSpPr>
            <a:spLocks noGrp="1"/>
          </p:cNvSpPr>
          <p:nvPr/>
        </p:nvSpPr>
        <p:spPr>
          <a:xfrm>
            <a:off x="3476625" y="2466975"/>
            <a:ext cx="0" cy="828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01B4359-5C09-4478-9D73-647AEE729B5B}"/>
              </a:ext>
            </a:extLst>
          </p:cNvPr>
          <p:cNvSpPr>
            <a:spLocks noGrp="1"/>
          </p:cNvSpPr>
          <p:nvPr/>
        </p:nvSpPr>
        <p:spPr>
          <a:xfrm>
            <a:off x="3590925" y="2447925"/>
            <a:ext cx="79152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ferrovia pode ter o P01 como programa-âncora por sua função potencial no comércio exterior e o P03 como vínculo secundário por sua contribuição aos corredores produtivos do interior.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0B36080-CB6F-423F-A3A7-418B04C21C4D}"/>
              </a:ext>
            </a:extLst>
          </p:cNvPr>
          <p:cNvSpPr>
            <a:spLocks noGrp="1"/>
          </p:cNvSpPr>
          <p:nvPr/>
        </p:nvSpPr>
        <p:spPr>
          <a:xfrm>
            <a:off x="476250" y="3400425"/>
            <a:ext cx="11144250" cy="962025"/>
          </a:xfrm>
          <a:prstGeom prst="roundRect">
            <a:avLst>
              <a:gd name="adj" fmla="val 396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38AF1EF-46EA-469D-9E7D-F1339A277FC0}"/>
              </a:ext>
            </a:extLst>
          </p:cNvPr>
          <p:cNvSpPr>
            <a:spLocks noGrp="1"/>
          </p:cNvSpPr>
          <p:nvPr/>
        </p:nvSpPr>
        <p:spPr>
          <a:xfrm>
            <a:off x="571500" y="3457575"/>
            <a:ext cx="2828925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A2.6.1–A2.6.4 · Trem Intercidades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D98D1B28-9850-490B-9820-038956378D95}"/>
              </a:ext>
            </a:extLst>
          </p:cNvPr>
          <p:cNvSpPr>
            <a:spLocks noGrp="1"/>
          </p:cNvSpPr>
          <p:nvPr/>
        </p:nvSpPr>
        <p:spPr>
          <a:xfrm>
            <a:off x="3476625" y="3467100"/>
            <a:ext cx="0" cy="828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43E85B7-2E5C-4A89-881B-EF7B9370210F}"/>
              </a:ext>
            </a:extLst>
          </p:cNvPr>
          <p:cNvSpPr>
            <a:spLocks noGrp="1"/>
          </p:cNvSpPr>
          <p:nvPr/>
        </p:nvSpPr>
        <p:spPr>
          <a:xfrm>
            <a:off x="3590925" y="3448050"/>
            <a:ext cx="79152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eixos do Trem Intercidades integram o P04 quando conectam regiões e também podem integrar o P05 quando estruturam eixos metropolitanos de alta capacidade.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19F1767-C85D-4E52-A4B5-5BAB5956BD3C}"/>
              </a:ext>
            </a:extLst>
          </p:cNvPr>
          <p:cNvSpPr>
            <a:spLocks noGrp="1"/>
          </p:cNvSpPr>
          <p:nvPr/>
        </p:nvSpPr>
        <p:spPr>
          <a:xfrm>
            <a:off x="476250" y="4400550"/>
            <a:ext cx="11144250" cy="962025"/>
          </a:xfrm>
          <a:prstGeom prst="roundRect">
            <a:avLst>
              <a:gd name="adj" fmla="val 396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1367F43-ACD6-41F7-8108-44DD377A7E50}"/>
              </a:ext>
            </a:extLst>
          </p:cNvPr>
          <p:cNvSpPr>
            <a:spLocks noGrp="1"/>
          </p:cNvSpPr>
          <p:nvPr/>
        </p:nvSpPr>
        <p:spPr>
          <a:xfrm>
            <a:off x="571500" y="4457700"/>
            <a:ext cx="2828925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A4.8 · Novo Porto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6A8FEECA-F34D-4090-B170-269C335487E9}"/>
              </a:ext>
            </a:extLst>
          </p:cNvPr>
          <p:cNvSpPr>
            <a:spLocks noGrp="1"/>
          </p:cNvSpPr>
          <p:nvPr/>
        </p:nvSpPr>
        <p:spPr>
          <a:xfrm>
            <a:off x="3476625" y="4467225"/>
            <a:ext cx="0" cy="8286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28610F5-24D3-4673-8C33-603E7BCDB37D}"/>
              </a:ext>
            </a:extLst>
          </p:cNvPr>
          <p:cNvSpPr>
            <a:spLocks noGrp="1"/>
          </p:cNvSpPr>
          <p:nvPr/>
        </p:nvSpPr>
        <p:spPr>
          <a:xfrm>
            <a:off x="3590925" y="4448175"/>
            <a:ext cx="79152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Novo Porto no Litoral Sul pertence ao P01 por sua função portuária e pode relacionar-se ao P03 pelas conexões com o interior. Os vínculos com resiliência climática, ordenamento territorial, governança ou financiamento somente serão registrados quando a FAP demonstrar essas condições.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62A3EAF-89EF-43A4-9008-35115E64112F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75DD53D-0EB2-4FDE-A610-71D4B1BDD8EA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1450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Os programas habilitadores somente devem ser associados quando a FAP demonstrar as condições climáticas, territoriais, institucionais ou financeiras correspondentes.</a:t>
            </a:r>
          </a:p>
        </p:txBody>
      </p:sp>
    </p:spTree>
    <p:extLst>
      <p:ext uri="{BB962C8B-B14F-4D97-AF65-F5344CB8AC3E}">
        <p14:creationId xmlns:p14="http://schemas.microsoft.com/office/powerpoint/2010/main" val="6143884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06119A1A-3F58-4781-92F9-E81638B0542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m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2A7C22F-DCBE-4E73-A5ED-79914D3FD34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C228D82-5D6F-408E-824F-F6FE1A802C35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8DEEAF-353B-4CA2-9EE8-D3AB7ED4CA6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Regras para sobreposições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8614BDDC-1130-4556-8205-441C6E91EB6B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B91D40A-0FDD-4B22-9E80-0D82388A62E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E0E05ED-A26B-4A11-BF62-CC76B1F4125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FAC9E61-E5A1-44F3-930B-0A750A16E136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vínculo secundário precisa corresponder a uma contribuição demonstrável. Uma afinidade genérica com o objetivo do programa não basta para criar a relação.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6BC7AD2-703B-4A9A-AE79-879159B748DD}"/>
              </a:ext>
            </a:extLst>
          </p:cNvPr>
          <p:cNvSpPr>
            <a:spLocks noGrp="1"/>
          </p:cNvSpPr>
          <p:nvPr/>
        </p:nvSpPr>
        <p:spPr>
          <a:xfrm>
            <a:off x="476250" y="240030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43AAAA-0B79-4198-8825-D86F0D3590DB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A1.2.40 · SP-165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13A5FC1F-7C6F-4E66-ACA5-639170C9FB34}"/>
              </a:ext>
            </a:extLst>
          </p:cNvPr>
          <p:cNvSpPr>
            <a:spLocks noGrp="1"/>
          </p:cNvSpPr>
          <p:nvPr/>
        </p:nvSpPr>
        <p:spPr>
          <a:xfrm>
            <a:off x="3476625" y="246697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2CA57AA-07BC-4818-A113-3AC1C10D74DC}"/>
              </a:ext>
            </a:extLst>
          </p:cNvPr>
          <p:cNvSpPr>
            <a:spLocks noGrp="1"/>
          </p:cNvSpPr>
          <p:nvPr/>
        </p:nvSpPr>
        <p:spPr>
          <a:xfrm>
            <a:off x="3590925" y="2447925"/>
            <a:ext cx="79152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intervenção integra o P06 por sua função de capilaridade e atendimento territorial. Ela somente recebe vínculo com o P07 se a FAP demonstrar um mecanismo específico de redução de acidentes.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317A08C-6163-4A0C-A8C6-4EB15D01D47D}"/>
              </a:ext>
            </a:extLst>
          </p:cNvPr>
          <p:cNvSpPr>
            <a:spLocks noGrp="1"/>
          </p:cNvSpPr>
          <p:nvPr/>
        </p:nvSpPr>
        <p:spPr>
          <a:xfrm>
            <a:off x="476250" y="320040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06A1BCC-35C4-4302-954A-BBD64004C3AC}"/>
              </a:ext>
            </a:extLst>
          </p:cNvPr>
          <p:cNvSpPr>
            <a:spLocks noGrp="1"/>
          </p:cNvSpPr>
          <p:nvPr/>
        </p:nvSpPr>
        <p:spPr>
          <a:xfrm>
            <a:off x="571500" y="3257550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A7.2 · Inteligência e controle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1973AB8F-BBE3-4101-B2F6-86F44027A53B}"/>
              </a:ext>
            </a:extLst>
          </p:cNvPr>
          <p:cNvSpPr>
            <a:spLocks noGrp="1"/>
          </p:cNvSpPr>
          <p:nvPr/>
        </p:nvSpPr>
        <p:spPr>
          <a:xfrm>
            <a:off x="3476625" y="326707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F4E50C3-6B4E-4EB9-91D6-5B53796819D7}"/>
              </a:ext>
            </a:extLst>
          </p:cNvPr>
          <p:cNvSpPr>
            <a:spLocks noGrp="1"/>
          </p:cNvSpPr>
          <p:nvPr/>
        </p:nvSpPr>
        <p:spPr>
          <a:xfrm>
            <a:off x="3590925" y="3248025"/>
            <a:ext cx="79152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sistemas inteligentes de transportes e o centro de controle concentrador têm o H02 como vínculo central. Conforme a rede atendida, a solução pode apoiar P08, P01 ou P03 sem novo cadastro.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E002480-372F-4450-A21B-5A05D5F066B9}"/>
              </a:ext>
            </a:extLst>
          </p:cNvPr>
          <p:cNvSpPr>
            <a:spLocks noGrp="1"/>
          </p:cNvSpPr>
          <p:nvPr/>
        </p:nvSpPr>
        <p:spPr>
          <a:xfrm>
            <a:off x="476250" y="400050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DFE8131-E817-4BF4-9B4D-1E1DD0953AE9}"/>
              </a:ext>
            </a:extLst>
          </p:cNvPr>
          <p:cNvSpPr>
            <a:spLocks noGrp="1"/>
          </p:cNvSpPr>
          <p:nvPr/>
        </p:nvSpPr>
        <p:spPr>
          <a:xfrm>
            <a:off x="571500" y="4057650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Contagem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65ACD1E0-FA16-4591-89E5-E97EF1B98337}"/>
              </a:ext>
            </a:extLst>
          </p:cNvPr>
          <p:cNvSpPr>
            <a:spLocks noGrp="1"/>
          </p:cNvSpPr>
          <p:nvPr/>
        </p:nvSpPr>
        <p:spPr>
          <a:xfrm>
            <a:off x="3476625" y="406717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85A5515-FBCA-48AD-B710-E52A8C7A2919}"/>
              </a:ext>
            </a:extLst>
          </p:cNvPr>
          <p:cNvSpPr>
            <a:spLocks noGrp="1"/>
          </p:cNvSpPr>
          <p:nvPr/>
        </p:nvSpPr>
        <p:spPr>
          <a:xfrm>
            <a:off x="3590925" y="4048125"/>
            <a:ext cx="79152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base conta cada projeto uma única vez pelo seu identificador e utiliza uma tabela de vínculos para registrar suas diferentes funções programáticas.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3A09028-A63E-403C-926E-5F62133EECA1}"/>
              </a:ext>
            </a:extLst>
          </p:cNvPr>
          <p:cNvSpPr>
            <a:spLocks noGrp="1"/>
          </p:cNvSpPr>
          <p:nvPr/>
        </p:nvSpPr>
        <p:spPr>
          <a:xfrm>
            <a:off x="476250" y="4800600"/>
            <a:ext cx="11144250" cy="762000"/>
          </a:xfrm>
          <a:prstGeom prst="roundRect">
            <a:avLst>
              <a:gd name="adj" fmla="val 5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B6DD780-1D47-403A-8BEB-C7AC8F834FD7}"/>
              </a:ext>
            </a:extLst>
          </p:cNvPr>
          <p:cNvSpPr>
            <a:spLocks noGrp="1"/>
          </p:cNvSpPr>
          <p:nvPr/>
        </p:nvSpPr>
        <p:spPr>
          <a:xfrm>
            <a:off x="571500" y="4857750"/>
            <a:ext cx="28289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63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Custos e benefícios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19A80B0E-CD9D-469D-907B-30F0DC703A47}"/>
              </a:ext>
            </a:extLst>
          </p:cNvPr>
          <p:cNvSpPr>
            <a:spLocks noGrp="1"/>
          </p:cNvSpPr>
          <p:nvPr/>
        </p:nvSpPr>
        <p:spPr>
          <a:xfrm>
            <a:off x="3476625" y="4867275"/>
            <a:ext cx="0" cy="6286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1CC85BB-84DB-407B-8966-8C5903D62F7E}"/>
              </a:ext>
            </a:extLst>
          </p:cNvPr>
          <p:cNvSpPr>
            <a:spLocks noGrp="1"/>
          </p:cNvSpPr>
          <p:nvPr/>
        </p:nvSpPr>
        <p:spPr>
          <a:xfrm>
            <a:off x="3590925" y="4848225"/>
            <a:ext cx="79152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Produtos D15 e D16 calculam custos e benefícios para o objeto único da FAP. O D17 pode interpretar o projeto em vários programas, mas não repete esses valores na carteira consolidada.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51CF605-F5C7-440E-A764-48E9B4F85F2B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EF1E9CC-BD49-46C3-9C6C-D6733C61E7D2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vinculação é muitos-para-muitos, mas a identidade, os custos e os benefícios do projeto permanecem únicos.</a:t>
            </a:r>
          </a:p>
        </p:txBody>
      </p:sp>
    </p:spTree>
    <p:extLst>
      <p:ext uri="{BB962C8B-B14F-4D97-AF65-F5344CB8AC3E}">
        <p14:creationId xmlns:p14="http://schemas.microsoft.com/office/powerpoint/2010/main" val="15431517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C1345AF-7563-4014-A2EE-79F8F9E92F72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E3080A5-B89A-4F4E-82DA-91C87272991C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932BB7B-0033-47F6-B1A0-E62145BC7A01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22C90EE-C734-4D4A-9B1F-140C9207803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Da FAP à avaliação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DF2322A7-02A5-42E3-9299-7738ECCDAC89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B3CCD8-8473-4C5F-8945-18B83D416393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D1AEF30-689D-4F5D-BEAF-4756D130829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19DD3C1-22FD-40AB-9D66-B7286B79C6A3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passagem para os Produtos D15 e D16 preserva o mesmo objeto de análise, o mesmo identificador e o mesmo cenário de referência definidos na FAP.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6B84411-E716-4CE0-A804-3A616D8237E0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390900" cy="2428875"/>
          </a:xfrm>
          <a:prstGeom prst="roundRect">
            <a:avLst>
              <a:gd name="adj" fmla="val 3529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19216CF-AB13-4387-AA79-5DF7E3A3B1C7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D410078-12A9-470A-A2E2-6651B9ED9DDC}"/>
              </a:ext>
            </a:extLst>
          </p:cNvPr>
          <p:cNvSpPr>
            <a:spLocks noGrp="1"/>
          </p:cNvSpPr>
          <p:nvPr/>
        </p:nvSpPr>
        <p:spPr>
          <a:xfrm>
            <a:off x="14097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Manter uma FAP única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739CE07-65CF-4CA6-B723-884F573D4484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30861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projeto conserva um registro mestre que reúne sua identidade, suas evidências, suas relações, suas incertezas e suas lacunas.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7B82B67-284A-49F0-A1AC-985E68041F5A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3390900" cy="2428875"/>
          </a:xfrm>
          <a:prstGeom prst="roundRect">
            <a:avLst>
              <a:gd name="adj" fmla="val 3529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84DDC3A-1F33-4B11-827F-C5C82B1FBA26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9126274-07F5-40C5-8986-88D045B2BB27}"/>
              </a:ext>
            </a:extLst>
          </p:cNvPr>
          <p:cNvSpPr>
            <a:spLocks noGrp="1"/>
          </p:cNvSpPr>
          <p:nvPr/>
        </p:nvSpPr>
        <p:spPr>
          <a:xfrm>
            <a:off x="49530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Registrar os vínculos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588338D-EEA5-4734-AD64-2666522B94EA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30861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D14 propõe um programa-âncora e vínculos secundários, explicando qual função o projeto desempenha em cada relação.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4AC2BF5-54B5-4955-B467-4C79385415D8}"/>
              </a:ext>
            </a:extLst>
          </p:cNvPr>
          <p:cNvSpPr>
            <a:spLocks noGrp="1"/>
          </p:cNvSpPr>
          <p:nvPr/>
        </p:nvSpPr>
        <p:spPr>
          <a:xfrm>
            <a:off x="7943850" y="2571750"/>
            <a:ext cx="3390900" cy="2428875"/>
          </a:xfrm>
          <a:prstGeom prst="roundRect">
            <a:avLst>
              <a:gd name="adj" fmla="val 3529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99C6AF8-6118-412F-BF2A-16690394A518}"/>
              </a:ext>
            </a:extLst>
          </p:cNvPr>
          <p:cNvSpPr>
            <a:spLocks noGrp="1"/>
          </p:cNvSpPr>
          <p:nvPr/>
        </p:nvSpPr>
        <p:spPr>
          <a:xfrm>
            <a:off x="80581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DDBB9AF-CA1A-404B-B883-733435D7B565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Acrescentar a avaliação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4D88C53-A392-47D1-B6DE-47015532EAF5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0861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1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D15 adiciona CAPEX e OPEX, enquanto o D16 calcula resultados socioeconômicos a partir do mesmo objeto e do mesmo contrafactual.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B06D9B8-BFDA-4C14-ACAE-AA877E7B8C44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ED7EDF6-9971-4FF2-A4D6-509FDD555695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 que participam de vários programas podem receber leituras diferentes, mas seus custos e benefícios permanecem associados a uma única FAP.</a:t>
            </a:r>
          </a:p>
        </p:txBody>
      </p:sp>
    </p:spTree>
    <p:extLst>
      <p:ext uri="{BB962C8B-B14F-4D97-AF65-F5344CB8AC3E}">
        <p14:creationId xmlns:p14="http://schemas.microsoft.com/office/powerpoint/2010/main" val="13437776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8E7203A1-0D99-4597-BC04-F33A74051C29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6BA5B24-E1BE-4236-B9AF-5E5A8685951B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11F728A-DF84-4158-9855-1140C1A4D311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73B0CE6-076F-4012-A94E-7EABF68DE8B5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Da avaliação à carteira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81EC5FE-CCE5-4929-B196-06FD4ACBBC0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6F15C3-0129-498E-B133-7ECB22C084E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C79E8DF-F91F-4C53-8298-100264130371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229400-0CBC-480C-B2A4-C232C8DCB791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Depois que custos e resultados socioeconômicos estiverem disponíveis, o D17 compara soluções que respondem à mesma função programática e organiza sua implantação no tempo.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11FD7CB-2230-4B8D-BEC3-BF354530FB17}"/>
              </a:ext>
            </a:extLst>
          </p:cNvPr>
          <p:cNvSpPr>
            <a:spLocks noGrp="1"/>
          </p:cNvSpPr>
          <p:nvPr/>
        </p:nvSpPr>
        <p:spPr>
          <a:xfrm>
            <a:off x="1809750" y="2571750"/>
            <a:ext cx="4210050" cy="1952625"/>
          </a:xfrm>
          <a:prstGeom prst="roundRect">
            <a:avLst>
              <a:gd name="adj" fmla="val 4390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10D021-FCDE-40C9-AD37-4FBCCF0CC07C}"/>
              </a:ext>
            </a:extLst>
          </p:cNvPr>
          <p:cNvSpPr>
            <a:spLocks noGrp="1"/>
          </p:cNvSpPr>
          <p:nvPr/>
        </p:nvSpPr>
        <p:spPr>
          <a:xfrm>
            <a:off x="19240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FC08F90-F5A9-47C1-A3A2-57CD3C7C9551}"/>
              </a:ext>
            </a:extLst>
          </p:cNvPr>
          <p:cNvSpPr>
            <a:spLocks noGrp="1"/>
          </p:cNvSpPr>
          <p:nvPr/>
        </p:nvSpPr>
        <p:spPr>
          <a:xfrm>
            <a:off x="2362200" y="2657475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Priorizar no programa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FC69CA7-9FB4-4EA7-AD6A-851AE3D66018}"/>
              </a:ext>
            </a:extLst>
          </p:cNvPr>
          <p:cNvSpPr>
            <a:spLocks noGrp="1"/>
          </p:cNvSpPr>
          <p:nvPr/>
        </p:nvSpPr>
        <p:spPr>
          <a:xfrm>
            <a:off x="1962150" y="3105150"/>
            <a:ext cx="39052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D17 aplica os critérios e os pesos definidos pelo Governo ao contexto de cada programa e compara soluções concorrentes ou complementares.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480E013-14EF-4CC1-A18F-6BC550474C6E}"/>
              </a:ext>
            </a:extLst>
          </p:cNvPr>
          <p:cNvSpPr>
            <a:spLocks noGrp="1"/>
          </p:cNvSpPr>
          <p:nvPr/>
        </p:nvSpPr>
        <p:spPr>
          <a:xfrm>
            <a:off x="6172200" y="2571750"/>
            <a:ext cx="4210050" cy="1952625"/>
          </a:xfrm>
          <a:prstGeom prst="roundRect">
            <a:avLst>
              <a:gd name="adj" fmla="val 4390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9946E96-A0DC-4C1A-8CEF-A332C6E7727B}"/>
              </a:ext>
            </a:extLst>
          </p:cNvPr>
          <p:cNvSpPr>
            <a:spLocks noGrp="1"/>
          </p:cNvSpPr>
          <p:nvPr/>
        </p:nvSpPr>
        <p:spPr>
          <a:xfrm>
            <a:off x="628650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149E100-4B97-49DE-A744-B6CD11B78877}"/>
              </a:ext>
            </a:extLst>
          </p:cNvPr>
          <p:cNvSpPr>
            <a:spLocks noGrp="1"/>
          </p:cNvSpPr>
          <p:nvPr/>
        </p:nvSpPr>
        <p:spPr>
          <a:xfrm>
            <a:off x="6724650" y="2657475"/>
            <a:ext cx="3543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Formar a carteira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25CFB4E-B396-4BF7-9CE9-5CF90C57B27A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39052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priorização é convertida em uma carteira de curto, médio e longo prazo que considera dependências, complementaridades e sequência de implantação.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27BD507-40B7-452A-9229-4694D90FBD6A}"/>
              </a:ext>
            </a:extLst>
          </p:cNvPr>
          <p:cNvSpPr>
            <a:spLocks noGrp="1"/>
          </p:cNvSpPr>
          <p:nvPr/>
        </p:nvSpPr>
        <p:spPr>
          <a:xfrm>
            <a:off x="1285875" y="4762500"/>
            <a:ext cx="9620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5322"/>
          </a:bodyPr>
          <a:lstStyle/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Alternativas concorrentes serão comparadas dentro da mesma função programática, e não em uma lista única que misture objetivos públicos distintos.</a:t>
            </a:r>
          </a:p>
          <a:p>
            <a:pPr algn="l">
              <a:lnSpc>
                <a:spcPct val="105000"/>
              </a:lnSpc>
              <a:spcAft>
                <a:spcPts val="480"/>
              </a:spcAft>
              <a:buNone/>
              <a:def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1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• </a:t>
            </a:r>
            <a:r>
              <a:rPr sz="1238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vários componentes forem indispensáveis, o D16 poderá avaliar o pacote e também estimar a contribuição incremental de cada parte.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98D889C-183C-4D07-A5F8-F0919BEA72F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BC9CC32-DB46-4AC0-91B4-7F19CEC7389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resultado esperado consiste em formar programas robustos, e não apenas uma lista ordenada de projetos isolados.</a:t>
            </a:r>
          </a:p>
        </p:txBody>
      </p:sp>
    </p:spTree>
    <p:extLst>
      <p:ext uri="{BB962C8B-B14F-4D97-AF65-F5344CB8AC3E}">
        <p14:creationId xmlns:p14="http://schemas.microsoft.com/office/powerpoint/2010/main" val="172862204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429D1BA-0A6E-4CAC-AC31-6A62F693F420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B7074B5-3064-4BF7-975E-47CFE8A11B0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4E480EE-1916-448D-ABBA-E6585A61D3E0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533400" cy="5200650"/>
          </a:xfrm>
          <a:prstGeom prst="rect">
            <a:avLst/>
          </a:prstGeom>
          <a:solidFill>
            <a:srgbClr val="55B77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099449E-2ED0-4286-945E-A46932373A5F}"/>
              </a:ext>
            </a:extLst>
          </p:cNvPr>
          <p:cNvSpPr>
            <a:spLocks noGrp="1"/>
          </p:cNvSpPr>
          <p:nvPr/>
        </p:nvSpPr>
        <p:spPr>
          <a:xfrm>
            <a:off x="895350" y="1619250"/>
            <a:ext cx="2000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defRPr>
            </a:pPr>
            <a:r>
              <a:rPr sz="8850" b="1" i="0">
                <a:solidFill>
                  <a:srgbClr val="E2F0D9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C2FE787-6056-4912-BAF5-B311AC36522D}"/>
              </a:ext>
            </a:extLst>
          </p:cNvPr>
          <p:cNvSpPr>
            <a:spLocks noGrp="1"/>
          </p:cNvSpPr>
          <p:nvPr/>
        </p:nvSpPr>
        <p:spPr>
          <a:xfrm>
            <a:off x="2809875" y="1943100"/>
            <a:ext cx="8096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360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Atividades em andamento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C051599B-E52E-4C3B-B382-CAA60968C107}"/>
              </a:ext>
            </a:extLst>
          </p:cNvPr>
          <p:cNvSpPr>
            <a:spLocks noGrp="1"/>
          </p:cNvSpPr>
          <p:nvPr/>
        </p:nvSpPr>
        <p:spPr>
          <a:xfrm>
            <a:off x="2857500" y="2924175"/>
            <a:ext cx="7810500" cy="0"/>
          </a:xfrm>
          <a:prstGeom prst="line">
            <a:avLst/>
          </a:prstGeom>
          <a:noFill/>
          <a:ln w="28575">
            <a:solidFill>
              <a:srgbClr val="55B7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53B9313-37EF-43F8-BFAF-DE92D1AE6F20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7715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57150" rIns="38100" bIns="3810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método já está estruturado. O esforço passa agora para a aplicação projeto a projeto, para a consolidação das bases e para a validação das interfaces entre as equipes.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3BA495B-0E68-456F-BFE8-AC6557C95B27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F44B4CC-367A-4403-8A09-774F7BF733D4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4747776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C43FC015-A5DB-47B6-8ECE-36500ABCDEA1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D5FEF86-13D0-413F-A24D-1AE9EDAD69EA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07BCBB2-280E-4371-B9FF-CFE64FD3664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FAB66A-EE14-494A-A114-CEADAA060DF2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Frentes de trabalho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547DE838-CF66-4C77-81B3-6E5363FBE20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F12F713-122F-45ED-B3FB-CEDC7248E85D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C598ECA-A8A0-4E20-910A-D7A9E1831BEA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85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748BC26-B17A-46A7-BF23-353AA2242834}"/>
              </a:ext>
            </a:extLst>
          </p:cNvPr>
          <p:cNvSpPr>
            <a:spLocks noGrp="1"/>
          </p:cNvSpPr>
          <p:nvPr/>
        </p:nvSpPr>
        <p:spPr>
          <a:xfrm>
            <a:off x="476250" y="1695450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239DE2D-D1D1-4A7C-B46B-8C4FF968C85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2CF65AB-5825-4948-96D5-83587A1CA50C}"/>
              </a:ext>
            </a:extLst>
          </p:cNvPr>
          <p:cNvSpPr>
            <a:spLocks noGrp="1"/>
          </p:cNvSpPr>
          <p:nvPr/>
        </p:nvSpPr>
        <p:spPr>
          <a:xfrm>
            <a:off x="1905000" y="178117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Integração D12 e D13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3DE0D57-1446-40E3-A83D-FAFFCDEE4C35}"/>
              </a:ext>
            </a:extLst>
          </p:cNvPr>
          <p:cNvSpPr>
            <a:spLocks noGrp="1"/>
          </p:cNvSpPr>
          <p:nvPr/>
        </p:nvSpPr>
        <p:spPr>
          <a:xfrm>
            <a:off x="1905000" y="2085975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acompanha a definição da rede, dos cenários e dos pacotes simulados. Em seguida, vincula cada indicador e cada gargalo ao projeto e ao horizonte corretos na FAP.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B6AC565-E3AE-4E8A-A90C-841A536EAAB6}"/>
              </a:ext>
            </a:extLst>
          </p:cNvPr>
          <p:cNvSpPr>
            <a:spLocks noGrp="1"/>
          </p:cNvSpPr>
          <p:nvPr/>
        </p:nvSpPr>
        <p:spPr>
          <a:xfrm>
            <a:off x="476250" y="2752725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7E3A090-86BB-483F-997C-84155A86575A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8758EDD-09D5-4C98-BF93-20DFDB06DB7C}"/>
              </a:ext>
            </a:extLst>
          </p:cNvPr>
          <p:cNvSpPr>
            <a:spLocks noGrp="1"/>
          </p:cNvSpPr>
          <p:nvPr/>
        </p:nvSpPr>
        <p:spPr>
          <a:xfrm>
            <a:off x="1905000" y="283845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Territorialidade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E4A76E7-63ED-4A4D-B78C-B4DF3A8FFC38}"/>
              </a:ext>
            </a:extLst>
          </p:cNvPr>
          <p:cNvSpPr>
            <a:spLocks noGrp="1"/>
          </p:cNvSpPr>
          <p:nvPr/>
        </p:nvSpPr>
        <p:spPr>
          <a:xfrm>
            <a:off x="1905000" y="3143250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17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o projeto possui representação espacial e essa dimensão é aplicável, a equipe posiciona seu traçado ou sua localização sobre camadas ambientais, climáticas, econômicas, sociais, urbanas e institucionais para identificar restrições, exposições e territórios beneficiários.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B3C3EBE-5CB9-4826-9798-F5903B37CA60}"/>
              </a:ext>
            </a:extLst>
          </p:cNvPr>
          <p:cNvSpPr>
            <a:spLocks noGrp="1"/>
          </p:cNvSpPr>
          <p:nvPr/>
        </p:nvSpPr>
        <p:spPr>
          <a:xfrm>
            <a:off x="476250" y="3810000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D142C1C-569E-480E-8B60-530AA1C8D1B2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04F0F20-8506-4BC7-9543-1A03F5DB0862}"/>
              </a:ext>
            </a:extLst>
          </p:cNvPr>
          <p:cNvSpPr>
            <a:spLocks noGrp="1"/>
          </p:cNvSpPr>
          <p:nvPr/>
        </p:nvSpPr>
        <p:spPr>
          <a:xfrm>
            <a:off x="1905000" y="3895725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Bases analíticas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878A55E-2BA5-4017-9BDC-42E6CB79EE0A}"/>
              </a:ext>
            </a:extLst>
          </p:cNvPr>
          <p:cNvSpPr>
            <a:spLocks noGrp="1"/>
          </p:cNvSpPr>
          <p:nvPr/>
        </p:nvSpPr>
        <p:spPr>
          <a:xfrm>
            <a:off x="1905000" y="4200525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organiza fatores de emissão, indicadores socioeconômicos, referências causais e critérios de qualidade da evidência. Também mantém as relações entre projetos e as diligências ainda abertas.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980ACA6-8743-422A-8C2B-62830F961B6F}"/>
              </a:ext>
            </a:extLst>
          </p:cNvPr>
          <p:cNvSpPr>
            <a:spLocks noGrp="1"/>
          </p:cNvSpPr>
          <p:nvPr/>
        </p:nvSpPr>
        <p:spPr>
          <a:xfrm>
            <a:off x="476250" y="4867275"/>
            <a:ext cx="11144250" cy="952500"/>
          </a:xfrm>
          <a:prstGeom prst="roundRect">
            <a:avLst>
              <a:gd name="adj" fmla="val 7000"/>
            </a:avLst>
          </a:prstGeom>
          <a:solidFill>
            <a:srgbClr val="E2F0D9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29DA745-D6FB-47FC-A255-5CB8532CE78F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143000" cy="72390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D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0BFE6B6-E41B-4981-80CF-992B529A2840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95440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FAP e programas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7A85104-E780-4318-BC39-645806A49E9B}"/>
              </a:ext>
            </a:extLst>
          </p:cNvPr>
          <p:cNvSpPr>
            <a:spLocks noGrp="1"/>
          </p:cNvSpPr>
          <p:nvPr/>
        </p:nvSpPr>
        <p:spPr>
          <a:xfrm>
            <a:off x="1905000" y="5257800"/>
            <a:ext cx="95440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concilia cadastros e preenche as fichas à medida que os insumos se estabilizam. Em paralelo, revisa os vínculos programáticos e prepara as bases para D15, D16 e D17.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41C81D1-33C0-4777-BE6D-B62116D2EB1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651CA39-DEE9-4507-8BA4-21122E15159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0903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frentes avançam em paralelo, com controle de versões e encerramento gradual dos campos à medida que os insumos produzidos pelas outras equipes se estabilizam.</a:t>
            </a:r>
          </a:p>
        </p:txBody>
      </p:sp>
    </p:spTree>
    <p:extLst>
      <p:ext uri="{BB962C8B-B14F-4D97-AF65-F5344CB8AC3E}">
        <p14:creationId xmlns:p14="http://schemas.microsoft.com/office/powerpoint/2010/main" val="2466421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2AB3C155-B130-477F-8824-6BDC14176323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AED805B-B54C-448B-9E58-88D184A3A54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FEC8E14-FEB6-4FC7-BAA6-0A3313B1DF34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3D1B904-1A2C-4D86-B456-1E687BC29150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Produção dos insumos de rede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858E12C-F341-4478-A3E0-3175BB61F9A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EAC213-A16E-4A1D-976D-316C1996140F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2CB32F9-F50B-4FE7-ABE4-1C80E93DE096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7A8DCB-BDF6-4167-8FAA-BCCFF93DFAA7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trabalho conjunto entre D12, D13 e D14 assegura que cada resultado permaneça associado ao cenário, ao pacote de projetos e ao horizonte que realmente o produziram.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893EE50-F04A-4B46-A8FD-DE0EB1D395A7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497E2E9-995E-4513-B67E-B9BE7E7A28E5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Temas simulados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289ED87B-58A4-4CE6-8C1C-3AFEAEF28AFA}"/>
              </a:ext>
            </a:extLst>
          </p:cNvPr>
          <p:cNvSpPr>
            <a:spLocks noGrp="1"/>
          </p:cNvSpPr>
          <p:nvPr/>
        </p:nvSpPr>
        <p:spPr>
          <a:xfrm>
            <a:off x="295275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CE9CF1B-533C-42D3-917D-2FCE6FA34A4C}"/>
              </a:ext>
            </a:extLst>
          </p:cNvPr>
          <p:cNvSpPr>
            <a:spLocks noGrp="1"/>
          </p:cNvSpPr>
          <p:nvPr/>
        </p:nvSpPr>
        <p:spPr>
          <a:xfrm>
            <a:off x="3067050" y="239077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equipes acompanham todos os temas marcados como simuláveis na relação oficial Tema x Ação. A versão e a data dessa relação permanecem registradas para que mudanças na lista não alterem silenciosamente o escopo.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8C25634-7D13-4F33-A8E7-65FAA85201BB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074D338-DFE8-41A2-B37F-5C50BE0E120B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Pacotes coerentes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3349D6DD-B299-4BFB-B69D-D4C3BD2F98A8}"/>
              </a:ext>
            </a:extLst>
          </p:cNvPr>
          <p:cNvSpPr>
            <a:spLocks noGrp="1"/>
          </p:cNvSpPr>
          <p:nvPr/>
        </p:nvSpPr>
        <p:spPr>
          <a:xfrm>
            <a:off x="295275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73A9BF6-D13A-43F6-BCCA-276B743D84D7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Para cada tema, a equipe forma pacotes que representam decisões plausíveis e exclui combinações matematicamente possíveis sem significado operacional ou decisório.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CD910DA-4F91-4A0C-A328-A2823146EAF1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00A8007-C7E0-41F2-BF29-EA2DE1656B4C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Relações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59D6063E-9F28-41AE-A866-1C1F6A5907B0}"/>
              </a:ext>
            </a:extLst>
          </p:cNvPr>
          <p:cNvSpPr>
            <a:spLocks noGrp="1"/>
          </p:cNvSpPr>
          <p:nvPr/>
        </p:nvSpPr>
        <p:spPr>
          <a:xfrm>
            <a:off x="295275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572AD57-CDFF-45EC-8CD0-425D9304AEDA}"/>
              </a:ext>
            </a:extLst>
          </p:cNvPr>
          <p:cNvSpPr>
            <a:spLocks noGrp="1"/>
          </p:cNvSpPr>
          <p:nvPr/>
        </p:nvSpPr>
        <p:spPr>
          <a:xfrm>
            <a:off x="3067050" y="370522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projetos são classificados como exclusivos, necessários, concorrentes, complementares ou compartilhados, porque cada relação exige tratamento diferente na simulação e na FAP. A lâmina seguinte define essas categorias.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D938D37-E6FE-451F-AEE7-AEE659907C66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33B63E0-808E-4A06-B606-7AC15E7E2CD9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Horizonte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A878B52E-0A2E-4CB5-9B69-3AF6BB935F14}"/>
              </a:ext>
            </a:extLst>
          </p:cNvPr>
          <p:cNvSpPr>
            <a:spLocks noGrp="1"/>
          </p:cNvSpPr>
          <p:nvPr/>
        </p:nvSpPr>
        <p:spPr>
          <a:xfrm>
            <a:off x="295275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CD31142-0735-482E-924F-6974FBC7D1B4}"/>
              </a:ext>
            </a:extLst>
          </p:cNvPr>
          <p:cNvSpPr>
            <a:spLocks noGrp="1"/>
          </p:cNvSpPr>
          <p:nvPr/>
        </p:nvSpPr>
        <p:spPr>
          <a:xfrm>
            <a:off x="3067050" y="4362450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horizonte de entrada de cada projeto considera o momento em que o estrangulamento surge e pode antecedê-lo quando a implantação preventiva evitar que a restrição se torne crítica.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410A0E5-6D3F-4031-8584-94ABAE287B86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46B02C7-04E4-4105-AA11-5FA4BFD17301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3050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Referência comum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8D298169-67F9-4AB5-98BF-43B003C4B026}"/>
              </a:ext>
            </a:extLst>
          </p:cNvPr>
          <p:cNvSpPr>
            <a:spLocks noGrp="1"/>
          </p:cNvSpPr>
          <p:nvPr/>
        </p:nvSpPr>
        <p:spPr>
          <a:xfrm>
            <a:off x="295275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EB216E9-A385-40CF-9DB6-3CA2C44856E8}"/>
              </a:ext>
            </a:extLst>
          </p:cNvPr>
          <p:cNvSpPr>
            <a:spLocks noGrp="1"/>
          </p:cNvSpPr>
          <p:nvPr/>
        </p:nvSpPr>
        <p:spPr>
          <a:xfrm>
            <a:off x="3067050" y="5019675"/>
            <a:ext cx="8439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Todas as comparações incrementais utilizam o mesmo cenário sem o projeto, para que as diferenças possam ser atribuídas às alternativas testadas.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E477276-F54F-4A20-BB7F-33C0709C807F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2F37F8D-1AE9-4C7F-B99B-BDED2E9C3B91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coordenação cotidiana reduz o risco de interpretar um indicador fora do pacote, do cenário ou do horizonte correto.</a:t>
            </a:r>
          </a:p>
        </p:txBody>
      </p:sp>
    </p:spTree>
    <p:extLst>
      <p:ext uri="{BB962C8B-B14F-4D97-AF65-F5344CB8AC3E}">
        <p14:creationId xmlns:p14="http://schemas.microsoft.com/office/powerpoint/2010/main" val="12757531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68334E5A-0E63-4EEF-964D-1BF431BBAA59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93B7496-3594-4DCB-BB90-304D49241B8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DDCB99E-A0F9-4D00-9A18-017A319FB8DE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B11765C-0E37-4E64-9817-C680C3FB01AE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Relações entre projetos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7A703815-3FF3-428C-8B87-950647B379E0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85F3A27-62B1-49EB-9295-2E5F6885DE0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CEF6785-DF9F-4BEE-9144-1832C1DD0F6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A20DAF3-41ED-4FB1-83CE-534F7AC6D741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074"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categorias abaixo descrevem como os projetos devem ser combinados ou separados nos cenários. Elas não representam mérito, prioridade ou grau de maturidade.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D06347B-6158-44F4-9885-3D5A73D58999}"/>
              </a:ext>
            </a:extLst>
          </p:cNvPr>
          <p:cNvSpPr>
            <a:spLocks noGrp="1"/>
          </p:cNvSpPr>
          <p:nvPr/>
        </p:nvSpPr>
        <p:spPr>
          <a:xfrm>
            <a:off x="476250" y="224790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2D4FB69-5BA6-4FAE-A702-333B3D453CFE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Exclusivo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2FBF1CE-429F-4E32-8258-06A0609E1739}"/>
              </a:ext>
            </a:extLst>
          </p:cNvPr>
          <p:cNvSpPr>
            <a:spLocks noGrp="1"/>
          </p:cNvSpPr>
          <p:nvPr/>
        </p:nvSpPr>
        <p:spPr>
          <a:xfrm>
            <a:off x="2857500" y="231457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7FD780E-104B-4DBA-9549-B927A4EADE03}"/>
              </a:ext>
            </a:extLst>
          </p:cNvPr>
          <p:cNvSpPr>
            <a:spLocks noGrp="1"/>
          </p:cNvSpPr>
          <p:nvPr/>
        </p:nvSpPr>
        <p:spPr>
          <a:xfrm>
            <a:off x="2971800" y="2295525"/>
            <a:ext cx="853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tema possui uma única ação estruturante e, para a decisão analisada, o tema e o projeto correspondem ao mesmo objeto.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E2BF038-1666-45D4-9066-FF366C116183}"/>
              </a:ext>
            </a:extLst>
          </p:cNvPr>
          <p:cNvSpPr>
            <a:spLocks noGrp="1"/>
          </p:cNvSpPr>
          <p:nvPr/>
        </p:nvSpPr>
        <p:spPr>
          <a:xfrm>
            <a:off x="476250" y="293370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AC404A1-BD8F-4C27-978F-BCBC90F3BC49}"/>
              </a:ext>
            </a:extLst>
          </p:cNvPr>
          <p:cNvSpPr>
            <a:spLocks noGrp="1"/>
          </p:cNvSpPr>
          <p:nvPr/>
        </p:nvSpPr>
        <p:spPr>
          <a:xfrm>
            <a:off x="571500" y="29908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Necessário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153CAA05-219B-4EDE-95A8-A6328AB1221C}"/>
              </a:ext>
            </a:extLst>
          </p:cNvPr>
          <p:cNvSpPr>
            <a:spLocks noGrp="1"/>
          </p:cNvSpPr>
          <p:nvPr/>
        </p:nvSpPr>
        <p:spPr>
          <a:xfrm>
            <a:off x="2857500" y="300037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9FCE502-FFEB-4778-811A-A43CC8F99045}"/>
              </a:ext>
            </a:extLst>
          </p:cNvPr>
          <p:cNvSpPr>
            <a:spLocks noGrp="1"/>
          </p:cNvSpPr>
          <p:nvPr/>
        </p:nvSpPr>
        <p:spPr>
          <a:xfrm>
            <a:off x="2971800" y="2981325"/>
            <a:ext cx="853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projeto é um componente indispensável para que outra intervenção ou o pacote completo funcione; sua ausência altera a configuração e o efeito esperado.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981D4E2-7B10-4433-8EC5-313C63F015CF}"/>
              </a:ext>
            </a:extLst>
          </p:cNvPr>
          <p:cNvSpPr>
            <a:spLocks noGrp="1"/>
          </p:cNvSpPr>
          <p:nvPr/>
        </p:nvSpPr>
        <p:spPr>
          <a:xfrm>
            <a:off x="476250" y="361950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D728FC6-284F-4E8B-B928-F7A684A05F9A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Concorrente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E68EB6C9-361E-448C-8020-7BCEDFD096CE}"/>
              </a:ext>
            </a:extLst>
          </p:cNvPr>
          <p:cNvSpPr>
            <a:spLocks noGrp="1"/>
          </p:cNvSpPr>
          <p:nvPr/>
        </p:nvSpPr>
        <p:spPr>
          <a:xfrm>
            <a:off x="2857500" y="368617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BF13FBB-E126-4257-B272-2F7200181903}"/>
              </a:ext>
            </a:extLst>
          </p:cNvPr>
          <p:cNvSpPr>
            <a:spLocks noGrp="1"/>
          </p:cNvSpPr>
          <p:nvPr/>
        </p:nvSpPr>
        <p:spPr>
          <a:xfrm>
            <a:off x="2971800" y="3667125"/>
            <a:ext cx="853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Dois ou mais projetos oferecem respostas alternativas para a mesma função. O cenário seleciona uma alternativa ou outra, salvo quando a equipe justificar uma implantação combinada em horizontes diferentes.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7B90129-D342-4640-BC31-987025927C7A}"/>
              </a:ext>
            </a:extLst>
          </p:cNvPr>
          <p:cNvSpPr>
            <a:spLocks noGrp="1"/>
          </p:cNvSpPr>
          <p:nvPr/>
        </p:nvSpPr>
        <p:spPr>
          <a:xfrm>
            <a:off x="476250" y="430530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BA24741-1156-4EFD-9F04-579103C3BF1C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Complementar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B1806A29-959F-4FC1-89A0-A7A512C6693D}"/>
              </a:ext>
            </a:extLst>
          </p:cNvPr>
          <p:cNvSpPr>
            <a:spLocks noGrp="1"/>
          </p:cNvSpPr>
          <p:nvPr/>
        </p:nvSpPr>
        <p:spPr>
          <a:xfrm>
            <a:off x="2857500" y="437197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9555F65-76E7-484D-9195-DC62929E5D44}"/>
              </a:ext>
            </a:extLst>
          </p:cNvPr>
          <p:cNvSpPr>
            <a:spLocks noGrp="1"/>
          </p:cNvSpPr>
          <p:nvPr/>
        </p:nvSpPr>
        <p:spPr>
          <a:xfrm>
            <a:off x="2971800" y="4352925"/>
            <a:ext cx="853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Os projetos podem coexistir e o desempenho conjunto pode superar ou condicionar os efeitos isolados. A simulação registra o pacote e, quando possível, a contribuição incremental de cada componente.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F974B1F-3FCD-412F-B2EC-DEE8395183DB}"/>
              </a:ext>
            </a:extLst>
          </p:cNvPr>
          <p:cNvSpPr>
            <a:spLocks noGrp="1"/>
          </p:cNvSpPr>
          <p:nvPr/>
        </p:nvSpPr>
        <p:spPr>
          <a:xfrm>
            <a:off x="476250" y="499110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A2FEBFD-AF7F-49CA-B83E-56F036711B64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22098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Compartilhado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A88671C0-972C-49C5-A63A-EC82B97C6E5F}"/>
              </a:ext>
            </a:extLst>
          </p:cNvPr>
          <p:cNvSpPr>
            <a:spLocks noGrp="1"/>
          </p:cNvSpPr>
          <p:nvPr/>
        </p:nvSpPr>
        <p:spPr>
          <a:xfrm>
            <a:off x="2857500" y="5057775"/>
            <a:ext cx="0" cy="5143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D792A61-3974-4A42-8E7B-B46E929AA0B0}"/>
              </a:ext>
            </a:extLst>
          </p:cNvPr>
          <p:cNvSpPr>
            <a:spLocks noGrp="1"/>
          </p:cNvSpPr>
          <p:nvPr/>
        </p:nvSpPr>
        <p:spPr>
          <a:xfrm>
            <a:off x="2971800" y="5038725"/>
            <a:ext cx="8534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mesmo projeto atende a mais de um tema ou pacote. Ele mantém uma única identidade e uma única FAP, enquanto suas diferentes funções permanecem registradas nas relações.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1372D88-F9B4-47D2-B4B7-679B48E88E3E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2B23A26-3D18-415A-B695-DD2CBC7D4CB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3952"/>
          </a:bodyPr>
          <a:lstStyle/>
          <a:p>
            <a:pPr algn="l">
              <a:lnSpc>
                <a:spcPct val="105000"/>
              </a:lnSpc>
              <a:buNone/>
              <a:def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8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“Não simulável” não é uma relação entre projetos. É uma rota metodológica aplicada quando a natureza ou a escala da iniciativa não permite representação confiável no modelo.</a:t>
            </a:r>
          </a:p>
        </p:txBody>
      </p:sp>
    </p:spTree>
    <p:extLst>
      <p:ext uri="{BB962C8B-B14F-4D97-AF65-F5344CB8AC3E}">
        <p14:creationId xmlns:p14="http://schemas.microsoft.com/office/powerpoint/2010/main" val="16137563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92B92CE2-36BC-4D73-BA69-83FB8A7EAA7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5C03124-8641-4BC2-B10F-1F3B954BA143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663546-FFC2-4A8B-93FD-BC7142B56363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6260D3-C8A2-4D44-8E90-9D2029F0874F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Registro dos resultados de rede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D91B333B-85DD-4298-A364-5E4932F6B421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A2343E3-C3EC-4E80-88CC-5B4BBC01B93D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0F57090-8318-4DEE-9AFC-0271CFF0CFC0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C67B9B5-0A2A-46AA-9768-91F821CB62A9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Para os projetos efetivamente simulados, a FAP não recebe apenas um valor final. Ela preserva as condições que produziram cada resultado e explica como o indicador deve ser interpretado pelos produtos seguintes.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48E8E69-27AD-44EF-8801-2FC49E54DD7B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D66BDF0-6745-4126-88F4-4B8BA3D99AA0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Identificação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1C3ED52D-BD3B-4142-9801-3E501B7A05DF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75A1865-2402-4758-ACC4-BBD386EBBE2E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registra o cenário, o horizonte, a unidade de medida, a versão do modelo e a data de produção de cada resultado.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B9810A4-EA0C-48E7-9E02-D43C956087C2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32B0FF1-BF19-4526-8E1D-225ACC9874A7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Composição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F786ACFC-651A-4543-B914-2B485BE61C3E}"/>
              </a:ext>
            </a:extLst>
          </p:cNvPr>
          <p:cNvSpPr>
            <a:spLocks noGrp="1"/>
          </p:cNvSpPr>
          <p:nvPr/>
        </p:nvSpPr>
        <p:spPr>
          <a:xfrm>
            <a:off x="304800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82EFF58-83CB-4D45-9384-F1D455BDA736}"/>
              </a:ext>
            </a:extLst>
          </p:cNvPr>
          <p:cNvSpPr>
            <a:spLocks noGrp="1"/>
          </p:cNvSpPr>
          <p:nvPr/>
        </p:nvSpPr>
        <p:spPr>
          <a:xfrm>
            <a:off x="3162300" y="304800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a simulação representa um pacote, a FAP identifica todos os projetos que o compõem e não atribui automaticamente o efeito total a cada componente.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C4AF2C3-8E1F-43FD-A958-5CAC87086AA7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09701FF-9525-4837-88DB-EFD4AF81D2BF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Variação incremental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8AFDDB57-04E2-4675-938B-6867632D9650}"/>
              </a:ext>
            </a:extLst>
          </p:cNvPr>
          <p:cNvSpPr>
            <a:spLocks noGrp="1"/>
          </p:cNvSpPr>
          <p:nvPr/>
        </p:nvSpPr>
        <p:spPr>
          <a:xfrm>
            <a:off x="304800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757925B-CCCE-4D5B-A650-53808B0B7943}"/>
              </a:ext>
            </a:extLst>
          </p:cNvPr>
          <p:cNvSpPr>
            <a:spLocks noGrp="1"/>
          </p:cNvSpPr>
          <p:nvPr/>
        </p:nvSpPr>
        <p:spPr>
          <a:xfrm>
            <a:off x="3162300" y="370522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base apresenta os valores com e sem o projeto e calcula a diferença entre eles no mesmo horizonte e sob a mesma demanda.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2D2B7F0-CD9B-44C6-BE64-3690AC7EB35A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EBED0C9-A361-4671-A58C-014E7F4A20F2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Diagnóstico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79E9B59B-12E4-4286-B819-4A333DBF6844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983C256-C622-4A78-8235-986D461E57E0}"/>
              </a:ext>
            </a:extLst>
          </p:cNvPr>
          <p:cNvSpPr>
            <a:spLocks noGrp="1"/>
          </p:cNvSpPr>
          <p:nvPr/>
        </p:nvSpPr>
        <p:spPr>
          <a:xfrm>
            <a:off x="3162300" y="436245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registro distingue gargalos resolvidos, transferidos para outro trecho, criados pela intervenção ou ainda remanescentes após sua implantação.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97F7AEE-D08C-4E7B-8D80-BC816CE942C4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C0C167C-7849-4146-A477-9B058C61D45D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Limitações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FF19C80-24EF-4D8F-A39E-28C8E0CF9C07}"/>
              </a:ext>
            </a:extLst>
          </p:cNvPr>
          <p:cNvSpPr>
            <a:spLocks noGrp="1"/>
          </p:cNvSpPr>
          <p:nvPr/>
        </p:nvSpPr>
        <p:spPr>
          <a:xfrm>
            <a:off x="304800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4FB1EC4-D37F-4118-B182-7E86DE16FB8C}"/>
              </a:ext>
            </a:extLst>
          </p:cNvPr>
          <p:cNvSpPr>
            <a:spLocks noGrp="1"/>
          </p:cNvSpPr>
          <p:nvPr/>
        </p:nvSpPr>
        <p:spPr>
          <a:xfrm>
            <a:off x="3162300" y="50196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premissas críticas, o grau de confiança e a necessidade de novos testes permanecem explícitos, assim como a justificativa quando o projeto não for simulado.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658A5D1-EB2A-41AC-AFE8-4D01FB0195B9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9631BB4-CD3F-4306-AC38-751CB51F066F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rastreabilidade permite que D15, D16 e D17 utilizem o resultado sem perder as condições e as limitações da simulação.</a:t>
            </a:r>
          </a:p>
        </p:txBody>
      </p:sp>
    </p:spTree>
    <p:extLst>
      <p:ext uri="{BB962C8B-B14F-4D97-AF65-F5344CB8AC3E}">
        <p14:creationId xmlns:p14="http://schemas.microsoft.com/office/powerpoint/2010/main" val="18722499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7DF491B2-C7E9-4E80-BA94-F208262F74B8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F14EEC1-BB0D-4C89-923A-3DE9B5D141A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1CBF933-5241-40DB-99CE-F8E8FC0F8F2F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642F84-9804-480F-8AD0-83213DE8C119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Dados territoriais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4A68DC3-22D6-4E1E-AAB8-3FD281C8E0E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6857586-B164-4DE8-BFB4-91B36B261658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8FA20C-73D8-4BEA-A732-BABE1F5C55A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89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581EDD8-EB52-4396-B08D-6E5809B49DB7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3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3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Para os projetos com representação espacial e quando essa dimensão for aplicável, a base territorial utiliza uma geometria georreferenciada vinculada ao identificador da FAP e cruza sua localização com informações ambientais, climáticas, econômicas, sociais e operacionais.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4704383-EF57-4CC3-870F-369E1E3BB51F}"/>
              </a:ext>
            </a:extLst>
          </p:cNvPr>
          <p:cNvSpPr>
            <a:spLocks noGrp="1"/>
          </p:cNvSpPr>
          <p:nvPr/>
        </p:nvSpPr>
        <p:spPr>
          <a:xfrm>
            <a:off x="476250" y="240030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19C1641-A7C5-487B-9EB2-032FA8C11D4B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24479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Projetos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9255CFAA-12AA-481E-AA90-E786ACEA5102}"/>
              </a:ext>
            </a:extLst>
          </p:cNvPr>
          <p:cNvSpPr>
            <a:spLocks noGrp="1"/>
          </p:cNvSpPr>
          <p:nvPr/>
        </p:nvSpPr>
        <p:spPr>
          <a:xfrm>
            <a:off x="3095625" y="246697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67914C9-C76F-4462-BA20-D860DE3BAEBB}"/>
              </a:ext>
            </a:extLst>
          </p:cNvPr>
          <p:cNvSpPr>
            <a:spLocks noGrp="1"/>
          </p:cNvSpPr>
          <p:nvPr/>
        </p:nvSpPr>
        <p:spPr>
          <a:xfrm>
            <a:off x="3209925" y="2447925"/>
            <a:ext cx="829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carrega traçados, terminais e localizações para que todas as demais camadas possam ser relacionadas ao mesmo identificador da FAP.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D00F946-19CD-4816-9490-B1B8A346F471}"/>
              </a:ext>
            </a:extLst>
          </p:cNvPr>
          <p:cNvSpPr>
            <a:spLocks noGrp="1"/>
          </p:cNvSpPr>
          <p:nvPr/>
        </p:nvSpPr>
        <p:spPr>
          <a:xfrm>
            <a:off x="476250" y="304800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9307973-7761-4C03-A4D8-77B52514926B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24479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Território e serviços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039E921F-CF1B-4249-9066-B9DC28E3A028}"/>
              </a:ext>
            </a:extLst>
          </p:cNvPr>
          <p:cNvSpPr>
            <a:spLocks noGrp="1"/>
          </p:cNvSpPr>
          <p:nvPr/>
        </p:nvSpPr>
        <p:spPr>
          <a:xfrm>
            <a:off x="3095625" y="311467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3313052-1E4D-422A-8267-C820DD4EE162}"/>
              </a:ext>
            </a:extLst>
          </p:cNvPr>
          <p:cNvSpPr>
            <a:spLocks noGrp="1"/>
          </p:cNvSpPr>
          <p:nvPr/>
        </p:nvSpPr>
        <p:spPr>
          <a:xfrm>
            <a:off x="3209925" y="3095625"/>
            <a:ext cx="829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Limites municipais, divisões regionais, rede urbana e equipamentos públicos permitem identificar áreas atravessadas, atendidas ou potencialmente beneficiadas.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5FFC96A-7C66-43DF-ADFD-52BC7C0CD7D2}"/>
              </a:ext>
            </a:extLst>
          </p:cNvPr>
          <p:cNvSpPr>
            <a:spLocks noGrp="1"/>
          </p:cNvSpPr>
          <p:nvPr/>
        </p:nvSpPr>
        <p:spPr>
          <a:xfrm>
            <a:off x="476250" y="369570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4D59175-6F3A-4F0E-8607-C416B0CA3E38}"/>
              </a:ext>
            </a:extLst>
          </p:cNvPr>
          <p:cNvSpPr>
            <a:spLocks noGrp="1"/>
          </p:cNvSpPr>
          <p:nvPr/>
        </p:nvSpPr>
        <p:spPr>
          <a:xfrm>
            <a:off x="571500" y="3752850"/>
            <a:ext cx="24479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Ambiente e uso do solo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C8C81523-9C77-413B-B974-C20742805FE3}"/>
              </a:ext>
            </a:extLst>
          </p:cNvPr>
          <p:cNvSpPr>
            <a:spLocks noGrp="1"/>
          </p:cNvSpPr>
          <p:nvPr/>
        </p:nvSpPr>
        <p:spPr>
          <a:xfrm>
            <a:off x="3095625" y="376237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9E85901A-7C1C-488B-8B06-92BC612BD13A}"/>
              </a:ext>
            </a:extLst>
          </p:cNvPr>
          <p:cNvSpPr>
            <a:spLocks noGrp="1"/>
          </p:cNvSpPr>
          <p:nvPr/>
        </p:nvSpPr>
        <p:spPr>
          <a:xfrm>
            <a:off x="3209925" y="3743325"/>
            <a:ext cx="829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Unidades de conservação, mananciais, territórios tradicionais e uso do solo revelam restrições ambientais e conflitos potenciais.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2F770A3-F9B6-4BD0-AAC3-BBDA7EAF226F}"/>
              </a:ext>
            </a:extLst>
          </p:cNvPr>
          <p:cNvSpPr>
            <a:spLocks noGrp="1"/>
          </p:cNvSpPr>
          <p:nvPr/>
        </p:nvSpPr>
        <p:spPr>
          <a:xfrm>
            <a:off x="476250" y="434340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A66FBB7-48A4-48E5-9F18-5A8F340E27DF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24479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Economia e sociedade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E0B07F94-74A6-44D7-A064-0C4510F82A54}"/>
              </a:ext>
            </a:extLst>
          </p:cNvPr>
          <p:cNvSpPr>
            <a:spLocks noGrp="1"/>
          </p:cNvSpPr>
          <p:nvPr/>
        </p:nvSpPr>
        <p:spPr>
          <a:xfrm>
            <a:off x="3095625" y="441007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84F7E05-B629-4BFE-A3DE-5B3DA63E67F2}"/>
              </a:ext>
            </a:extLst>
          </p:cNvPr>
          <p:cNvSpPr>
            <a:spLocks noGrp="1"/>
          </p:cNvSpPr>
          <p:nvPr/>
        </p:nvSpPr>
        <p:spPr>
          <a:xfrm>
            <a:off x="3209925" y="4391025"/>
            <a:ext cx="829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Dados de renda, produção, emprego, estrutura setorial e vulnerabilidade social descrevem o contexto das áreas afetadas.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329D333-7538-47E5-8C6C-94C7748C7341}"/>
              </a:ext>
            </a:extLst>
          </p:cNvPr>
          <p:cNvSpPr>
            <a:spLocks noGrp="1"/>
          </p:cNvSpPr>
          <p:nvPr/>
        </p:nvSpPr>
        <p:spPr>
          <a:xfrm>
            <a:off x="476250" y="4991100"/>
            <a:ext cx="11144250" cy="609600"/>
          </a:xfrm>
          <a:prstGeom prst="roundRect">
            <a:avLst>
              <a:gd name="adj" fmla="val 625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D57EB6B-9842-4FBB-A8F9-8B9EB1957778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24479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Risco e operação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CD669B40-D886-43CB-8C6F-9CDA7F380425}"/>
              </a:ext>
            </a:extLst>
          </p:cNvPr>
          <p:cNvSpPr>
            <a:spLocks noGrp="1"/>
          </p:cNvSpPr>
          <p:nvPr/>
        </p:nvSpPr>
        <p:spPr>
          <a:xfrm>
            <a:off x="3095625" y="5057775"/>
            <a:ext cx="0" cy="47625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1C3BEF3-096B-4B24-976E-DD95896BA900}"/>
              </a:ext>
            </a:extLst>
          </p:cNvPr>
          <p:cNvSpPr>
            <a:spLocks noGrp="1"/>
          </p:cNvSpPr>
          <p:nvPr/>
        </p:nvSpPr>
        <p:spPr>
          <a:xfrm>
            <a:off x="3209925" y="5038725"/>
            <a:ext cx="82962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23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Mapas de incêndio, inundação, deslizamento, erosão, calor, exposição costeira e acidentes indicam ameaças que podem exigir adaptação ou ação de segurança.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E79A6CA-CFED-4073-88AA-AEBB3E9BCB65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F0C3BD24-EC74-4212-9867-03F339F805E3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As camadas mostram onde a equipe deve investigar uma relação. Elas não demonstram, sozinhas, que o projeto produzirá um impacto.</a:t>
            </a:r>
          </a:p>
        </p:txBody>
      </p:sp>
    </p:spTree>
    <p:extLst>
      <p:ext uri="{BB962C8B-B14F-4D97-AF65-F5344CB8AC3E}">
        <p14:creationId xmlns:p14="http://schemas.microsoft.com/office/powerpoint/2010/main" val="873919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12C6A198-C897-4AEC-B507-997639934EFB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6CFEE2A9-1E40-4392-B58E-5E411B1150A0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75D1B4-853C-4941-8711-AC07A5D525AA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72CBA8F-2DB3-4E60-B297-556C4A8EEC14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Interpretação dos mapas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B30A5139-39D7-4C06-83AF-7F52ED95D596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243D418-2ABA-462B-BEA3-E48FD578CFB2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8DCA89D-2762-46A6-B839-6209F5ACAD3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90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A1026E5-1711-47AA-909F-0F88593CED6D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mesma sobreposição espacial pode representar uma restrição legal, uma exposição potencial, uma área beneficiária ou apenas proximidade sem efeito relevante. A FAP precisa distinguir essas situações.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51B1E57-3FA1-4859-AC43-13CA3827965C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08458CD-A1AF-470D-93D5-46AABBF7635A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Identidade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15285447-6B6A-4369-B950-C3FD6E0B4365}"/>
              </a:ext>
            </a:extLst>
          </p:cNvPr>
          <p:cNvSpPr>
            <a:spLocks noGrp="1"/>
          </p:cNvSpPr>
          <p:nvPr/>
        </p:nvSpPr>
        <p:spPr>
          <a:xfrm>
            <a:off x="3048000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9FCF1DC-2442-440F-B5CF-9C735C96498D}"/>
              </a:ext>
            </a:extLst>
          </p:cNvPr>
          <p:cNvSpPr>
            <a:spLocks noGrp="1"/>
          </p:cNvSpPr>
          <p:nvPr/>
        </p:nvSpPr>
        <p:spPr>
          <a:xfrm>
            <a:off x="3162300" y="23907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Cada geometria utiliza o mesmo identificador do projeto registrado na FAP, para impedir que mapas e análises se refiram a versões diferentes.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236A902-A704-48DA-A691-A09838A0892C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DE66833-1C3C-406E-8B9B-1A8C210B51CE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Metadados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4D90D92E-225B-4F38-B36C-33D3338F9695}"/>
              </a:ext>
            </a:extLst>
          </p:cNvPr>
          <p:cNvSpPr>
            <a:spLocks noGrp="1"/>
          </p:cNvSpPr>
          <p:nvPr/>
        </p:nvSpPr>
        <p:spPr>
          <a:xfrm>
            <a:off x="3048000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A9F0462-026D-4EBC-9DC7-E4BD3076022F}"/>
              </a:ext>
            </a:extLst>
          </p:cNvPr>
          <p:cNvSpPr>
            <a:spLocks noGrp="1"/>
          </p:cNvSpPr>
          <p:nvPr/>
        </p:nvSpPr>
        <p:spPr>
          <a:xfrm>
            <a:off x="3162300" y="304800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base informa o sistema de coordenadas geográficas, a data, a escala, a entidade responsável e as limitações de cada camada.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DE33E84-05C6-410C-B531-BFD9BF6F0F4C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5248095-BBF6-41E5-9A74-CEE5AE60E82D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Tipo de relação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C7C5ECE0-629C-4B0F-8D06-2C56618DC092}"/>
              </a:ext>
            </a:extLst>
          </p:cNvPr>
          <p:cNvSpPr>
            <a:spLocks noGrp="1"/>
          </p:cNvSpPr>
          <p:nvPr/>
        </p:nvSpPr>
        <p:spPr>
          <a:xfrm>
            <a:off x="3048000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A6B014D-9BE1-42CE-9387-9B4A32259AD0}"/>
              </a:ext>
            </a:extLst>
          </p:cNvPr>
          <p:cNvSpPr>
            <a:spLocks noGrp="1"/>
          </p:cNvSpPr>
          <p:nvPr/>
        </p:nvSpPr>
        <p:spPr>
          <a:xfrm>
            <a:off x="3162300" y="370522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análise distingue interseção direta, simples proximidade, área efetivamente afetada e território potencialmente beneficiado.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7E83D00-B7A2-4603-8CCA-8D127B7024A9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8B0FEF6-4842-4676-91B6-1D6E919A891E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Disponibilidade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2D66B2DA-E18D-4136-BA63-397737B84DB2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D5F536D-80CB-4211-9628-F10E2AC04CF2}"/>
              </a:ext>
            </a:extLst>
          </p:cNvPr>
          <p:cNvSpPr>
            <a:spLocks noGrp="1"/>
          </p:cNvSpPr>
          <p:nvPr/>
        </p:nvSpPr>
        <p:spPr>
          <a:xfrm>
            <a:off x="3162300" y="4362450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5322"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a geometria aplicável ainda não estiver disponível, a FAP registra N/D, ou não disponível, e evita conclusões locais. Quando a dimensão territorial for incompatível com a natureza da ação, registra N/A, ou não aplicável, com justificativa.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61DAC6F-5CB5-4289-B11F-9232E5D5B7F3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7E4134F-921C-4202-A660-10F131483400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003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Validação temática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03995DB0-03D1-4456-9DC7-4F85700591CF}"/>
              </a:ext>
            </a:extLst>
          </p:cNvPr>
          <p:cNvSpPr>
            <a:spLocks noGrp="1"/>
          </p:cNvSpPr>
          <p:nvPr/>
        </p:nvSpPr>
        <p:spPr>
          <a:xfrm>
            <a:off x="3048000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EF4F0074-DB8D-4485-8041-7EC38E87DFE3}"/>
              </a:ext>
            </a:extLst>
          </p:cNvPr>
          <p:cNvSpPr>
            <a:spLocks noGrp="1"/>
          </p:cNvSpPr>
          <p:nvPr/>
        </p:nvSpPr>
        <p:spPr>
          <a:xfrm>
            <a:off x="3162300" y="5019675"/>
            <a:ext cx="83439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 especialista revisa o cruzamento antes que a equipe o apresente como restrição, risco, benefício ou impacto do projeto.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7081D768-A6D9-4565-975D-B5027569D1E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6C7E102-A353-43A8-AC20-C0CEDDD12AA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interpretação territorial exige mecanismo causal, escala apropriada e validação técnica, além da simples coincidência entre duas geometrias.</a:t>
            </a:r>
          </a:p>
        </p:txBody>
      </p:sp>
    </p:spTree>
    <p:extLst>
      <p:ext uri="{BB962C8B-B14F-4D97-AF65-F5344CB8AC3E}">
        <p14:creationId xmlns:p14="http://schemas.microsoft.com/office/powerpoint/2010/main" val="11836130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m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CCC54C4D-C08B-4484-9544-AAF80D8BCF1C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5" name="Imagem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72A9CB2-10DE-49F7-AB2E-FD9EB4D047E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7" name="Imagem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4A01437-BF3F-4C89-A69A-8EE03AE4E52B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1542936-10F9-460D-8332-74E9EB1DE018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Bases ambientais e socioeconômicas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C5CBD5B-85FD-434A-967B-77B18427100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076DB5D-ECFC-4A9F-AC30-5E80D68CA949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02AC8C-A57F-4CA9-965F-DE8C0E9CA0FB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91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F98E170-9E66-41B0-86CF-CB23B25948BD}"/>
              </a:ext>
            </a:extLst>
          </p:cNvPr>
          <p:cNvSpPr>
            <a:spLocks noGrp="1"/>
          </p:cNvSpPr>
          <p:nvPr/>
        </p:nvSpPr>
        <p:spPr>
          <a:xfrm>
            <a:off x="476250" y="1733550"/>
            <a:ext cx="11144250" cy="742950"/>
          </a:xfrm>
          <a:prstGeom prst="roundRect">
            <a:avLst>
              <a:gd name="adj" fmla="val 5128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02F5363-F8D0-453D-91CD-F0D607A6742B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2447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Método macroeconômico</a:t>
            </a:r>
          </a:p>
        </p:txBody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71007751-E806-480F-B764-1B0905AACE7C}"/>
              </a:ext>
            </a:extLst>
          </p:cNvPr>
          <p:cNvSpPr>
            <a:spLocks noGrp="1"/>
          </p:cNvSpPr>
          <p:nvPr/>
        </p:nvSpPr>
        <p:spPr>
          <a:xfrm>
            <a:off x="3095625" y="1800225"/>
            <a:ext cx="0" cy="6096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034A27B-7E29-40CD-864C-9461F8CBB61E}"/>
              </a:ext>
            </a:extLst>
          </p:cNvPr>
          <p:cNvSpPr>
            <a:spLocks noGrp="1"/>
          </p:cNvSpPr>
          <p:nvPr/>
        </p:nvSpPr>
        <p:spPr>
          <a:xfrm>
            <a:off x="3209925" y="1781175"/>
            <a:ext cx="8296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arcabouço já define como relacionar a intervenção aos efeitos diretos e indiretos, como testar a adicionalidade e como evitar dupla contagem.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2D48B75-4E14-4AE9-8155-517AC175A897}"/>
              </a:ext>
            </a:extLst>
          </p:cNvPr>
          <p:cNvSpPr>
            <a:spLocks noGrp="1"/>
          </p:cNvSpPr>
          <p:nvPr/>
        </p:nvSpPr>
        <p:spPr>
          <a:xfrm>
            <a:off x="476250" y="2514600"/>
            <a:ext cx="11144250" cy="742950"/>
          </a:xfrm>
          <a:prstGeom prst="roundRect">
            <a:avLst>
              <a:gd name="adj" fmla="val 5128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22CBAB0-B5D1-4678-B38F-03B8E3FC3616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447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Bibliografia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37ADF5B3-91F7-4AD2-811B-F3BFF7F09808}"/>
              </a:ext>
            </a:extLst>
          </p:cNvPr>
          <p:cNvSpPr>
            <a:spLocks noGrp="1"/>
          </p:cNvSpPr>
          <p:nvPr/>
        </p:nvSpPr>
        <p:spPr>
          <a:xfrm>
            <a:off x="3095625" y="2581275"/>
            <a:ext cx="0" cy="6096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74A31B7-63A1-4F97-8A8D-67F6475B302F}"/>
              </a:ext>
            </a:extLst>
          </p:cNvPr>
          <p:cNvSpPr>
            <a:spLocks noGrp="1"/>
          </p:cNvSpPr>
          <p:nvPr/>
        </p:nvSpPr>
        <p:spPr>
          <a:xfrm>
            <a:off x="3209925" y="2562225"/>
            <a:ext cx="8296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equipe organizou referências para análises econômicas, empresariais, trabalhistas, sociais, territoriais, ambientais, climáticas e de métodos de avaliação.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96750AA-05DB-4D87-8041-6ECABBF2974A}"/>
              </a:ext>
            </a:extLst>
          </p:cNvPr>
          <p:cNvSpPr>
            <a:spLocks noGrp="1"/>
          </p:cNvSpPr>
          <p:nvPr/>
        </p:nvSpPr>
        <p:spPr>
          <a:xfrm>
            <a:off x="476250" y="3295650"/>
            <a:ext cx="11144250" cy="742950"/>
          </a:xfrm>
          <a:prstGeom prst="roundRect">
            <a:avLst>
              <a:gd name="adj" fmla="val 5128"/>
            </a:avLst>
          </a:prstGeom>
          <a:solidFill>
            <a:srgbClr val="FFF2C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E3DE9B1-3CFA-45C7-A6F8-878991CD9BBD}"/>
              </a:ext>
            </a:extLst>
          </p:cNvPr>
          <p:cNvSpPr>
            <a:spLocks noGrp="1"/>
          </p:cNvSpPr>
          <p:nvPr/>
        </p:nvSpPr>
        <p:spPr>
          <a:xfrm>
            <a:off x="571500" y="3352800"/>
            <a:ext cx="2447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Emissões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A70040E8-EF54-4C3A-BBF8-136DD11125A5}"/>
              </a:ext>
            </a:extLst>
          </p:cNvPr>
          <p:cNvSpPr>
            <a:spLocks noGrp="1"/>
          </p:cNvSpPr>
          <p:nvPr/>
        </p:nvSpPr>
        <p:spPr>
          <a:xfrm>
            <a:off x="3095625" y="3362325"/>
            <a:ext cx="0" cy="6096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59795D9-785B-4F5C-BAEE-0C208940B00A}"/>
              </a:ext>
            </a:extLst>
          </p:cNvPr>
          <p:cNvSpPr>
            <a:spLocks noGrp="1"/>
          </p:cNvSpPr>
          <p:nvPr/>
        </p:nvSpPr>
        <p:spPr>
          <a:xfrm>
            <a:off x="3209925" y="3343275"/>
            <a:ext cx="8296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Já existe um protótipo de cálculo para ônibus sujeitos aos padrões Euro 5 e Euro 6 de controle de emissões veiculares e para ônibus elétricos. As curvas futuras dos demais modos ainda precisam ser desenvolvidas.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DA206769-3C32-4B02-AF79-09769060D0A1}"/>
              </a:ext>
            </a:extLst>
          </p:cNvPr>
          <p:cNvSpPr>
            <a:spLocks noGrp="1"/>
          </p:cNvSpPr>
          <p:nvPr/>
        </p:nvSpPr>
        <p:spPr>
          <a:xfrm>
            <a:off x="476250" y="4076700"/>
            <a:ext cx="11144250" cy="742950"/>
          </a:xfrm>
          <a:prstGeom prst="roundRect">
            <a:avLst>
              <a:gd name="adj" fmla="val 5128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0F38304-D738-4C7D-A74D-F4FA9C0F88ED}"/>
              </a:ext>
            </a:extLst>
          </p:cNvPr>
          <p:cNvSpPr>
            <a:spLocks noGrp="1"/>
          </p:cNvSpPr>
          <p:nvPr/>
        </p:nvSpPr>
        <p:spPr>
          <a:xfrm>
            <a:off x="571500" y="4133850"/>
            <a:ext cx="2447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Aplicação por projeto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42F06B1B-DB31-4A44-ACB7-E939188C21EB}"/>
              </a:ext>
            </a:extLst>
          </p:cNvPr>
          <p:cNvSpPr>
            <a:spLocks noGrp="1"/>
          </p:cNvSpPr>
          <p:nvPr/>
        </p:nvSpPr>
        <p:spPr>
          <a:xfrm>
            <a:off x="3095625" y="4143375"/>
            <a:ext cx="0" cy="6096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E6A6B65-C3A7-4826-BEA7-3EBD0A9BA01C}"/>
              </a:ext>
            </a:extLst>
          </p:cNvPr>
          <p:cNvSpPr>
            <a:spLocks noGrp="1"/>
          </p:cNvSpPr>
          <p:nvPr/>
        </p:nvSpPr>
        <p:spPr>
          <a:xfrm>
            <a:off x="3209925" y="4124325"/>
            <a:ext cx="8296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aplicação depende da consolidação da carteira, da disponibilidade dos traçados, dos resultados da rede e da definição de um cenário de referência comum.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ADFC1B6-7153-4C6D-BACD-4A2EA9B4BF3E}"/>
              </a:ext>
            </a:extLst>
          </p:cNvPr>
          <p:cNvSpPr>
            <a:spLocks noGrp="1"/>
          </p:cNvSpPr>
          <p:nvPr/>
        </p:nvSpPr>
        <p:spPr>
          <a:xfrm>
            <a:off x="476250" y="4857750"/>
            <a:ext cx="11144250" cy="742950"/>
          </a:xfrm>
          <a:prstGeom prst="roundRect">
            <a:avLst>
              <a:gd name="adj" fmla="val 5128"/>
            </a:avLst>
          </a:prstGeom>
          <a:solidFill>
            <a:srgbClr val="FCE4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D50229D-6DAB-44B1-9EA7-8EBF672E4F2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2447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Operacionalização</a:t>
            </a:r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2E7C85D2-645C-40D7-A8FB-36B17FA91EBB}"/>
              </a:ext>
            </a:extLst>
          </p:cNvPr>
          <p:cNvSpPr>
            <a:spLocks noGrp="1"/>
          </p:cNvSpPr>
          <p:nvPr/>
        </p:nvSpPr>
        <p:spPr>
          <a:xfrm>
            <a:off x="3095625" y="4924425"/>
            <a:ext cx="0" cy="60960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CA1102B-96E1-4B58-A83F-B16B5627B0F9}"/>
              </a:ext>
            </a:extLst>
          </p:cNvPr>
          <p:cNvSpPr>
            <a:spLocks noGrp="1"/>
          </p:cNvSpPr>
          <p:nvPr/>
        </p:nvSpPr>
        <p:spPr>
          <a:xfrm>
            <a:off x="3209925" y="4905375"/>
            <a:ext cx="82962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dicionário de dados, o livro-razão de impactos, as classes de qualidade da evidência e o protocolo de validação ainda estão sendo formalizados para uso uniforme.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1596C80-1DE2-424A-8698-7F235F285BA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0D9D54D-56F4-4C4E-8625-288772EB1E73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94391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arcabouço conceitual está definido, enquanto sua operacionalização e parte das bases permanecem em construção. A aplicação será calibrada projeto a projeto.</a:t>
            </a:r>
          </a:p>
        </p:txBody>
      </p:sp>
    </p:spTree>
    <p:extLst>
      <p:ext uri="{BB962C8B-B14F-4D97-AF65-F5344CB8AC3E}">
        <p14:creationId xmlns:p14="http://schemas.microsoft.com/office/powerpoint/2010/main" val="17018055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Imagem 9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5AC980ED-8E12-48C5-B8A1-180005C9407E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8" name="Imagem 9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3D3DF28-5F4B-4D06-9352-C1CB6A2DA19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100" name="Imagem 9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6C8C12A-FDED-447E-B38F-103BB0FCB518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8C84917-7F0D-4771-802A-A3892FCFA03D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Encadeamento em semanas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678436D-215C-460B-9DD0-81337E4DADF8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21D4FB-0B55-4447-85FC-AB02AA31DD01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186DD67-B090-4AA3-A493-05833BDCC828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92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3CFA9E-8D46-4B61-899D-9D36EA76BB88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729"/>
          </a:bodyPr>
          <a:lstStyle/>
          <a:p>
            <a:pPr algn="l">
              <a:lnSpc>
                <a:spcPct val="105000"/>
              </a:lnSpc>
              <a:buNone/>
              <a:defRPr sz="126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60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Este cronograma utiliza semanas relativas. A semana S1 começa quando a carteira inicial e as regras de registro forem validadas; as demais frentes avançam quando o modelo de rede e as geometrias alcançam estabilidade suficiente. As cores apenas distinguem as frentes e não indicam situação ou prioridade.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E22AD30-B32D-421F-954A-A60D44D545AD}"/>
              </a:ext>
            </a:extLst>
          </p:cNvPr>
          <p:cNvSpPr>
            <a:spLocks noGrp="1"/>
          </p:cNvSpPr>
          <p:nvPr/>
        </p:nvSpPr>
        <p:spPr>
          <a:xfrm>
            <a:off x="3381375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S1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2185C11-2294-464E-AB68-E89056B30A3A}"/>
              </a:ext>
            </a:extLst>
          </p:cNvPr>
          <p:cNvSpPr>
            <a:spLocks noGrp="1"/>
          </p:cNvSpPr>
          <p:nvPr/>
        </p:nvSpPr>
        <p:spPr>
          <a:xfrm>
            <a:off x="4133850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S2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CC8B8EA-8EC9-40BD-BFE2-57EF77FE1FBF}"/>
              </a:ext>
            </a:extLst>
          </p:cNvPr>
          <p:cNvSpPr>
            <a:spLocks noGrp="1"/>
          </p:cNvSpPr>
          <p:nvPr/>
        </p:nvSpPr>
        <p:spPr>
          <a:xfrm>
            <a:off x="4886325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S3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EA1AE8D-B3C8-4E09-8017-BCC5C7D1A76E}"/>
              </a:ext>
            </a:extLst>
          </p:cNvPr>
          <p:cNvSpPr>
            <a:spLocks noGrp="1"/>
          </p:cNvSpPr>
          <p:nvPr/>
        </p:nvSpPr>
        <p:spPr>
          <a:xfrm>
            <a:off x="5638800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S4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B39A3BC-705B-402F-AA40-4E15E9BB68DD}"/>
              </a:ext>
            </a:extLst>
          </p:cNvPr>
          <p:cNvSpPr>
            <a:spLocks noGrp="1"/>
          </p:cNvSpPr>
          <p:nvPr/>
        </p:nvSpPr>
        <p:spPr>
          <a:xfrm>
            <a:off x="6391275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S5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9CD53BF-119D-4BFD-979F-B7BA66440A79}"/>
              </a:ext>
            </a:extLst>
          </p:cNvPr>
          <p:cNvSpPr>
            <a:spLocks noGrp="1"/>
          </p:cNvSpPr>
          <p:nvPr/>
        </p:nvSpPr>
        <p:spPr>
          <a:xfrm>
            <a:off x="7143750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F51F843-632E-4018-A5B7-EC6D79B4C8FE}"/>
              </a:ext>
            </a:extLst>
          </p:cNvPr>
          <p:cNvSpPr>
            <a:spLocks noGrp="1"/>
          </p:cNvSpPr>
          <p:nvPr/>
        </p:nvSpPr>
        <p:spPr>
          <a:xfrm>
            <a:off x="7896225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S7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59F982F7-67C9-43DF-BE2A-2CF95C390D1A}"/>
              </a:ext>
            </a:extLst>
          </p:cNvPr>
          <p:cNvSpPr>
            <a:spLocks noGrp="1"/>
          </p:cNvSpPr>
          <p:nvPr/>
        </p:nvSpPr>
        <p:spPr>
          <a:xfrm>
            <a:off x="8648700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S8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B56C0FD-085B-438D-A948-8F82FC258EA2}"/>
              </a:ext>
            </a:extLst>
          </p:cNvPr>
          <p:cNvSpPr>
            <a:spLocks noGrp="1"/>
          </p:cNvSpPr>
          <p:nvPr/>
        </p:nvSpPr>
        <p:spPr>
          <a:xfrm>
            <a:off x="9401175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S9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BC5CDBF-932B-479C-8922-72798BE9B960}"/>
              </a:ext>
            </a:extLst>
          </p:cNvPr>
          <p:cNvSpPr>
            <a:spLocks noGrp="1"/>
          </p:cNvSpPr>
          <p:nvPr/>
        </p:nvSpPr>
        <p:spPr>
          <a:xfrm>
            <a:off x="10153650" y="2286000"/>
            <a:ext cx="723900" cy="28575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S10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E949F92-444A-498D-A96D-C374CF003EB6}"/>
              </a:ext>
            </a:extLst>
          </p:cNvPr>
          <p:cNvSpPr>
            <a:spLocks noGrp="1"/>
          </p:cNvSpPr>
          <p:nvPr/>
        </p:nvSpPr>
        <p:spPr>
          <a:xfrm>
            <a:off x="533400" y="27241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Conciliação cadastral e objeto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8310FAC-1F33-410A-87CC-401812A603AA}"/>
              </a:ext>
            </a:extLst>
          </p:cNvPr>
          <p:cNvSpPr>
            <a:spLocks noGrp="1"/>
          </p:cNvSpPr>
          <p:nvPr/>
        </p:nvSpPr>
        <p:spPr>
          <a:xfrm>
            <a:off x="3381375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8AEBEF2-7497-400B-A256-A2AA76106089}"/>
              </a:ext>
            </a:extLst>
          </p:cNvPr>
          <p:cNvSpPr>
            <a:spLocks noGrp="1"/>
          </p:cNvSpPr>
          <p:nvPr/>
        </p:nvSpPr>
        <p:spPr>
          <a:xfrm>
            <a:off x="4133850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2EBFE361-C109-4708-91E0-DDBC34A6B55A}"/>
              </a:ext>
            </a:extLst>
          </p:cNvPr>
          <p:cNvSpPr>
            <a:spLocks noGrp="1"/>
          </p:cNvSpPr>
          <p:nvPr/>
        </p:nvSpPr>
        <p:spPr>
          <a:xfrm>
            <a:off x="4886325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95CD03-1889-4B7D-992B-B3E47212499B}"/>
              </a:ext>
            </a:extLst>
          </p:cNvPr>
          <p:cNvSpPr>
            <a:spLocks noGrp="1"/>
          </p:cNvSpPr>
          <p:nvPr/>
        </p:nvSpPr>
        <p:spPr>
          <a:xfrm>
            <a:off x="5638800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33B4B98-B196-4848-A13F-B543F4E7BEE5}"/>
              </a:ext>
            </a:extLst>
          </p:cNvPr>
          <p:cNvSpPr>
            <a:spLocks noGrp="1"/>
          </p:cNvSpPr>
          <p:nvPr/>
        </p:nvSpPr>
        <p:spPr>
          <a:xfrm>
            <a:off x="6391275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4A0AC0B-8DC5-41E5-BA8D-243B3ED61074}"/>
              </a:ext>
            </a:extLst>
          </p:cNvPr>
          <p:cNvSpPr>
            <a:spLocks noGrp="1"/>
          </p:cNvSpPr>
          <p:nvPr/>
        </p:nvSpPr>
        <p:spPr>
          <a:xfrm>
            <a:off x="7143750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484E2BA-1BC9-4AB7-B4AA-D82C11F4ED3E}"/>
              </a:ext>
            </a:extLst>
          </p:cNvPr>
          <p:cNvSpPr>
            <a:spLocks noGrp="1"/>
          </p:cNvSpPr>
          <p:nvPr/>
        </p:nvSpPr>
        <p:spPr>
          <a:xfrm>
            <a:off x="7896225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244D9CB-B863-4C9F-8A6B-15065A0EBB0F}"/>
              </a:ext>
            </a:extLst>
          </p:cNvPr>
          <p:cNvSpPr>
            <a:spLocks noGrp="1"/>
          </p:cNvSpPr>
          <p:nvPr/>
        </p:nvSpPr>
        <p:spPr>
          <a:xfrm>
            <a:off x="8648700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3975599-6B3B-49DB-BC46-08B80396657C}"/>
              </a:ext>
            </a:extLst>
          </p:cNvPr>
          <p:cNvSpPr>
            <a:spLocks noGrp="1"/>
          </p:cNvSpPr>
          <p:nvPr/>
        </p:nvSpPr>
        <p:spPr>
          <a:xfrm>
            <a:off x="9401175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69A0D50-6565-4F6C-AC20-C24EA74E44B0}"/>
              </a:ext>
            </a:extLst>
          </p:cNvPr>
          <p:cNvSpPr>
            <a:spLocks noGrp="1"/>
          </p:cNvSpPr>
          <p:nvPr/>
        </p:nvSpPr>
        <p:spPr>
          <a:xfrm>
            <a:off x="10153650" y="27527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258B41D-5355-4E01-BE4F-10E9F3DAC4FA}"/>
              </a:ext>
            </a:extLst>
          </p:cNvPr>
          <p:cNvSpPr>
            <a:spLocks noGrp="1"/>
          </p:cNvSpPr>
          <p:nvPr/>
        </p:nvSpPr>
        <p:spPr>
          <a:xfrm>
            <a:off x="3381375" y="2752725"/>
            <a:ext cx="2228850" cy="304800"/>
          </a:xfrm>
          <a:prstGeom prst="roundRect">
            <a:avLst>
              <a:gd name="adj" fmla="val 125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74D1BBC-B04A-45E1-BCC9-F7A1F0BB7AB2}"/>
              </a:ext>
            </a:extLst>
          </p:cNvPr>
          <p:cNvSpPr>
            <a:spLocks noGrp="1"/>
          </p:cNvSpPr>
          <p:nvPr/>
        </p:nvSpPr>
        <p:spPr>
          <a:xfrm>
            <a:off x="533400" y="322897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Interface D12/D13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C15109A3-2829-4A8A-BDF2-066FD709F6D3}"/>
              </a:ext>
            </a:extLst>
          </p:cNvPr>
          <p:cNvSpPr>
            <a:spLocks noGrp="1"/>
          </p:cNvSpPr>
          <p:nvPr/>
        </p:nvSpPr>
        <p:spPr>
          <a:xfrm>
            <a:off x="3381375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B611B73F-C084-41C6-9BB8-471E4AF85094}"/>
              </a:ext>
            </a:extLst>
          </p:cNvPr>
          <p:cNvSpPr>
            <a:spLocks noGrp="1"/>
          </p:cNvSpPr>
          <p:nvPr/>
        </p:nvSpPr>
        <p:spPr>
          <a:xfrm>
            <a:off x="4133850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1C5BE9C-F1A9-4497-B95F-FF7D48577D63}"/>
              </a:ext>
            </a:extLst>
          </p:cNvPr>
          <p:cNvSpPr>
            <a:spLocks noGrp="1"/>
          </p:cNvSpPr>
          <p:nvPr/>
        </p:nvSpPr>
        <p:spPr>
          <a:xfrm>
            <a:off x="4886325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78992D4-5E3E-4F37-B1BB-84A8D180D04D}"/>
              </a:ext>
            </a:extLst>
          </p:cNvPr>
          <p:cNvSpPr>
            <a:spLocks noGrp="1"/>
          </p:cNvSpPr>
          <p:nvPr/>
        </p:nvSpPr>
        <p:spPr>
          <a:xfrm>
            <a:off x="5638800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94D2409-5685-4171-AC8C-3AB788BB5D5C}"/>
              </a:ext>
            </a:extLst>
          </p:cNvPr>
          <p:cNvSpPr>
            <a:spLocks noGrp="1"/>
          </p:cNvSpPr>
          <p:nvPr/>
        </p:nvSpPr>
        <p:spPr>
          <a:xfrm>
            <a:off x="6391275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0C91C723-148E-49F2-B1E9-CF1E57F61F90}"/>
              </a:ext>
            </a:extLst>
          </p:cNvPr>
          <p:cNvSpPr>
            <a:spLocks noGrp="1"/>
          </p:cNvSpPr>
          <p:nvPr/>
        </p:nvSpPr>
        <p:spPr>
          <a:xfrm>
            <a:off x="7143750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78C403A-E499-46F7-939A-FA6D709EA5AD}"/>
              </a:ext>
            </a:extLst>
          </p:cNvPr>
          <p:cNvSpPr>
            <a:spLocks noGrp="1"/>
          </p:cNvSpPr>
          <p:nvPr/>
        </p:nvSpPr>
        <p:spPr>
          <a:xfrm>
            <a:off x="7896225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6A634B0-5B0C-4548-AFFA-8E1D77095C1A}"/>
              </a:ext>
            </a:extLst>
          </p:cNvPr>
          <p:cNvSpPr>
            <a:spLocks noGrp="1"/>
          </p:cNvSpPr>
          <p:nvPr/>
        </p:nvSpPr>
        <p:spPr>
          <a:xfrm>
            <a:off x="8648700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449D5C8-6116-450C-874A-AB9192366E75}"/>
              </a:ext>
            </a:extLst>
          </p:cNvPr>
          <p:cNvSpPr>
            <a:spLocks noGrp="1"/>
          </p:cNvSpPr>
          <p:nvPr/>
        </p:nvSpPr>
        <p:spPr>
          <a:xfrm>
            <a:off x="9401175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8E5CF9F3-189E-425C-A38D-249912A6816D}"/>
              </a:ext>
            </a:extLst>
          </p:cNvPr>
          <p:cNvSpPr>
            <a:spLocks noGrp="1"/>
          </p:cNvSpPr>
          <p:nvPr/>
        </p:nvSpPr>
        <p:spPr>
          <a:xfrm>
            <a:off x="10153650" y="32575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B7DE7FA9-64F7-4D3C-9348-97DF3911F7C6}"/>
              </a:ext>
            </a:extLst>
          </p:cNvPr>
          <p:cNvSpPr>
            <a:spLocks noGrp="1"/>
          </p:cNvSpPr>
          <p:nvPr/>
        </p:nvSpPr>
        <p:spPr>
          <a:xfrm>
            <a:off x="3381375" y="3257550"/>
            <a:ext cx="5238750" cy="304800"/>
          </a:xfrm>
          <a:prstGeom prst="roundRect">
            <a:avLst>
              <a:gd name="adj" fmla="val 12500"/>
            </a:avLst>
          </a:prstGeom>
          <a:solidFill>
            <a:srgbClr val="263B6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4BE6FDE-A5A1-4A59-A879-34306E1A4592}"/>
              </a:ext>
            </a:extLst>
          </p:cNvPr>
          <p:cNvSpPr>
            <a:spLocks noGrp="1"/>
          </p:cNvSpPr>
          <p:nvPr/>
        </p:nvSpPr>
        <p:spPr>
          <a:xfrm>
            <a:off x="533400" y="37338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Geometrias e territorialidade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95A049CD-1067-429C-91F5-305EEB0397B3}"/>
              </a:ext>
            </a:extLst>
          </p:cNvPr>
          <p:cNvSpPr>
            <a:spLocks noGrp="1"/>
          </p:cNvSpPr>
          <p:nvPr/>
        </p:nvSpPr>
        <p:spPr>
          <a:xfrm>
            <a:off x="3381375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82371434-41FC-4923-A8A4-79F815C177F7}"/>
              </a:ext>
            </a:extLst>
          </p:cNvPr>
          <p:cNvSpPr>
            <a:spLocks noGrp="1"/>
          </p:cNvSpPr>
          <p:nvPr/>
        </p:nvSpPr>
        <p:spPr>
          <a:xfrm>
            <a:off x="4133850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B8C8DC52-7F01-4B72-97F0-C5BE1D3609BD}"/>
              </a:ext>
            </a:extLst>
          </p:cNvPr>
          <p:cNvSpPr>
            <a:spLocks noGrp="1"/>
          </p:cNvSpPr>
          <p:nvPr/>
        </p:nvSpPr>
        <p:spPr>
          <a:xfrm>
            <a:off x="4886325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324FAD4B-22E5-4CC0-B557-932EAF2DA3A4}"/>
              </a:ext>
            </a:extLst>
          </p:cNvPr>
          <p:cNvSpPr>
            <a:spLocks noGrp="1"/>
          </p:cNvSpPr>
          <p:nvPr/>
        </p:nvSpPr>
        <p:spPr>
          <a:xfrm>
            <a:off x="5638800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BFCE8EF4-8ED8-469A-8BC5-9EECCC7E4686}"/>
              </a:ext>
            </a:extLst>
          </p:cNvPr>
          <p:cNvSpPr>
            <a:spLocks noGrp="1"/>
          </p:cNvSpPr>
          <p:nvPr/>
        </p:nvSpPr>
        <p:spPr>
          <a:xfrm>
            <a:off x="6391275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BDEEC52D-9368-4920-A30B-2E50DB726530}"/>
              </a:ext>
            </a:extLst>
          </p:cNvPr>
          <p:cNvSpPr>
            <a:spLocks noGrp="1"/>
          </p:cNvSpPr>
          <p:nvPr/>
        </p:nvSpPr>
        <p:spPr>
          <a:xfrm>
            <a:off x="7143750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71AF61F9-F1C0-42F4-B114-7F5A123A053B}"/>
              </a:ext>
            </a:extLst>
          </p:cNvPr>
          <p:cNvSpPr>
            <a:spLocks noGrp="1"/>
          </p:cNvSpPr>
          <p:nvPr/>
        </p:nvSpPr>
        <p:spPr>
          <a:xfrm>
            <a:off x="7896225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F5CD5244-AD07-47EB-A85B-0B8030A338D5}"/>
              </a:ext>
            </a:extLst>
          </p:cNvPr>
          <p:cNvSpPr>
            <a:spLocks noGrp="1"/>
          </p:cNvSpPr>
          <p:nvPr/>
        </p:nvSpPr>
        <p:spPr>
          <a:xfrm>
            <a:off x="8648700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BE8C314B-5A3F-4B46-BEE4-B9D3FC04F49A}"/>
              </a:ext>
            </a:extLst>
          </p:cNvPr>
          <p:cNvSpPr>
            <a:spLocks noGrp="1"/>
          </p:cNvSpPr>
          <p:nvPr/>
        </p:nvSpPr>
        <p:spPr>
          <a:xfrm>
            <a:off x="9401175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D77CC108-4535-4967-AD89-D9512E14E04A}"/>
              </a:ext>
            </a:extLst>
          </p:cNvPr>
          <p:cNvSpPr>
            <a:spLocks noGrp="1"/>
          </p:cNvSpPr>
          <p:nvPr/>
        </p:nvSpPr>
        <p:spPr>
          <a:xfrm>
            <a:off x="10153650" y="376237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643826FD-53B8-421D-B1A4-D746E54911B6}"/>
              </a:ext>
            </a:extLst>
          </p:cNvPr>
          <p:cNvSpPr>
            <a:spLocks noGrp="1"/>
          </p:cNvSpPr>
          <p:nvPr/>
        </p:nvSpPr>
        <p:spPr>
          <a:xfrm>
            <a:off x="4133850" y="3762375"/>
            <a:ext cx="5238750" cy="304800"/>
          </a:xfrm>
          <a:prstGeom prst="roundRect">
            <a:avLst>
              <a:gd name="adj" fmla="val 12500"/>
            </a:avLst>
          </a:prstGeom>
          <a:solidFill>
            <a:srgbClr val="55B77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F8D85F9E-84A2-41DB-AFC3-B2E6EEE366D9}"/>
              </a:ext>
            </a:extLst>
          </p:cNvPr>
          <p:cNvSpPr>
            <a:spLocks noGrp="1"/>
          </p:cNvSpPr>
          <p:nvPr/>
        </p:nvSpPr>
        <p:spPr>
          <a:xfrm>
            <a:off x="533400" y="42386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Emissões e bases socioeconômicas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B8338FF-9614-437E-BE72-6D03641F225C}"/>
              </a:ext>
            </a:extLst>
          </p:cNvPr>
          <p:cNvSpPr>
            <a:spLocks noGrp="1"/>
          </p:cNvSpPr>
          <p:nvPr/>
        </p:nvSpPr>
        <p:spPr>
          <a:xfrm>
            <a:off x="3381375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CF54D9D-2B4C-4C86-BD38-E7ED980C5AE5}"/>
              </a:ext>
            </a:extLst>
          </p:cNvPr>
          <p:cNvSpPr>
            <a:spLocks noGrp="1"/>
          </p:cNvSpPr>
          <p:nvPr/>
        </p:nvSpPr>
        <p:spPr>
          <a:xfrm>
            <a:off x="4133850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EECC514-0F40-413D-934C-69DB214E014D}"/>
              </a:ext>
            </a:extLst>
          </p:cNvPr>
          <p:cNvSpPr>
            <a:spLocks noGrp="1"/>
          </p:cNvSpPr>
          <p:nvPr/>
        </p:nvSpPr>
        <p:spPr>
          <a:xfrm>
            <a:off x="4886325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9BCCFE03-942D-4C4E-AA5C-AEB5ACD69F1A}"/>
              </a:ext>
            </a:extLst>
          </p:cNvPr>
          <p:cNvSpPr>
            <a:spLocks noGrp="1"/>
          </p:cNvSpPr>
          <p:nvPr/>
        </p:nvSpPr>
        <p:spPr>
          <a:xfrm>
            <a:off x="5638800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12CB2A5-D229-4070-9267-2C11C3A79D11}"/>
              </a:ext>
            </a:extLst>
          </p:cNvPr>
          <p:cNvSpPr>
            <a:spLocks noGrp="1"/>
          </p:cNvSpPr>
          <p:nvPr/>
        </p:nvSpPr>
        <p:spPr>
          <a:xfrm>
            <a:off x="6391275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9DF103D5-A090-4CAB-AC5A-9F1A1CADE548}"/>
              </a:ext>
            </a:extLst>
          </p:cNvPr>
          <p:cNvSpPr>
            <a:spLocks noGrp="1"/>
          </p:cNvSpPr>
          <p:nvPr/>
        </p:nvSpPr>
        <p:spPr>
          <a:xfrm>
            <a:off x="7143750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0E9AB534-678C-4E6A-BE81-60AE9B59B33E}"/>
              </a:ext>
            </a:extLst>
          </p:cNvPr>
          <p:cNvSpPr>
            <a:spLocks noGrp="1"/>
          </p:cNvSpPr>
          <p:nvPr/>
        </p:nvSpPr>
        <p:spPr>
          <a:xfrm>
            <a:off x="7896225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A0712104-B39B-4600-90E2-6D02B4595522}"/>
              </a:ext>
            </a:extLst>
          </p:cNvPr>
          <p:cNvSpPr>
            <a:spLocks noGrp="1"/>
          </p:cNvSpPr>
          <p:nvPr/>
        </p:nvSpPr>
        <p:spPr>
          <a:xfrm>
            <a:off x="8648700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AAFE788C-D574-4D48-AD12-7CC6AB34DFA6}"/>
              </a:ext>
            </a:extLst>
          </p:cNvPr>
          <p:cNvSpPr>
            <a:spLocks noGrp="1"/>
          </p:cNvSpPr>
          <p:nvPr/>
        </p:nvSpPr>
        <p:spPr>
          <a:xfrm>
            <a:off x="9401175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14887AFB-6FD9-4785-BCFD-F578B03C1B84}"/>
              </a:ext>
            </a:extLst>
          </p:cNvPr>
          <p:cNvSpPr>
            <a:spLocks noGrp="1"/>
          </p:cNvSpPr>
          <p:nvPr/>
        </p:nvSpPr>
        <p:spPr>
          <a:xfrm>
            <a:off x="10153650" y="426720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5CC4B7D0-8988-48A6-B7E2-96260E597EA4}"/>
              </a:ext>
            </a:extLst>
          </p:cNvPr>
          <p:cNvSpPr>
            <a:spLocks noGrp="1"/>
          </p:cNvSpPr>
          <p:nvPr/>
        </p:nvSpPr>
        <p:spPr>
          <a:xfrm>
            <a:off x="4133850" y="4267200"/>
            <a:ext cx="5991225" cy="304800"/>
          </a:xfrm>
          <a:prstGeom prst="roundRect">
            <a:avLst>
              <a:gd name="adj" fmla="val 12500"/>
            </a:avLst>
          </a:prstGeom>
          <a:solidFill>
            <a:srgbClr val="7F8FA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B167E046-E92C-4F1B-B024-A676EFD79F2A}"/>
              </a:ext>
            </a:extLst>
          </p:cNvPr>
          <p:cNvSpPr>
            <a:spLocks noGrp="1"/>
          </p:cNvSpPr>
          <p:nvPr/>
        </p:nvSpPr>
        <p:spPr>
          <a:xfrm>
            <a:off x="533400" y="47434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8066"/>
          </a:bodyPr>
          <a:lstStyle/>
          <a:p>
            <a:pPr algn="l">
              <a:lnSpc>
                <a:spcPct val="105000"/>
              </a:lnSpc>
              <a:buNone/>
              <a:defRPr sz="1238" b="1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1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Preenchimento e revisão das FAPs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256C579A-12C1-49C7-97C8-D2BA1C017CDB}"/>
              </a:ext>
            </a:extLst>
          </p:cNvPr>
          <p:cNvSpPr>
            <a:spLocks noGrp="1"/>
          </p:cNvSpPr>
          <p:nvPr/>
        </p:nvSpPr>
        <p:spPr>
          <a:xfrm>
            <a:off x="3381375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9A8D3874-9835-4C70-ACCF-87405261998F}"/>
              </a:ext>
            </a:extLst>
          </p:cNvPr>
          <p:cNvSpPr>
            <a:spLocks noGrp="1"/>
          </p:cNvSpPr>
          <p:nvPr/>
        </p:nvSpPr>
        <p:spPr>
          <a:xfrm>
            <a:off x="4133850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1B9EDCD-E1F7-4628-A289-34367D762E8A}"/>
              </a:ext>
            </a:extLst>
          </p:cNvPr>
          <p:cNvSpPr>
            <a:spLocks noGrp="1"/>
          </p:cNvSpPr>
          <p:nvPr/>
        </p:nvSpPr>
        <p:spPr>
          <a:xfrm>
            <a:off x="4886325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59FDE609-2AE6-45DC-A345-5409842FB932}"/>
              </a:ext>
            </a:extLst>
          </p:cNvPr>
          <p:cNvSpPr>
            <a:spLocks noGrp="1"/>
          </p:cNvSpPr>
          <p:nvPr/>
        </p:nvSpPr>
        <p:spPr>
          <a:xfrm>
            <a:off x="5638800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F27560A5-8BBC-47AC-8935-F94A46AC4077}"/>
              </a:ext>
            </a:extLst>
          </p:cNvPr>
          <p:cNvSpPr>
            <a:spLocks noGrp="1"/>
          </p:cNvSpPr>
          <p:nvPr/>
        </p:nvSpPr>
        <p:spPr>
          <a:xfrm>
            <a:off x="6391275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3E39C7A6-10A3-4FE5-B7ED-4DD493804C70}"/>
              </a:ext>
            </a:extLst>
          </p:cNvPr>
          <p:cNvSpPr>
            <a:spLocks noGrp="1"/>
          </p:cNvSpPr>
          <p:nvPr/>
        </p:nvSpPr>
        <p:spPr>
          <a:xfrm>
            <a:off x="7143750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2EDE6A90-2D9F-4B0C-8022-C8A8588F276B}"/>
              </a:ext>
            </a:extLst>
          </p:cNvPr>
          <p:cNvSpPr>
            <a:spLocks noGrp="1"/>
          </p:cNvSpPr>
          <p:nvPr/>
        </p:nvSpPr>
        <p:spPr>
          <a:xfrm>
            <a:off x="7896225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A9477CAF-ECEA-4C8E-BEBE-BE61227ADECA}"/>
              </a:ext>
            </a:extLst>
          </p:cNvPr>
          <p:cNvSpPr>
            <a:spLocks noGrp="1"/>
          </p:cNvSpPr>
          <p:nvPr/>
        </p:nvSpPr>
        <p:spPr>
          <a:xfrm>
            <a:off x="8648700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2A6FDBA-D34E-4EED-88AC-108E4E270514}"/>
              </a:ext>
            </a:extLst>
          </p:cNvPr>
          <p:cNvSpPr>
            <a:spLocks noGrp="1"/>
          </p:cNvSpPr>
          <p:nvPr/>
        </p:nvSpPr>
        <p:spPr>
          <a:xfrm>
            <a:off x="9401175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936B6A62-3F30-427F-9AE6-376048D3EFDA}"/>
              </a:ext>
            </a:extLst>
          </p:cNvPr>
          <p:cNvSpPr>
            <a:spLocks noGrp="1"/>
          </p:cNvSpPr>
          <p:nvPr/>
        </p:nvSpPr>
        <p:spPr>
          <a:xfrm>
            <a:off x="10153650" y="4772025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B9F4F3E8-A9FD-47AF-9E19-2B7492AA900D}"/>
              </a:ext>
            </a:extLst>
          </p:cNvPr>
          <p:cNvSpPr>
            <a:spLocks noGrp="1"/>
          </p:cNvSpPr>
          <p:nvPr/>
        </p:nvSpPr>
        <p:spPr>
          <a:xfrm>
            <a:off x="4886325" y="4772025"/>
            <a:ext cx="5991225" cy="304800"/>
          </a:xfrm>
          <a:prstGeom prst="roundRect">
            <a:avLst>
              <a:gd name="adj" fmla="val 12500"/>
            </a:avLst>
          </a:prstGeom>
          <a:solidFill>
            <a:srgbClr val="1736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F739E0A9-249B-47DD-AF63-5578F14CB4F8}"/>
              </a:ext>
            </a:extLst>
          </p:cNvPr>
          <p:cNvSpPr>
            <a:spLocks noGrp="1"/>
          </p:cNvSpPr>
          <p:nvPr/>
        </p:nvSpPr>
        <p:spPr>
          <a:xfrm>
            <a:off x="533400" y="524827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72121"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Consolidação dos programas e interfaces D15–D17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3FE6F213-F4CF-4D9E-B6E9-5A13B6170D1F}"/>
              </a:ext>
            </a:extLst>
          </p:cNvPr>
          <p:cNvSpPr>
            <a:spLocks noGrp="1"/>
          </p:cNvSpPr>
          <p:nvPr/>
        </p:nvSpPr>
        <p:spPr>
          <a:xfrm>
            <a:off x="3381375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288F98DA-AAD4-4CBC-880B-4599202FB960}"/>
              </a:ext>
            </a:extLst>
          </p:cNvPr>
          <p:cNvSpPr>
            <a:spLocks noGrp="1"/>
          </p:cNvSpPr>
          <p:nvPr/>
        </p:nvSpPr>
        <p:spPr>
          <a:xfrm>
            <a:off x="4133850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F42989D7-072B-4DEE-B68E-6CF503CAE26E}"/>
              </a:ext>
            </a:extLst>
          </p:cNvPr>
          <p:cNvSpPr>
            <a:spLocks noGrp="1"/>
          </p:cNvSpPr>
          <p:nvPr/>
        </p:nvSpPr>
        <p:spPr>
          <a:xfrm>
            <a:off x="4886325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1A5189AF-930B-4497-B33D-123D117EB2EF}"/>
              </a:ext>
            </a:extLst>
          </p:cNvPr>
          <p:cNvSpPr>
            <a:spLocks noGrp="1"/>
          </p:cNvSpPr>
          <p:nvPr/>
        </p:nvSpPr>
        <p:spPr>
          <a:xfrm>
            <a:off x="5638800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94D0B699-7CF3-4687-8B5E-D887E54F0CCA}"/>
              </a:ext>
            </a:extLst>
          </p:cNvPr>
          <p:cNvSpPr>
            <a:spLocks noGrp="1"/>
          </p:cNvSpPr>
          <p:nvPr/>
        </p:nvSpPr>
        <p:spPr>
          <a:xfrm>
            <a:off x="6391275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DA30BB2C-42F2-46EB-9D7F-66F2FBD38C62}"/>
              </a:ext>
            </a:extLst>
          </p:cNvPr>
          <p:cNvSpPr>
            <a:spLocks noGrp="1"/>
          </p:cNvSpPr>
          <p:nvPr/>
        </p:nvSpPr>
        <p:spPr>
          <a:xfrm>
            <a:off x="7143750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82FCA195-66C9-470D-833C-0671BDA72273}"/>
              </a:ext>
            </a:extLst>
          </p:cNvPr>
          <p:cNvSpPr>
            <a:spLocks noGrp="1"/>
          </p:cNvSpPr>
          <p:nvPr/>
        </p:nvSpPr>
        <p:spPr>
          <a:xfrm>
            <a:off x="7896225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E0C77C03-E7D9-433C-B7DE-690D0853AD33}"/>
              </a:ext>
            </a:extLst>
          </p:cNvPr>
          <p:cNvSpPr>
            <a:spLocks noGrp="1"/>
          </p:cNvSpPr>
          <p:nvPr/>
        </p:nvSpPr>
        <p:spPr>
          <a:xfrm>
            <a:off x="8648700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6A123A46-0219-4325-B6C8-DDB092268D6E}"/>
              </a:ext>
            </a:extLst>
          </p:cNvPr>
          <p:cNvSpPr>
            <a:spLocks noGrp="1"/>
          </p:cNvSpPr>
          <p:nvPr/>
        </p:nvSpPr>
        <p:spPr>
          <a:xfrm>
            <a:off x="9401175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0422F0CE-4345-46F7-86A1-BB9095AF79DA}"/>
              </a:ext>
            </a:extLst>
          </p:cNvPr>
          <p:cNvSpPr>
            <a:spLocks noGrp="1"/>
          </p:cNvSpPr>
          <p:nvPr/>
        </p:nvSpPr>
        <p:spPr>
          <a:xfrm>
            <a:off x="10153650" y="5276850"/>
            <a:ext cx="723900" cy="30480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86AAE34F-042B-4714-B83A-C0950AD328D3}"/>
              </a:ext>
            </a:extLst>
          </p:cNvPr>
          <p:cNvSpPr>
            <a:spLocks noGrp="1"/>
          </p:cNvSpPr>
          <p:nvPr/>
        </p:nvSpPr>
        <p:spPr>
          <a:xfrm>
            <a:off x="7896225" y="5276850"/>
            <a:ext cx="2981325" cy="304800"/>
          </a:xfrm>
          <a:prstGeom prst="roundRect">
            <a:avLst>
              <a:gd name="adj" fmla="val 125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FEEDE273-2006-44E0-845E-05A341D001D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5" name="Retângulo 94">
            <a:extLst>
              <a:ext uri="{FF2B5EF4-FFF2-40B4-BE49-F238E27FC236}">
                <a16:creationId xmlns:a16="http://schemas.microsoft.com/office/drawing/2014/main" id="{F0C99AC3-78FB-4F2F-87E1-9913265CBB1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 fontScale="85573"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Como os insumos não amadurecem ao mesmo tempo, algumas FAPs poderão ser concluídas antes de outras sem alterar as dependências metodológicas representadas no gráfico.</a:t>
            </a:r>
          </a:p>
        </p:txBody>
      </p:sp>
    </p:spTree>
    <p:extLst>
      <p:ext uri="{BB962C8B-B14F-4D97-AF65-F5344CB8AC3E}">
        <p14:creationId xmlns:p14="http://schemas.microsoft.com/office/powerpoint/2010/main" val="12537234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16F4893F-2D3F-4F23-8536-A8EFFE96D241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C4C2A0B-C411-4DCD-9D49-994E520773B8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9EF7A12-4978-49B3-AFCA-8CF129D3A26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F1B93E2-06D3-4052-AE8D-4421A1FEC339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Papéis na validação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25A7845-980B-4D1B-8F26-2AC587433E1F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E4BEE46-B1E5-4963-8E30-6DAB075DAEEE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F150E7-BF7A-4147-8BDC-C075D007B46D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93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D5A732-FFDF-4233-A507-FA5543FE3C27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qualidade da FAP depende de responsabilidades explícitas. Cada grupo valida uma dimensão específica e registra sua decisão ou sua solicitação de complementação.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097E5C-50A3-403A-BA4D-1B5C936B643F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390900" cy="2428875"/>
          </a:xfrm>
          <a:prstGeom prst="roundRect">
            <a:avLst>
              <a:gd name="adj" fmla="val 3529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66CF386-F3A4-4B31-9B25-9ADC054EBCBC}"/>
              </a:ext>
            </a:extLst>
          </p:cNvPr>
          <p:cNvSpPr>
            <a:spLocks noGrp="1"/>
          </p:cNvSpPr>
          <p:nvPr/>
        </p:nvSpPr>
        <p:spPr>
          <a:xfrm>
            <a:off x="9715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2716C9B-16D3-4AD2-B740-6DD0DD7F3D18}"/>
              </a:ext>
            </a:extLst>
          </p:cNvPr>
          <p:cNvSpPr>
            <a:spLocks noGrp="1"/>
          </p:cNvSpPr>
          <p:nvPr/>
        </p:nvSpPr>
        <p:spPr>
          <a:xfrm>
            <a:off x="14097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Responsável pela FAP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6B242F0-40F6-433C-8AB6-6760244F8EC9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30861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Uma pessoa ou equipe controla as versões, reúne as contribuições e mantém a lista de pendências, solicitações de informação e entregas destinadas às demais equipes.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3BC8146-775F-4F0C-8302-FB7BCFEBFF3F}"/>
              </a:ext>
            </a:extLst>
          </p:cNvPr>
          <p:cNvSpPr>
            <a:spLocks noGrp="1"/>
          </p:cNvSpPr>
          <p:nvPr/>
        </p:nvSpPr>
        <p:spPr>
          <a:xfrm>
            <a:off x="4400550" y="2571750"/>
            <a:ext cx="3390900" cy="2428875"/>
          </a:xfrm>
          <a:prstGeom prst="roundRect">
            <a:avLst>
              <a:gd name="adj" fmla="val 3529"/>
            </a:avLst>
          </a:prstGeom>
          <a:solidFill>
            <a:srgbClr val="EFF3F8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63C8C18-9DD3-4A4B-8B8F-0CC2BB109676}"/>
              </a:ext>
            </a:extLst>
          </p:cNvPr>
          <p:cNvSpPr>
            <a:spLocks noGrp="1"/>
          </p:cNvSpPr>
          <p:nvPr/>
        </p:nvSpPr>
        <p:spPr>
          <a:xfrm>
            <a:off x="45148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18F9BFF-B837-49F1-BCAC-E48F6D6AF71B}"/>
              </a:ext>
            </a:extLst>
          </p:cNvPr>
          <p:cNvSpPr>
            <a:spLocks noGrp="1"/>
          </p:cNvSpPr>
          <p:nvPr/>
        </p:nvSpPr>
        <p:spPr>
          <a:xfrm>
            <a:off x="49530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Especialista do modal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789D2D4-2AD6-44DE-A88D-124941F0E517}"/>
              </a:ext>
            </a:extLst>
          </p:cNvPr>
          <p:cNvSpPr>
            <a:spLocks noGrp="1"/>
          </p:cNvSpPr>
          <p:nvPr/>
        </p:nvSpPr>
        <p:spPr>
          <a:xfrm>
            <a:off x="4552950" y="3105150"/>
            <a:ext cx="30861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especialista verifica se o escopo, a função logística, os indicadores e as relações técnicas foram interpretados corretamente.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67FB6C29-5235-4F95-8CCC-A9665369FDBE}"/>
              </a:ext>
            </a:extLst>
          </p:cNvPr>
          <p:cNvSpPr>
            <a:spLocks noGrp="1"/>
          </p:cNvSpPr>
          <p:nvPr/>
        </p:nvSpPr>
        <p:spPr>
          <a:xfrm>
            <a:off x="7943850" y="2571750"/>
            <a:ext cx="3390900" cy="2428875"/>
          </a:xfrm>
          <a:prstGeom prst="roundRect">
            <a:avLst>
              <a:gd name="adj" fmla="val 3529"/>
            </a:avLst>
          </a:prstGeom>
          <a:solidFill>
            <a:srgbClr val="F0F7EC"/>
          </a:solidFill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6482DB0-537D-40CF-87DB-73DE7883DF83}"/>
              </a:ext>
            </a:extLst>
          </p:cNvPr>
          <p:cNvSpPr>
            <a:spLocks noGrp="1"/>
          </p:cNvSpPr>
          <p:nvPr/>
        </p:nvSpPr>
        <p:spPr>
          <a:xfrm>
            <a:off x="8058150" y="26860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F7D5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FC9CC76-638D-43F2-840E-E68DA6CE79F3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272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88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Equipes transversais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51F0605-10A9-4102-8C2E-7B509B6599EC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086100" cy="1781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52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equipes revisam os campos territoriais, ambientais, climáticos, econômicos, sociais e institucionais aplicáveis ao projeto.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1B30CE5-DC80-4FC4-B778-229849E20323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584B8EA-D165-47EA-BF61-75C126A05996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validação distribuída evita que uma única equipe confirme informações que pertencem a especialidades diferentes.</a:t>
            </a:r>
          </a:p>
        </p:txBody>
      </p:sp>
    </p:spTree>
    <p:extLst>
      <p:ext uri="{BB962C8B-B14F-4D97-AF65-F5344CB8AC3E}">
        <p14:creationId xmlns:p14="http://schemas.microsoft.com/office/powerpoint/2010/main" val="20816662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3C2B32DD-6F53-400F-99D3-F58912C98BEA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144AE0F-E43D-48DF-AA49-3D219DB05EE1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A3B6A48-D509-4F62-B57E-B8FA39FAEF16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3A71889-FE73-4755-A1CD-C747AC6F1561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Fechamento e controle de mudanças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178282D-A438-4A99-B9A8-75E84ECF1732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676A104-85F8-4685-A83D-9BCB8E93FFFA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ECD4FD4-BB08-4A1C-8C11-8C5447296B0C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94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D58B33E-904E-4266-BC70-A82D6FCA9204}"/>
              </a:ext>
            </a:extLst>
          </p:cNvPr>
          <p:cNvSpPr>
            <a:spLocks noGrp="1"/>
          </p:cNvSpPr>
          <p:nvPr/>
        </p:nvSpPr>
        <p:spPr>
          <a:xfrm>
            <a:off x="523875" y="1609725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FAP somente pode ser considerada encerrada depois que as equipes verificam sua suficiência para os produtos seguintes e registram como tratarão as pendências remanescentes.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DF301A8-0BFA-4607-A767-6EB4234F464B}"/>
              </a:ext>
            </a:extLst>
          </p:cNvPr>
          <p:cNvSpPr>
            <a:spLocks noGrp="1"/>
          </p:cNvSpPr>
          <p:nvPr/>
        </p:nvSpPr>
        <p:spPr>
          <a:xfrm>
            <a:off x="476250" y="23431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C81372-5794-453D-8496-B28695163BCF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4479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Produtos seguintes</a:t>
            </a:r>
          </a:p>
        </p:txBody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89921A8-F414-4475-9526-4CB01B6625DF}"/>
              </a:ext>
            </a:extLst>
          </p:cNvPr>
          <p:cNvSpPr>
            <a:spLocks noGrp="1"/>
          </p:cNvSpPr>
          <p:nvPr/>
        </p:nvSpPr>
        <p:spPr>
          <a:xfrm>
            <a:off x="3095625" y="24098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CC24ABC-C32A-4A5C-9A83-C1D6EA41C179}"/>
              </a:ext>
            </a:extLst>
          </p:cNvPr>
          <p:cNvSpPr>
            <a:spLocks noGrp="1"/>
          </p:cNvSpPr>
          <p:nvPr/>
        </p:nvSpPr>
        <p:spPr>
          <a:xfrm>
            <a:off x="3209925" y="2390775"/>
            <a:ext cx="82962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As equipes dos Produtos D15, D16 e D17 verificam se a ficha fornece dados suficientes para seus cálculos e devolvem pedidos de complementação quando necessário.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4811922-D2F3-424E-B665-F6B70B74AE53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BEE500D-1745-4DB9-91A7-4B212039DA38}"/>
              </a:ext>
            </a:extLst>
          </p:cNvPr>
          <p:cNvSpPr>
            <a:spLocks noGrp="1"/>
          </p:cNvSpPr>
          <p:nvPr/>
        </p:nvSpPr>
        <p:spPr>
          <a:xfrm>
            <a:off x="571500" y="3057525"/>
            <a:ext cx="24479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Validação governamental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440F0C8A-1A6F-424F-BF9D-4D4A4E0EA58C}"/>
              </a:ext>
            </a:extLst>
          </p:cNvPr>
          <p:cNvSpPr>
            <a:spLocks noGrp="1"/>
          </p:cNvSpPr>
          <p:nvPr/>
        </p:nvSpPr>
        <p:spPr>
          <a:xfrm>
            <a:off x="3095625" y="306705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88AA703-6C3D-45F2-93F8-9BA4A9AC9876}"/>
              </a:ext>
            </a:extLst>
          </p:cNvPr>
          <p:cNvSpPr>
            <a:spLocks noGrp="1"/>
          </p:cNvSpPr>
          <p:nvPr/>
        </p:nvSpPr>
        <p:spPr>
          <a:xfrm>
            <a:off x="3209925" y="3048000"/>
            <a:ext cx="82962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Secretaria de Meio Ambiente, Infraestrutura e Logística valida os enquadramentos, define prioridades de aprofundamento e aprova a arquitetura programática.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9E36893-3A80-43F9-B884-249470533B30}"/>
              </a:ext>
            </a:extLst>
          </p:cNvPr>
          <p:cNvSpPr>
            <a:spLocks noGrp="1"/>
          </p:cNvSpPr>
          <p:nvPr/>
        </p:nvSpPr>
        <p:spPr>
          <a:xfrm>
            <a:off x="476250" y="365760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B97661B-0F53-49E6-8F49-1F9C93156150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4479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Alteração de escopo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1DDDF7AB-AA99-4951-BE58-D82C90025CFB}"/>
              </a:ext>
            </a:extLst>
          </p:cNvPr>
          <p:cNvSpPr>
            <a:spLocks noGrp="1"/>
          </p:cNvSpPr>
          <p:nvPr/>
        </p:nvSpPr>
        <p:spPr>
          <a:xfrm>
            <a:off x="3095625" y="372427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F3F1491-8FFC-448B-8AC7-9B4D0CE3103C}"/>
              </a:ext>
            </a:extLst>
          </p:cNvPr>
          <p:cNvSpPr>
            <a:spLocks noGrp="1"/>
          </p:cNvSpPr>
          <p:nvPr/>
        </p:nvSpPr>
        <p:spPr>
          <a:xfrm>
            <a:off x="3209925" y="3705225"/>
            <a:ext cx="82962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Toda alteração material de escopo, configuração ou hipótese operacional cria uma nova versão da FAP e preserva a descrição e os resultados associados à configuração anterior.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3C1BCC7F-2F91-4997-A498-CDCC49FE8A53}"/>
              </a:ext>
            </a:extLst>
          </p:cNvPr>
          <p:cNvSpPr>
            <a:spLocks noGrp="1"/>
          </p:cNvSpPr>
          <p:nvPr/>
        </p:nvSpPr>
        <p:spPr>
          <a:xfrm>
            <a:off x="476250" y="4314825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FFF7D81-DAAE-4CB7-BB5B-FF3C1AB0B6B5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24479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Divergência</a:t>
            </a:r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8557D88A-A053-4787-AE8F-14DACA8EFF8A}"/>
              </a:ext>
            </a:extLst>
          </p:cNvPr>
          <p:cNvSpPr>
            <a:spLocks noGrp="1"/>
          </p:cNvSpPr>
          <p:nvPr/>
        </p:nvSpPr>
        <p:spPr>
          <a:xfrm>
            <a:off x="3095625" y="4381500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A92F8FF-0055-4D40-8ABC-6811A9689513}"/>
              </a:ext>
            </a:extLst>
          </p:cNvPr>
          <p:cNvSpPr>
            <a:spLocks noGrp="1"/>
          </p:cNvSpPr>
          <p:nvPr/>
        </p:nvSpPr>
        <p:spPr>
          <a:xfrm>
            <a:off x="3209925" y="4362450"/>
            <a:ext cx="82962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as fontes divergem, a ficha preserva as versões conflitantes até que uma decisão formal indique qual informação deverá prevalecer.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1A60A1E-A18C-4A0C-8D15-51FD2621C9C0}"/>
              </a:ext>
            </a:extLst>
          </p:cNvPr>
          <p:cNvSpPr>
            <a:spLocks noGrp="1"/>
          </p:cNvSpPr>
          <p:nvPr/>
        </p:nvSpPr>
        <p:spPr>
          <a:xfrm>
            <a:off x="476250" y="4972050"/>
            <a:ext cx="11144250" cy="619125"/>
          </a:xfrm>
          <a:prstGeom prst="roundRect">
            <a:avLst>
              <a:gd name="adj" fmla="val 6154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436E8F4-E2B0-4C2F-8CD0-300E428BC668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244792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Critério de encerramento</a:t>
            </a:r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A9742E2B-7989-42A8-8D4E-91D3DD5D4C4D}"/>
              </a:ext>
            </a:extLst>
          </p:cNvPr>
          <p:cNvSpPr>
            <a:spLocks noGrp="1"/>
          </p:cNvSpPr>
          <p:nvPr/>
        </p:nvSpPr>
        <p:spPr>
          <a:xfrm>
            <a:off x="3095625" y="5038725"/>
            <a:ext cx="0" cy="485775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4139BA6-1099-4910-9A1E-E8E5CC873EC3}"/>
              </a:ext>
            </a:extLst>
          </p:cNvPr>
          <p:cNvSpPr>
            <a:spLocks noGrp="1"/>
          </p:cNvSpPr>
          <p:nvPr/>
        </p:nvSpPr>
        <p:spPr>
          <a:xfrm>
            <a:off x="3209925" y="5019675"/>
            <a:ext cx="82962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0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A ficha pode ser encerrada com lacunas documentadas quando cada lacuna possui responsável, encaminhamento e efeito sobre os produtos seguintes claramente registrados. Ausências sem tratamento impedem o encerramento.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8C4DE62-D562-4A1C-A72C-88C06378E881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5C43A86-DF3F-47AE-B8D0-18E00EBAA182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 governança protege a consistência da base e permite atualizar a carteira sem perder o histórico das decisões.</a:t>
            </a:r>
          </a:p>
        </p:txBody>
      </p:sp>
    </p:spTree>
    <p:extLst>
      <p:ext uri="{BB962C8B-B14F-4D97-AF65-F5344CB8AC3E}">
        <p14:creationId xmlns:p14="http://schemas.microsoft.com/office/powerpoint/2010/main" val="12982205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172915"/>
            <a:ext cx="1000125" cy="549519"/>
          </a:xfrm>
          <a:prstGeom prst="rect">
            <a:avLst/>
          </a:prstGeom>
        </p:spPr>
      </p:pic>
      <p:sp>
        <p:nvSpPr>
          <p:cNvPr id="2" name="Conector reto 1">
            <a:extLst>
              <a:ext uri="{FF2B5EF4-FFF2-40B4-BE49-F238E27FC236}">
                <a16:creationId xmlns:a16="http://schemas.microsoft.com/office/drawing/2014/main" id="{BD1F7B4A-FEED-4937-8E6E-100A1A4D7460}"/>
              </a:ext>
            </a:extLst>
          </p:cNvPr>
          <p:cNvSpPr>
            <a:spLocks noGrp="1"/>
          </p:cNvSpPr>
          <p:nvPr/>
        </p:nvSpPr>
        <p:spPr>
          <a:xfrm>
            <a:off x="1209675" y="180975"/>
            <a:ext cx="0" cy="552450"/>
          </a:xfrm>
          <a:prstGeom prst="line">
            <a:avLst/>
          </a:prstGeom>
          <a:noFill/>
          <a:ln w="9525">
            <a:solidFill>
              <a:srgbClr val="AAB4B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3025" y="309300"/>
            <a:ext cx="1381125" cy="2386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F6F5BA2-6281-41F6-A4EC-481DFABFBD46}"/>
              </a:ext>
            </a:extLst>
          </p:cNvPr>
          <p:cNvSpPr>
            <a:spLocks noGrp="1"/>
          </p:cNvSpPr>
          <p:nvPr/>
        </p:nvSpPr>
        <p:spPr>
          <a:xfrm>
            <a:off x="5905500" y="228600"/>
            <a:ext cx="542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 fontScale="82573"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GOVERNO DO ESTADO DE SÃO PAULO | SECRETARIA DE MEIO AMBIENTE, INFRAESTRUTURA E LOGÍSTICA</a:t>
            </a:r>
          </a:p>
        </p:txBody>
      </p:sp>
      <p:pic>
        <p:nvPicPr>
          <p:cNvPr id="30" name="Imagem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382375" y="95453"/>
            <a:ext cx="533400" cy="59014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C8AB73B-A2B2-41B0-9710-7D4EEC87B527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NOTA TÉCNICA · PRODUTO D14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DDE78AC-952E-4CB1-8B4D-67F7620C7B9A}"/>
              </a:ext>
            </a:extLst>
          </p:cNvPr>
          <p:cNvSpPr>
            <a:spLocks noGrp="1"/>
          </p:cNvSpPr>
          <p:nvPr/>
        </p:nvSpPr>
        <p:spPr>
          <a:xfrm>
            <a:off x="285750" y="1000125"/>
            <a:ext cx="11572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55B77D"/>
                </a:solidFill>
                <a:latin typeface="Nimbus Sans"/>
                <a:ea typeface="Nimbus Sans"/>
                <a:cs typeface="Nimbus Sans"/>
              </a:rPr>
              <a:t>Resultado esperado</a:t>
            </a:r>
          </a:p>
        </p:txBody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CE655405-1659-41B7-869A-13FA5202F71E}"/>
              </a:ext>
            </a:extLst>
          </p:cNvPr>
          <p:cNvSpPr>
            <a:spLocks noGrp="1"/>
          </p:cNvSpPr>
          <p:nvPr/>
        </p:nvSpPr>
        <p:spPr>
          <a:xfrm>
            <a:off x="285750" y="1457325"/>
            <a:ext cx="11525250" cy="0"/>
          </a:xfrm>
          <a:prstGeom prst="line">
            <a:avLst/>
          </a:prstGeom>
          <a:noFill/>
          <a:ln w="1905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906D16A-950F-47E3-BE0C-9C1273CFE2F5}"/>
              </a:ext>
            </a:extLst>
          </p:cNvPr>
          <p:cNvSpPr>
            <a:spLocks noGrp="1"/>
          </p:cNvSpPr>
          <p:nvPr/>
        </p:nvSpPr>
        <p:spPr>
          <a:xfrm>
            <a:off x="10382250" y="65532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PLI-SP 2050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DA387E7-5394-46EB-B593-E95C0C873542}"/>
              </a:ext>
            </a:extLst>
          </p:cNvPr>
          <p:cNvSpPr>
            <a:spLocks noGrp="1"/>
          </p:cNvSpPr>
          <p:nvPr/>
        </p:nvSpPr>
        <p:spPr>
          <a:xfrm>
            <a:off x="11525250" y="65532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0" rIns="9525" bIns="0" anchor="ctr">
            <a:normAutofit/>
          </a:bodyPr>
          <a:lstStyle/>
          <a:p>
            <a:pPr algn="r">
              <a:lnSpc>
                <a:spcPct val="105000"/>
              </a:lnSpc>
              <a:buNone/>
              <a:def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95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7347E78-F6C0-46D5-9558-3AA8E3CBC3C6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990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354"/>
          </a:bodyPr>
          <a:lstStyle/>
          <a:p>
            <a:pPr algn="ctr">
              <a:lnSpc>
                <a:spcPct val="105000"/>
              </a:lnSpc>
              <a:buNone/>
              <a:defRPr sz="18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Ao final do D14, cada projeto ou ação mantido na carteira após a triagem preliminar do D11 deverá possuir uma identidade estável, uma FAP compatível com sua natureza e uma posição explícita na arquitetura dos Programas de Estado.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111ADBB-0663-4FA1-A6C1-45673A6E3C9C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10096500" cy="914400"/>
          </a:xfrm>
          <a:prstGeom prst="roundRect">
            <a:avLst>
              <a:gd name="adj" fmla="val 7292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04E6C23-8EE9-4806-87F2-209EFC00C841}"/>
              </a:ext>
            </a:extLst>
          </p:cNvPr>
          <p:cNvSpPr>
            <a:spLocks noGrp="1"/>
          </p:cNvSpPr>
          <p:nvPr/>
        </p:nvSpPr>
        <p:spPr>
          <a:xfrm>
            <a:off x="1181100" y="3162300"/>
            <a:ext cx="1143000" cy="6858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16E5B5F-348A-486F-8C69-439603AC06CD}"/>
              </a:ext>
            </a:extLst>
          </p:cNvPr>
          <p:cNvSpPr>
            <a:spLocks noGrp="1"/>
          </p:cNvSpPr>
          <p:nvPr/>
        </p:nvSpPr>
        <p:spPr>
          <a:xfrm>
            <a:off x="2476500" y="3133725"/>
            <a:ext cx="849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Base pronta para custos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05ED2B3-5E9C-4944-BA14-6209CBCB777D}"/>
              </a:ext>
            </a:extLst>
          </p:cNvPr>
          <p:cNvSpPr>
            <a:spLocks noGrp="1"/>
          </p:cNvSpPr>
          <p:nvPr/>
        </p:nvSpPr>
        <p:spPr>
          <a:xfrm>
            <a:off x="2476500" y="3438525"/>
            <a:ext cx="8496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Quando o D14 estabilizar o escopo, os componentes, as fases, os riscos e as hipóteses operacionais, o D15 poderá estimar investimentos, custos de operação e desembolsos.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7FDB891-CCB3-404D-9EC5-EA6F24721BCE}"/>
              </a:ext>
            </a:extLst>
          </p:cNvPr>
          <p:cNvSpPr>
            <a:spLocks noGrp="1"/>
          </p:cNvSpPr>
          <p:nvPr/>
        </p:nvSpPr>
        <p:spPr>
          <a:xfrm>
            <a:off x="1047750" y="4057650"/>
            <a:ext cx="10096500" cy="914400"/>
          </a:xfrm>
          <a:prstGeom prst="roundRect">
            <a:avLst>
              <a:gd name="adj" fmla="val 7292"/>
            </a:avLst>
          </a:prstGeom>
          <a:solidFill>
            <a:srgbClr val="EFF3F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975F106-6100-4294-93E4-48E0D36397BA}"/>
              </a:ext>
            </a:extLst>
          </p:cNvPr>
          <p:cNvSpPr>
            <a:spLocks noGrp="1"/>
          </p:cNvSpPr>
          <p:nvPr/>
        </p:nvSpPr>
        <p:spPr>
          <a:xfrm>
            <a:off x="1181100" y="4171950"/>
            <a:ext cx="1143000" cy="6858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6DE2626-5DB5-47B3-8E46-7A0B50DA4119}"/>
              </a:ext>
            </a:extLst>
          </p:cNvPr>
          <p:cNvSpPr>
            <a:spLocks noGrp="1"/>
          </p:cNvSpPr>
          <p:nvPr/>
        </p:nvSpPr>
        <p:spPr>
          <a:xfrm>
            <a:off x="2476500" y="4143375"/>
            <a:ext cx="849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Base pronta para benefícios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304EC6A-6BAD-49E9-9313-71BDF5BE7819}"/>
              </a:ext>
            </a:extLst>
          </p:cNvPr>
          <p:cNvSpPr>
            <a:spLocks noGrp="1"/>
          </p:cNvSpPr>
          <p:nvPr/>
        </p:nvSpPr>
        <p:spPr>
          <a:xfrm>
            <a:off x="2476500" y="4448175"/>
            <a:ext cx="8496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D16 combinará os efeitos técnicos e os beneficiários documentados no D14 com os custos fornecidos pelo D15. A partir de um cenário de referência comum, estimará benefícios socioeconômicos e explicitará as incertezas.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06EF50C9-8FAB-4828-A238-C8AB824CF25A}"/>
              </a:ext>
            </a:extLst>
          </p:cNvPr>
          <p:cNvSpPr>
            <a:spLocks noGrp="1"/>
          </p:cNvSpPr>
          <p:nvPr/>
        </p:nvSpPr>
        <p:spPr>
          <a:xfrm>
            <a:off x="1047750" y="5067300"/>
            <a:ext cx="10096500" cy="914400"/>
          </a:xfrm>
          <a:prstGeom prst="roundRect">
            <a:avLst>
              <a:gd name="adj" fmla="val 7292"/>
            </a:avLst>
          </a:prstGeom>
          <a:solidFill>
            <a:srgbClr val="EEF1F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253F102-358B-414A-941D-B9870F27679F}"/>
              </a:ext>
            </a:extLst>
          </p:cNvPr>
          <p:cNvSpPr>
            <a:spLocks noGrp="1"/>
          </p:cNvSpPr>
          <p:nvPr/>
        </p:nvSpPr>
        <p:spPr>
          <a:xfrm>
            <a:off x="1181100" y="5181600"/>
            <a:ext cx="1143000" cy="6858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2F7D58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443D8B8-EF41-47A6-BF17-FCFD872F115F}"/>
              </a:ext>
            </a:extLst>
          </p:cNvPr>
          <p:cNvSpPr>
            <a:spLocks noGrp="1"/>
          </p:cNvSpPr>
          <p:nvPr/>
        </p:nvSpPr>
        <p:spPr>
          <a:xfrm>
            <a:off x="2476500" y="5153025"/>
            <a:ext cx="849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Base pronta para priorização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4413DC4-4DBE-4BAD-8E17-41B6F35385AA}"/>
              </a:ext>
            </a:extLst>
          </p:cNvPr>
          <p:cNvSpPr>
            <a:spLocks noGrp="1"/>
          </p:cNvSpPr>
          <p:nvPr/>
        </p:nvSpPr>
        <p:spPr>
          <a:xfrm>
            <a:off x="2476500" y="5457825"/>
            <a:ext cx="84963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defRPr>
            </a:pPr>
            <a:r>
              <a:rPr sz="1238" b="0" i="0">
                <a:solidFill>
                  <a:srgbClr val="263238"/>
                </a:solidFill>
                <a:latin typeface="Nimbus Sans"/>
                <a:ea typeface="Nimbus Sans"/>
                <a:cs typeface="Nimbus Sans"/>
              </a:rPr>
              <a:t>O D17 utilizará a FAP, as estimativas do D15 e os resultados do D16 para comparar soluções dentro de cada programa. A priorização não dependerá de uma nota global produzida pelo D14.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26DA3B4C-2335-4C02-BED3-FD02D737B5D7}"/>
              </a:ext>
            </a:extLst>
          </p:cNvPr>
          <p:cNvSpPr>
            <a:spLocks noGrp="1"/>
          </p:cNvSpPr>
          <p:nvPr/>
        </p:nvSpPr>
        <p:spPr>
          <a:xfrm>
            <a:off x="285750" y="6000750"/>
            <a:ext cx="11525250" cy="447675"/>
          </a:xfrm>
          <a:prstGeom prst="roundRect">
            <a:avLst>
              <a:gd name="adj" fmla="val 12766"/>
            </a:avLst>
          </a:prstGeom>
          <a:solidFill>
            <a:srgbClr val="F0F7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E1A0637-766E-44DF-B7DD-54689DF53BB0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11163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263B63"/>
                </a:solidFill>
                <a:latin typeface="Nimbus Sans"/>
                <a:ea typeface="Nimbus Sans"/>
                <a:cs typeface="Nimbus Sans"/>
              </a:rPr>
              <a:t>O D14 encerra a etapa de qualificação da carteira e cria uma referência única para as decisões posteriores.</a:t>
            </a:r>
          </a:p>
        </p:txBody>
      </p:sp>
    </p:spTree>
    <p:extLst>
      <p:ext uri="{BB962C8B-B14F-4D97-AF65-F5344CB8AC3E}">
        <p14:creationId xmlns:p14="http://schemas.microsoft.com/office/powerpoint/2010/main" val="2760241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19247</Words>
  <Application>Microsoft Office PowerPoint</Application>
  <DocSecurity>0</DocSecurity>
  <PresentationFormat>Widescreen</PresentationFormat>
  <Paragraphs>1517</Paragraphs>
  <Slides>94</Slides>
  <Notes>94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94</vt:i4>
      </vt:variant>
    </vt:vector>
  </HeadingPairs>
  <TitlesOfParts>
    <vt:vector size="97" baseType="lpstr">
      <vt:lpstr>Aptos</vt:lpstr>
      <vt:lpstr>Nimbus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Fernando Fleury</cp:lastModifiedBy>
  <cp:revision>1</cp:revision>
  <dcterms:created xsi:type="dcterms:W3CDTF">2026-10-02T16:16:21Z</dcterms:created>
  <dcterms:modified xsi:type="dcterms:W3CDTF">2026-10-02T16:31:49Z</dcterms:modified>
</cp:coreProperties>
</file>