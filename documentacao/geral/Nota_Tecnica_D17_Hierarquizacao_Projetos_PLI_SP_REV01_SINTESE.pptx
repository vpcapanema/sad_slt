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51" r:id="rId2"/>
    <p:sldMasterId id="2147483652" r:id="rId3"/>
    <p:sldMasterId id="2147483653" r:id="rId4"/>
  </p:sldMasterIdLst>
  <p:notesMasterIdLst>
    <p:notesMasterId r:id="rId1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73" r:id="rId13"/>
  </p:sldIdLst>
  <p:sldSz cx="12192000" cy="6858000"/>
  <p:notesSz cx="6858000" cy="9144000"/>
  <p:embeddedFontLst>
    <p:embeddedFont>
      <p:font typeface="Montserrat" panose="00000500000000000000" pitchFamily="2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Fontes internas do PLI-SP.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Fonte: Matriz Fases V2 e arquitetura do D17.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Fonte: Matriz Fases V2, Amorim e arquitetura do D17.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Fonte: Matriz V2.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Fonte: Matriz Fases V2, Paper Comparativo e Amorim.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Fonte: D17 e Saaty.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Fonte: Operacionalização do D17 e Amorim.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Fonte: D17.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r>
              <a:t>[Sources]</a:t>
            </a:r>
          </a:p>
          <a:p>
            <a:pPr indent="0" algn="l">
              <a:buNone/>
            </a:pPr>
            <a:r>
              <a:t>- Estimativa operacional para o PLI-SP, compatível com o Plano de Ação REV00.</a:t>
            </a:r>
          </a:p>
          <a:p>
            <a:pPr indent="0" algn="l"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>
            <a:extLst>
              <a:ext uri="{FF2B5EF4-FFF2-40B4-BE49-F238E27FC236}">
                <a16:creationId xmlns:a16="http://schemas.microsoft.com/office/drawing/2014/main" id="{1471FCFC-FDC8-4736-B0C0-892A1BC6F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endParaRPr/>
          </a:p>
        </p:txBody>
      </p:sp>
      <p:sp>
        <p:nvSpPr>
          <p:cNvPr id="11" name="PlaceHolder 2">
            <a:extLst>
              <a:ext uri="{FF2B5EF4-FFF2-40B4-BE49-F238E27FC236}">
                <a16:creationId xmlns:a16="http://schemas.microsoft.com/office/drawing/2014/main" id="{A00B5C77-B60C-45E4-BB91-567A6BCA53BA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438640" y="150840"/>
            <a:ext cx="454320" cy="214200"/>
          </a:xfrm>
          <a:prstGeom prst="rect">
            <a:avLst/>
          </a:prstGeom>
          <a:ln w="0">
            <a:noFill/>
          </a:ln>
        </p:spPr>
      </p:pic>
      <p:sp>
        <p:nvSpPr>
          <p:cNvPr id="3" name="CaixaDeTexto 5">
            <a:extLst>
              <a:ext uri="{FF2B5EF4-FFF2-40B4-BE49-F238E27FC236}">
                <a16:creationId xmlns:a16="http://schemas.microsoft.com/office/drawing/2014/main" id="{0B76F06E-DCF1-4D80-B11B-23A0D3F7CA96}"/>
              </a:ext>
            </a:extLst>
          </p:cNvPr>
          <p:cNvSpPr>
            <a:spLocks noGrp="1"/>
          </p:cNvSpPr>
          <p:nvPr/>
        </p:nvSpPr>
        <p:spPr>
          <a:xfrm>
            <a:off x="5842800" y="150480"/>
            <a:ext cx="5579640" cy="21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sz="80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GOVERNO DO ESTADO DE SÃO PAULO | </a:t>
            </a:r>
            <a:r>
              <a:rPr sz="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SECRETARIA DE MEIO AMBIENTE, INFRAESTRUTURA E LOGÍSTICA</a:t>
            </a:r>
          </a:p>
        </p:txBody>
      </p:sp>
      <p:pic>
        <p:nvPicPr>
          <p:cNvPr id="15" name="Image 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42920" y="98640"/>
            <a:ext cx="834840" cy="458280"/>
          </a:xfrm>
          <a:prstGeom prst="rect">
            <a:avLst/>
          </a:prstGeom>
          <a:ln w="0">
            <a:noFill/>
          </a:ln>
        </p:spPr>
      </p:pic>
      <p:pic>
        <p:nvPicPr>
          <p:cNvPr id="16" name="Image 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046160" y="270000"/>
            <a:ext cx="1245960" cy="217080"/>
          </a:xfrm>
          <a:prstGeom prst="rect">
            <a:avLst/>
          </a:prstGeom>
          <a:ln w="0">
            <a:noFill/>
          </a:ln>
        </p:spPr>
      </p:pic>
      <p:sp>
        <p:nvSpPr>
          <p:cNvPr id="6" name="Rectangle 4">
            <a:extLst>
              <a:ext uri="{FF2B5EF4-FFF2-40B4-BE49-F238E27FC236}">
                <a16:creationId xmlns:a16="http://schemas.microsoft.com/office/drawing/2014/main" id="{1E8D1311-EFFE-45EC-8449-1664ED6F49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F0F90E3-C583-4865-AE3C-ABD20B2276CE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8" name="PlaceHolder 1">
            <a:extLst>
              <a:ext uri="{FF2B5EF4-FFF2-40B4-BE49-F238E27FC236}">
                <a16:creationId xmlns:a16="http://schemas.microsoft.com/office/drawing/2014/main" id="{6A9AE2B8-AAC8-4513-8757-E4CC3365D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>
              <a:buNone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9" name="PlaceHolder 2">
            <a:extLst>
              <a:ext uri="{FF2B5EF4-FFF2-40B4-BE49-F238E27FC236}">
                <a16:creationId xmlns:a16="http://schemas.microsoft.com/office/drawing/2014/main" id="{84B2B3E7-36DB-40A4-B209-FF0B58144D6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har char=""/>
              <a:defRPr sz="1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1134"/>
              </a:spcBef>
              <a:buChar char=""/>
              <a:defRPr sz="1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850"/>
              </a:spcBef>
              <a:buChar char=""/>
              <a:defRPr sz="1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567"/>
              </a:spcBef>
              <a:buChar char=""/>
              <a:defRPr sz="1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283"/>
              </a:spcBef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283"/>
              </a:spcBef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283"/>
              </a:spcBef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har char=""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>
            <a:pPr marL="864000" indent="-324000" algn="l">
              <a:spcBef>
                <a:spcPts val="1134"/>
              </a:spcBef>
              <a:buChar char=""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>
            <a:pPr marL="1296000" indent="-288000" algn="l">
              <a:spcBef>
                <a:spcPts val="850"/>
              </a:spcBef>
              <a:buChar char=""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>
            <a:pPr marL="1728000" indent="-216000" algn="l">
              <a:spcBef>
                <a:spcPts val="567"/>
              </a:spcBef>
              <a:buChar char=""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>
            <a:pPr marL="2160000" indent="-216000" algn="l">
              <a:spcBef>
                <a:spcPts val="283"/>
              </a:spcBef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>
            <a:pPr marL="2592000" indent="-216000" algn="l">
              <a:spcBef>
                <a:spcPts val="283"/>
              </a:spcBef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>
            <a:pPr marL="3024000" indent="-216000" algn="l">
              <a:spcBef>
                <a:spcPts val="283"/>
              </a:spcBef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>
            <a:extLst>
              <a:ext uri="{FF2B5EF4-FFF2-40B4-BE49-F238E27FC236}">
                <a16:creationId xmlns:a16="http://schemas.microsoft.com/office/drawing/2014/main" id="{D3C219AB-C8D2-44EA-9A71-D488DD211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43462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ctr">
              <a:lnSpc>
                <a:spcPct val="90000"/>
              </a:lnSpc>
              <a:buNone/>
              <a:defRPr sz="1600" b="1" u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indent="0" algn="ctr">
              <a:lnSpc>
                <a:spcPct val="90000"/>
              </a:lnSpc>
              <a:buNone/>
            </a:pPr>
            <a:r>
              <a:rPr sz="1600" b="1" u="none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OBRIGADO</a:t>
            </a:r>
          </a:p>
        </p:txBody>
      </p:sp>
      <p:pic>
        <p:nvPicPr>
          <p:cNvPr id="15" name="Google Shape;426;p12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0" y="6710400"/>
            <a:ext cx="12191760" cy="14544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2">
            <a:extLst>
              <a:ext uri="{FF2B5EF4-FFF2-40B4-BE49-F238E27FC236}">
                <a16:creationId xmlns:a16="http://schemas.microsoft.com/office/drawing/2014/main" id="{1924AC8D-D77B-4B8A-A97C-38ADF19694B3}"/>
              </a:ext>
            </a:extLst>
          </p:cNvPr>
          <p:cNvSpPr>
            <a:spLocks noGrp="1"/>
          </p:cNvSpPr>
          <p:nvPr/>
        </p:nvSpPr>
        <p:spPr>
          <a:xfrm>
            <a:off x="0" y="2160"/>
            <a:ext cx="12191760" cy="719640"/>
          </a:xfrm>
          <a:prstGeom prst="rect">
            <a:avLst/>
          </a:prstGeom>
          <a:solidFill>
            <a:schemeClr val="accent6">
              <a:alpha val="20000"/>
            </a:schemeClr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5" name="Retângulo 4">
            <a:extLst>
              <a:ext uri="{FF2B5EF4-FFF2-40B4-BE49-F238E27FC236}">
                <a16:creationId xmlns:a16="http://schemas.microsoft.com/office/drawing/2014/main" id="{ADA59D9A-35D8-4B47-97C3-AD4F85A5E598}"/>
              </a:ext>
            </a:extLst>
          </p:cNvPr>
          <p:cNvSpPr>
            <a:spLocks noGrp="1"/>
          </p:cNvSpPr>
          <p:nvPr/>
        </p:nvSpPr>
        <p:spPr>
          <a:xfrm rot="16200000">
            <a:off x="-3084840" y="3085200"/>
            <a:ext cx="6709680" cy="539640"/>
          </a:xfrm>
          <a:prstGeom prst="rect">
            <a:avLst/>
          </a:prstGeom>
          <a:noFill/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6" name="Retângulo 5">
            <a:extLst>
              <a:ext uri="{FF2B5EF4-FFF2-40B4-BE49-F238E27FC236}">
                <a16:creationId xmlns:a16="http://schemas.microsoft.com/office/drawing/2014/main" id="{C33FE77A-B46C-4D95-B2B2-ECE141BFBF85}"/>
              </a:ext>
            </a:extLst>
          </p:cNvPr>
          <p:cNvSpPr>
            <a:spLocks noGrp="1"/>
          </p:cNvSpPr>
          <p:nvPr/>
        </p:nvSpPr>
        <p:spPr>
          <a:xfrm rot="16200000">
            <a:off x="8566920" y="3085200"/>
            <a:ext cx="6709680" cy="539640"/>
          </a:xfrm>
          <a:prstGeom prst="rect">
            <a:avLst/>
          </a:prstGeom>
          <a:noFill/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7" name="Retângulo 6">
            <a:extLst>
              <a:ext uri="{FF2B5EF4-FFF2-40B4-BE49-F238E27FC236}">
                <a16:creationId xmlns:a16="http://schemas.microsoft.com/office/drawing/2014/main" id="{BE778A2F-3539-49BB-9071-D939B0D0C68C}"/>
              </a:ext>
            </a:extLst>
          </p:cNvPr>
          <p:cNvSpPr>
            <a:spLocks noGrp="1"/>
          </p:cNvSpPr>
          <p:nvPr/>
        </p:nvSpPr>
        <p:spPr>
          <a:xfrm>
            <a:off x="0" y="6276960"/>
            <a:ext cx="12191760" cy="432720"/>
          </a:xfrm>
          <a:prstGeom prst="rect">
            <a:avLst/>
          </a:prstGeom>
          <a:noFill/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buNone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aixaDeTexto 1">
            <a:extLst>
              <a:ext uri="{FF2B5EF4-FFF2-40B4-BE49-F238E27FC236}">
                <a16:creationId xmlns:a16="http://schemas.microsoft.com/office/drawing/2014/main" id="{B673CAF0-63ED-4667-942F-10A44F037C9E}"/>
              </a:ext>
            </a:extLst>
          </p:cNvPr>
          <p:cNvSpPr>
            <a:spLocks noGrp="1"/>
          </p:cNvSpPr>
          <p:nvPr/>
        </p:nvSpPr>
        <p:spPr>
          <a:xfrm>
            <a:off x="75240" y="3083400"/>
            <a:ext cx="5705280" cy="25477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>
              <a:lnSpc>
                <a:spcPct val="100000"/>
              </a:lnSpc>
              <a:spcAft>
                <a:spcPts val="499"/>
              </a:spcAft>
              <a:buAutoNum type="arabicPeriod"/>
              <a:defRPr sz="1200" b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200" b="0" u="none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Objetivo e triagem prévia</a:t>
            </a:r>
          </a:p>
          <a:p>
            <a:pPr marL="343080" indent="-343080">
              <a:lnSpc>
                <a:spcPct val="100000"/>
              </a:lnSpc>
              <a:spcAft>
                <a:spcPts val="499"/>
              </a:spcAft>
              <a:buAutoNum type="arabicPeriod"/>
              <a:defRPr sz="1200" b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200" b="0" u="none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Nove dimensões e 21 indicadores</a:t>
            </a:r>
          </a:p>
          <a:p>
            <a:pPr marL="343080" indent="-343080">
              <a:lnSpc>
                <a:spcPct val="100000"/>
              </a:lnSpc>
              <a:spcAft>
                <a:spcPts val="499"/>
              </a:spcAft>
              <a:buAutoNum type="arabicPeriod"/>
              <a:defRPr sz="1200" b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200" b="0" u="none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Integração das 74 variáveis</a:t>
            </a:r>
          </a:p>
          <a:p>
            <a:pPr marL="343080" indent="-343080">
              <a:lnSpc>
                <a:spcPct val="100000"/>
              </a:lnSpc>
              <a:spcAft>
                <a:spcPts val="499"/>
              </a:spcAft>
              <a:buAutoNum type="arabicPeriod"/>
              <a:defRPr sz="1200" b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200" b="0" u="none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AHP e workshops</a:t>
            </a:r>
          </a:p>
          <a:p>
            <a:pPr marL="343080" indent="-343080">
              <a:lnSpc>
                <a:spcPct val="100000"/>
              </a:lnSpc>
              <a:spcAft>
                <a:spcPts val="499"/>
              </a:spcAft>
              <a:buAutoNum type="arabicPeriod"/>
              <a:defRPr sz="1200" b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200" b="0" u="none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Agregação, sensibilidade e cronograma</a:t>
            </a:r>
          </a:p>
          <a:p>
            <a:pPr marL="343080" indent="-343080">
              <a:lnSpc>
                <a:spcPct val="100000"/>
              </a:lnSpc>
              <a:spcAft>
                <a:spcPts val="499"/>
              </a:spcAft>
              <a:buAutoNum type="arabicPeriod"/>
              <a:defRPr sz="1200" b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200" b="0" u="none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Síntese executiva — agosto de 2026</a:t>
            </a:r>
          </a:p>
        </p:txBody>
      </p:sp>
      <p:pic>
        <p:nvPicPr>
          <p:cNvPr id="48" name="Imagem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438640" y="150840"/>
            <a:ext cx="454320" cy="214200"/>
          </a:xfrm>
          <a:prstGeom prst="rect">
            <a:avLst/>
          </a:prstGeom>
          <a:ln w="0">
            <a:noFill/>
          </a:ln>
        </p:spPr>
      </p:pic>
      <p:sp>
        <p:nvSpPr>
          <p:cNvPr id="26" name="Retângulo 7">
            <a:extLst>
              <a:ext uri="{FF2B5EF4-FFF2-40B4-BE49-F238E27FC236}">
                <a16:creationId xmlns:a16="http://schemas.microsoft.com/office/drawing/2014/main" id="{B838C6CB-4BB7-4DCC-9066-96DCA91ED7AF}"/>
              </a:ext>
            </a:extLst>
          </p:cNvPr>
          <p:cNvSpPr>
            <a:spLocks noGrp="1"/>
          </p:cNvSpPr>
          <p:nvPr/>
        </p:nvSpPr>
        <p:spPr>
          <a:xfrm>
            <a:off x="37080" y="2342880"/>
            <a:ext cx="5743440" cy="59304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  <a:spcBef>
                <a:spcPts val="601"/>
              </a:spcBef>
              <a:buNone/>
              <a:defRPr sz="150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50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Nota Técnica — Produto D17</a:t>
            </a:r>
          </a:p>
        </p:txBody>
      </p:sp>
      <p:sp>
        <p:nvSpPr>
          <p:cNvPr id="27" name="Retângulo: Cantos Arredondados 12">
            <a:extLst>
              <a:ext uri="{FF2B5EF4-FFF2-40B4-BE49-F238E27FC236}">
                <a16:creationId xmlns:a16="http://schemas.microsoft.com/office/drawing/2014/main" id="{714E7876-6103-4349-AF14-6D234F2B0492}"/>
              </a:ext>
            </a:extLst>
          </p:cNvPr>
          <p:cNvSpPr>
            <a:spLocks noGrp="1"/>
          </p:cNvSpPr>
          <p:nvPr/>
        </p:nvSpPr>
        <p:spPr>
          <a:xfrm>
            <a:off x="65520" y="910080"/>
            <a:ext cx="7307640" cy="1197657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  <a:spcBef>
                <a:spcPts val="601"/>
              </a:spcBef>
              <a:buNone/>
              <a:defRPr sz="2100" b="1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2100" b="1" u="none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HIERARQUIZAÇÃO DOS PROJETOS DO PLI-SP 2050</a:t>
            </a:r>
          </a:p>
        </p:txBody>
      </p:sp>
      <p:pic>
        <p:nvPicPr>
          <p:cNvPr id="51" name="Imagem 6"/>
          <p:cNvPicPr>
            <a:picLocks noChangeAspect="1"/>
          </p:cNvPicPr>
          <p:nvPr/>
        </p:nvPicPr>
        <p:blipFill>
          <a:blip r:embed="rId4"/>
          <a:stretch/>
        </p:blipFill>
        <p:spPr>
          <a:xfrm flipH="1">
            <a:off x="8579520" y="923400"/>
            <a:ext cx="2931480" cy="2239920"/>
          </a:xfrm>
          <a:prstGeom prst="rect">
            <a:avLst/>
          </a:prstGeom>
          <a:ln w="0">
            <a:noFill/>
          </a:ln>
        </p:spPr>
      </p:pic>
      <p:pic>
        <p:nvPicPr>
          <p:cNvPr id="52" name="Imagem 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411240" y="3483000"/>
            <a:ext cx="4285800" cy="3134160"/>
          </a:xfrm>
          <a:prstGeom prst="rect">
            <a:avLst/>
          </a:prstGeom>
          <a:ln w="0">
            <a:noFill/>
          </a:ln>
        </p:spPr>
      </p:pic>
      <p:pic>
        <p:nvPicPr>
          <p:cNvPr id="53" name="Imagem 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770320" y="4070880"/>
            <a:ext cx="3333600" cy="2626920"/>
          </a:xfrm>
          <a:prstGeom prst="rect">
            <a:avLst/>
          </a:prstGeom>
          <a:ln w="0">
            <a:noFill/>
          </a:ln>
        </p:spPr>
      </p:pic>
      <p:pic>
        <p:nvPicPr>
          <p:cNvPr id="54" name="Imagem 1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6627960" y="2116080"/>
            <a:ext cx="2113560" cy="1969560"/>
          </a:xfrm>
          <a:prstGeom prst="rect">
            <a:avLst/>
          </a:prstGeom>
          <a:ln w="0">
            <a:noFill/>
          </a:ln>
        </p:spPr>
      </p:pic>
      <p:pic>
        <p:nvPicPr>
          <p:cNvPr id="55" name="Imagem 11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10405440" y="3215160"/>
            <a:ext cx="351360" cy="344160"/>
          </a:xfrm>
          <a:prstGeom prst="rect">
            <a:avLst/>
          </a:prstGeom>
          <a:ln w="0">
            <a:noFill/>
          </a:ln>
        </p:spPr>
      </p:pic>
      <p:pic>
        <p:nvPicPr>
          <p:cNvPr id="56" name="Imagem 1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8579520" y="2200680"/>
            <a:ext cx="576720" cy="159480"/>
          </a:xfrm>
          <a:prstGeom prst="rect">
            <a:avLst/>
          </a:prstGeom>
          <a:ln w="0">
            <a:noFill/>
          </a:ln>
        </p:spPr>
      </p:pic>
      <p:pic>
        <p:nvPicPr>
          <p:cNvPr id="57" name="Imagem 15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8067960" y="6378840"/>
            <a:ext cx="646200" cy="178920"/>
          </a:xfrm>
          <a:prstGeom prst="rect">
            <a:avLst/>
          </a:prstGeom>
          <a:ln w="0">
            <a:noFill/>
          </a:ln>
        </p:spPr>
      </p:pic>
      <p:pic>
        <p:nvPicPr>
          <p:cNvPr id="58" name="Imagem 16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7467480" y="3945240"/>
            <a:ext cx="28440" cy="652680"/>
          </a:xfrm>
          <a:prstGeom prst="rect">
            <a:avLst/>
          </a:prstGeom>
          <a:ln w="0">
            <a:noFill/>
          </a:ln>
        </p:spPr>
      </p:pic>
      <p:pic>
        <p:nvPicPr>
          <p:cNvPr id="59" name="Imagem 17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7919280" y="1097280"/>
            <a:ext cx="240120" cy="1317960"/>
          </a:xfrm>
          <a:prstGeom prst="rect">
            <a:avLst/>
          </a:prstGeom>
          <a:ln w="0">
            <a:noFill/>
          </a:ln>
        </p:spPr>
      </p:pic>
      <p:pic>
        <p:nvPicPr>
          <p:cNvPr id="60" name="Imagem 18"/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10914120" y="3228480"/>
            <a:ext cx="173520" cy="1028520"/>
          </a:xfrm>
          <a:prstGeom prst="rect">
            <a:avLst/>
          </a:prstGeom>
          <a:ln w="0">
            <a:noFill/>
          </a:ln>
        </p:spPr>
      </p:pic>
      <p:pic>
        <p:nvPicPr>
          <p:cNvPr id="61" name="Imagem 19"/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7451640" y="1114920"/>
            <a:ext cx="233280" cy="934920"/>
          </a:xfrm>
          <a:prstGeom prst="rect">
            <a:avLst/>
          </a:prstGeom>
          <a:ln w="0">
            <a:noFill/>
          </a:ln>
        </p:spPr>
      </p:pic>
      <p:pic>
        <p:nvPicPr>
          <p:cNvPr id="62" name="Imagem 21"/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11865600" y="2057400"/>
            <a:ext cx="28800" cy="1197000"/>
          </a:xfrm>
          <a:prstGeom prst="rect">
            <a:avLst/>
          </a:prstGeom>
          <a:ln w="0">
            <a:noFill/>
          </a:ln>
        </p:spPr>
      </p:pic>
      <p:pic>
        <p:nvPicPr>
          <p:cNvPr id="63" name="Imagem 22"/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11224800" y="5859720"/>
            <a:ext cx="480960" cy="487800"/>
          </a:xfrm>
          <a:prstGeom prst="rect">
            <a:avLst/>
          </a:prstGeom>
          <a:ln w="0">
            <a:noFill/>
          </a:ln>
        </p:spPr>
      </p:pic>
      <p:pic>
        <p:nvPicPr>
          <p:cNvPr id="64" name="Imagem 23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11781000" y="5450760"/>
            <a:ext cx="240120" cy="1317960"/>
          </a:xfrm>
          <a:prstGeom prst="rect">
            <a:avLst/>
          </a:prstGeom>
          <a:ln w="0">
            <a:noFill/>
          </a:ln>
        </p:spPr>
      </p:pic>
      <p:pic>
        <p:nvPicPr>
          <p:cNvPr id="65" name="Imagem 24"/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10077840" y="1088280"/>
            <a:ext cx="480960" cy="487800"/>
          </a:xfrm>
          <a:prstGeom prst="rect">
            <a:avLst/>
          </a:prstGeom>
          <a:ln w="0">
            <a:noFill/>
          </a:ln>
        </p:spPr>
      </p:pic>
      <p:pic>
        <p:nvPicPr>
          <p:cNvPr id="66" name="Imagem 25"/>
          <p:cNvPicPr>
            <a:picLocks noChangeAspect="1"/>
          </p:cNvPicPr>
          <p:nvPr/>
        </p:nvPicPr>
        <p:blipFill>
          <a:blip r:embed="rId11"/>
          <a:srcRect t="80135"/>
          <a:stretch/>
        </p:blipFill>
        <p:spPr>
          <a:xfrm>
            <a:off x="6998760" y="3742920"/>
            <a:ext cx="279000" cy="258840"/>
          </a:xfrm>
          <a:prstGeom prst="rect">
            <a:avLst/>
          </a:prstGeom>
          <a:ln w="0">
            <a:noFill/>
          </a:ln>
        </p:spPr>
      </p:pic>
      <p:pic>
        <p:nvPicPr>
          <p:cNvPr id="67" name="Imagem 26"/>
          <p:cNvPicPr>
            <a:picLocks noChangeAspect="1"/>
          </p:cNvPicPr>
          <p:nvPr/>
        </p:nvPicPr>
        <p:blipFill>
          <a:blip r:embed="rId11"/>
          <a:srcRect t="80135"/>
          <a:stretch/>
        </p:blipFill>
        <p:spPr>
          <a:xfrm>
            <a:off x="11531520" y="1428480"/>
            <a:ext cx="279000" cy="258840"/>
          </a:xfrm>
          <a:prstGeom prst="rect">
            <a:avLst/>
          </a:prstGeom>
          <a:ln w="0">
            <a:noFill/>
          </a:ln>
        </p:spPr>
      </p:pic>
      <p:pic>
        <p:nvPicPr>
          <p:cNvPr id="68" name="Imagem 27"/>
          <p:cNvPicPr>
            <a:picLocks noChangeAspect="1"/>
          </p:cNvPicPr>
          <p:nvPr/>
        </p:nvPicPr>
        <p:blipFill>
          <a:blip r:embed="rId12"/>
          <a:srcRect t="82004"/>
          <a:stretch/>
        </p:blipFill>
        <p:spPr>
          <a:xfrm>
            <a:off x="9163080" y="3254760"/>
            <a:ext cx="173520" cy="1850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861566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O D17 seleciona projetos de alto impacto depois de uma triagem não compensatória</a:t>
            </a:r>
          </a:p>
        </p:txBody>
      </p:sp>
      <p:cxnSp>
        <p:nvCxnSpPr>
          <p:cNvPr id="93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03664328-A54A-4914-84C5-463E6BD7AF38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A síntese distingue elegibilidade, mérito, maturidade e risco para que uma boa nota nunca compense impedimento formal.</a:t>
            </a:r>
          </a:p>
        </p:txBody>
      </p:sp>
      <p:sp>
        <p:nvSpPr>
          <p:cNvPr id="67" name="d17-box">
            <a:extLst>
              <a:ext uri="{FF2B5EF4-FFF2-40B4-BE49-F238E27FC236}">
                <a16:creationId xmlns:a16="http://schemas.microsoft.com/office/drawing/2014/main" id="{CC8287ED-5132-4A06-AB40-E0601091332F}"/>
              </a:ext>
            </a:extLst>
          </p:cNvPr>
          <p:cNvSpPr>
            <a:spLocks noGrp="1"/>
          </p:cNvSpPr>
          <p:nvPr/>
        </p:nvSpPr>
        <p:spPr>
          <a:xfrm>
            <a:off x="428625" y="1924050"/>
            <a:ext cx="5476875" cy="4048125"/>
          </a:xfrm>
          <a:prstGeom prst="roundRect">
            <a:avLst>
              <a:gd name="adj" fmla="val 2824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d17-text">
            <a:extLst>
              <a:ext uri="{FF2B5EF4-FFF2-40B4-BE49-F238E27FC236}">
                <a16:creationId xmlns:a16="http://schemas.microsoft.com/office/drawing/2014/main" id="{1D50EC4D-CC5D-4D9D-9DEE-106F202D9527}"/>
              </a:ext>
            </a:extLst>
          </p:cNvPr>
          <p:cNvSpPr>
            <a:spLocks noGrp="1"/>
          </p:cNvSpPr>
          <p:nvPr/>
        </p:nvSpPr>
        <p:spPr>
          <a:xfrm>
            <a:off x="542925" y="2019300"/>
            <a:ext cx="5248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O que o produto entrega</a:t>
            </a:r>
          </a:p>
        </p:txBody>
      </p:sp>
      <p:sp>
        <p:nvSpPr>
          <p:cNvPr id="69" name="d17-text">
            <a:extLst>
              <a:ext uri="{FF2B5EF4-FFF2-40B4-BE49-F238E27FC236}">
                <a16:creationId xmlns:a16="http://schemas.microsoft.com/office/drawing/2014/main" id="{85627761-0777-4A2C-808F-0C8549F4A4C1}"/>
              </a:ext>
            </a:extLst>
          </p:cNvPr>
          <p:cNvSpPr>
            <a:spLocks noGrp="1"/>
          </p:cNvSpPr>
          <p:nvPr/>
        </p:nvSpPr>
        <p:spPr>
          <a:xfrm>
            <a:off x="542925" y="2352675"/>
            <a:ext cx="5248275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• Carteira comparável com nove dimensões e 21 indicadores.
• Ranking global e resultados por dimensão.
• Qualidade da evidência e estabilidade das posições.
• Recomendações de curto, médio e longo prazos.</a:t>
            </a:r>
          </a:p>
        </p:txBody>
      </p:sp>
      <p:sp>
        <p:nvSpPr>
          <p:cNvPr id="70" name="d17-box">
            <a:extLst>
              <a:ext uri="{FF2B5EF4-FFF2-40B4-BE49-F238E27FC236}">
                <a16:creationId xmlns:a16="http://schemas.microsoft.com/office/drawing/2014/main" id="{C07017DB-01F7-4E01-B52E-82B5261B7DF2}"/>
              </a:ext>
            </a:extLst>
          </p:cNvPr>
          <p:cNvSpPr>
            <a:spLocks noGrp="1"/>
          </p:cNvSpPr>
          <p:nvPr/>
        </p:nvSpPr>
        <p:spPr>
          <a:xfrm>
            <a:off x="6286500" y="1924050"/>
            <a:ext cx="5476875" cy="4048125"/>
          </a:xfrm>
          <a:prstGeom prst="roundRect">
            <a:avLst>
              <a:gd name="adj" fmla="val 2824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d17-text">
            <a:extLst>
              <a:ext uri="{FF2B5EF4-FFF2-40B4-BE49-F238E27FC236}">
                <a16:creationId xmlns:a16="http://schemas.microsoft.com/office/drawing/2014/main" id="{35C15DCA-73B2-4B9B-8D9C-6C39DEEC941F}"/>
              </a:ext>
            </a:extLst>
          </p:cNvPr>
          <p:cNvSpPr>
            <a:spLocks noGrp="1"/>
          </p:cNvSpPr>
          <p:nvPr/>
        </p:nvSpPr>
        <p:spPr>
          <a:xfrm>
            <a:off x="6400800" y="2019300"/>
            <a:ext cx="5248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O que acontece antes das notas</a:t>
            </a:r>
          </a:p>
        </p:txBody>
      </p:sp>
      <p:sp>
        <p:nvSpPr>
          <p:cNvPr id="72" name="d17-text">
            <a:extLst>
              <a:ext uri="{FF2B5EF4-FFF2-40B4-BE49-F238E27FC236}">
                <a16:creationId xmlns:a16="http://schemas.microsoft.com/office/drawing/2014/main" id="{D76A33A2-D097-44E3-8D24-EFD7646DED7D}"/>
              </a:ext>
            </a:extLst>
          </p:cNvPr>
          <p:cNvSpPr>
            <a:spLocks noGrp="1"/>
          </p:cNvSpPr>
          <p:nvPr/>
        </p:nvSpPr>
        <p:spPr>
          <a:xfrm>
            <a:off x="6400800" y="2352675"/>
            <a:ext cx="5248275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• Vinte e três verificações examinam restrições ambientais, sociais, territoriais, fundiárias, físicas e legais.
• O projeto pode ser elegível, elegível com condições, suspenso, excluído ou não aplicável.
• Exclusão exige impedimento vigente, aplicável e sem alternativa viável.</a:t>
            </a:r>
          </a:p>
        </p:txBody>
      </p:sp>
      <p:sp>
        <p:nvSpPr>
          <p:cNvPr id="73" name="d17-text">
            <a:extLst>
              <a:ext uri="{FF2B5EF4-FFF2-40B4-BE49-F238E27FC236}">
                <a16:creationId xmlns:a16="http://schemas.microsoft.com/office/drawing/2014/main" id="{8C9E99A7-8395-4AD8-9797-65005463CE21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Fonte: Matriz Fases V2 e arquitetura do D17.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O processo integrado possui oito camadas e mantém funções decisórias separadas</a:t>
            </a:r>
          </a:p>
        </p:txBody>
      </p:sp>
      <p:cxnSp>
        <p:nvCxnSpPr>
          <p:cNvPr id="92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4E0B1ABC-9812-40E2-808F-3F90B9C7450A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A nova matriz é incorporada como dicionário de gates, dados e atributos. Somente os 21 resultados consolidados recebem pesos.</a:t>
            </a:r>
          </a:p>
        </p:txBody>
      </p:sp>
      <p:graphicFrame>
        <p:nvGraphicFramePr>
          <p:cNvPr id="94" name="Tabela 93"/>
          <p:cNvGraphicFramePr/>
          <p:nvPr/>
        </p:nvGraphicFramePr>
        <p:xfrm>
          <a:off x="428625" y="1924050"/>
          <a:ext cx="11334750" cy="4048130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4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Camada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Função no processo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1. Escopo comparável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Alternativa, cenário sem projeto, geometria funcional, custos, prazo e responsáveis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2. Triagem — 23 gates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Risco e restrição antes de qualquer compensação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3. Fase 2 — 35 camadas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Dados espaciais e quantitativos dos benefícios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4. Fase 3 — 16 atributos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Finanças, maturidade, governança e entregabilidade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5. Formação dos indicadores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Variáveis transformadas por rede, interseção, área de serviço, fórmula ou rubrica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6. Pesos AHP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Prioridades relativas definidas antes do ranking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7. Agregação e sensibilidade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Soma ponderada, cenários e verificação de robustez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8. Faseamento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Condicionantes e horizonte de implantação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Controle transversal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Fichas, metadados, versões, responsáveis e trilha de auditoria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8" name="d17-text">
            <a:extLst>
              <a:ext uri="{FF2B5EF4-FFF2-40B4-BE49-F238E27FC236}">
                <a16:creationId xmlns:a16="http://schemas.microsoft.com/office/drawing/2014/main" id="{CB4889BE-0E94-42EC-9D36-A4CC78CB179C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Fonte: Matriz Fases V2, Amorim e arquitetura do D17.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A triagem exclui apenas impedimentos confirmados e registra condicionantes mitigáveis</a:t>
            </a:r>
          </a:p>
        </p:txBody>
      </p:sp>
      <p:cxnSp>
        <p:nvCxnSpPr>
          <p:cNvPr id="93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13D2866F-1351-4B3A-8F76-58ECE3870D22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Sobreposição espacial inicia a análise, mas não produz exclusão automática. A decisão depende de validação técnica e jurídica.</a:t>
            </a:r>
          </a:p>
        </p:txBody>
      </p:sp>
      <p:sp>
        <p:nvSpPr>
          <p:cNvPr id="67" name="d17-box">
            <a:extLst>
              <a:ext uri="{FF2B5EF4-FFF2-40B4-BE49-F238E27FC236}">
                <a16:creationId xmlns:a16="http://schemas.microsoft.com/office/drawing/2014/main" id="{8F935836-A4B6-46F5-8169-E1516BC4FB5F}"/>
              </a:ext>
            </a:extLst>
          </p:cNvPr>
          <p:cNvSpPr>
            <a:spLocks noGrp="1"/>
          </p:cNvSpPr>
          <p:nvPr/>
        </p:nvSpPr>
        <p:spPr>
          <a:xfrm>
            <a:off x="428625" y="1924050"/>
            <a:ext cx="5476875" cy="4048125"/>
          </a:xfrm>
          <a:prstGeom prst="roundRect">
            <a:avLst>
              <a:gd name="adj" fmla="val 2824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d17-text">
            <a:extLst>
              <a:ext uri="{FF2B5EF4-FFF2-40B4-BE49-F238E27FC236}">
                <a16:creationId xmlns:a16="http://schemas.microsoft.com/office/drawing/2014/main" id="{A91CA2FF-CC93-48B7-8EFE-D225DD9EC51E}"/>
              </a:ext>
            </a:extLst>
          </p:cNvPr>
          <p:cNvSpPr>
            <a:spLocks noGrp="1"/>
          </p:cNvSpPr>
          <p:nvPr/>
        </p:nvSpPr>
        <p:spPr>
          <a:xfrm>
            <a:off x="542925" y="2019300"/>
            <a:ext cx="5248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Inventário dos 23 gates</a:t>
            </a:r>
          </a:p>
        </p:txBody>
      </p:sp>
      <p:sp>
        <p:nvSpPr>
          <p:cNvPr id="69" name="d17-text">
            <a:extLst>
              <a:ext uri="{FF2B5EF4-FFF2-40B4-BE49-F238E27FC236}">
                <a16:creationId xmlns:a16="http://schemas.microsoft.com/office/drawing/2014/main" id="{F9B931C8-3D65-4C61-BADE-CF26B37D1ADE}"/>
              </a:ext>
            </a:extLst>
          </p:cNvPr>
          <p:cNvSpPr>
            <a:spLocks noGrp="1"/>
          </p:cNvSpPr>
          <p:nvPr/>
        </p:nvSpPr>
        <p:spPr>
          <a:xfrm>
            <a:off x="542925" y="2352675"/>
            <a:ext cx="5248275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• 12 verificações ambientais.
• 4 sociais e territoriais.
• 2 de risco físico.
• 2 fundiárias e de faixas.
• 3 legais e institucionais.
Ausência de dado gera suspensão ou diligência, nunca nota zero.</a:t>
            </a:r>
          </a:p>
        </p:txBody>
      </p:sp>
      <p:sp>
        <p:nvSpPr>
          <p:cNvPr id="70" name="d17-box">
            <a:extLst>
              <a:ext uri="{FF2B5EF4-FFF2-40B4-BE49-F238E27FC236}">
                <a16:creationId xmlns:a16="http://schemas.microsoft.com/office/drawing/2014/main" id="{C784EEA0-CEF0-4C99-B54B-AB2BE859C15C}"/>
              </a:ext>
            </a:extLst>
          </p:cNvPr>
          <p:cNvSpPr>
            <a:spLocks noGrp="1"/>
          </p:cNvSpPr>
          <p:nvPr/>
        </p:nvSpPr>
        <p:spPr>
          <a:xfrm>
            <a:off x="6286500" y="1924050"/>
            <a:ext cx="5476875" cy="4048125"/>
          </a:xfrm>
          <a:prstGeom prst="roundRect">
            <a:avLst>
              <a:gd name="adj" fmla="val 2824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d17-text">
            <a:extLst>
              <a:ext uri="{FF2B5EF4-FFF2-40B4-BE49-F238E27FC236}">
                <a16:creationId xmlns:a16="http://schemas.microsoft.com/office/drawing/2014/main" id="{CA8AF83E-AAFF-49E8-8FCF-0DE1FE10550C}"/>
              </a:ext>
            </a:extLst>
          </p:cNvPr>
          <p:cNvSpPr>
            <a:spLocks noGrp="1"/>
          </p:cNvSpPr>
          <p:nvPr/>
        </p:nvSpPr>
        <p:spPr>
          <a:xfrm>
            <a:off x="6400800" y="2019300"/>
            <a:ext cx="5248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Cinco resultados possíveis</a:t>
            </a:r>
          </a:p>
        </p:txBody>
      </p:sp>
      <p:sp>
        <p:nvSpPr>
          <p:cNvPr id="72" name="d17-text">
            <a:extLst>
              <a:ext uri="{FF2B5EF4-FFF2-40B4-BE49-F238E27FC236}">
                <a16:creationId xmlns:a16="http://schemas.microsoft.com/office/drawing/2014/main" id="{DFD4A743-1B36-48DB-8165-EA83A944BF98}"/>
              </a:ext>
            </a:extLst>
          </p:cNvPr>
          <p:cNvSpPr>
            <a:spLocks noGrp="1"/>
          </p:cNvSpPr>
          <p:nvPr/>
        </p:nvSpPr>
        <p:spPr>
          <a:xfrm>
            <a:off x="6400800" y="2352675"/>
            <a:ext cx="5248275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• Elegível, segue para os indicadores.
• Elegível com condições, segue com obrigação, custo, prazo e responsável.
• Suspenso, aguarda evidência essencial.
• Excluído, sai das etapas seguintes por impedimento formal.
• Não aplicável, sai do denominador com justificativa.</a:t>
            </a:r>
          </a:p>
        </p:txBody>
      </p:sp>
      <p:sp>
        <p:nvSpPr>
          <p:cNvPr id="73" name="d17-text">
            <a:extLst>
              <a:ext uri="{FF2B5EF4-FFF2-40B4-BE49-F238E27FC236}">
                <a16:creationId xmlns:a16="http://schemas.microsoft.com/office/drawing/2014/main" id="{DA16FC22-E05F-4580-BEBE-6D1C2315D1B0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Fonte: Matriz V2.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 dirty="0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As 74 </a:t>
            </a:r>
            <a:r>
              <a:rPr sz="1650" b="1" u="none" dirty="0" err="1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variáveis</a:t>
            </a:r>
            <a:r>
              <a:rPr sz="1650" b="1" u="none" dirty="0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650" b="1" u="none" dirty="0" err="1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alimentam</a:t>
            </a:r>
            <a:r>
              <a:rPr sz="1650" b="1" u="none" dirty="0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 21 </a:t>
            </a:r>
            <a:r>
              <a:rPr sz="1650" b="1" u="none" dirty="0" err="1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indicadores</a:t>
            </a:r>
            <a:endParaRPr sz="1650" b="1" u="none" dirty="0">
              <a:solidFill>
                <a:srgbClr val="2F7D58"/>
              </a:solidFill>
              <a:latin typeface="Montserrat"/>
              <a:ea typeface="Montserrat"/>
              <a:cs typeface="Montserrat"/>
            </a:endParaRPr>
          </a:p>
        </p:txBody>
      </p:sp>
      <p:cxnSp>
        <p:nvCxnSpPr>
          <p:cNvPr id="93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13D2866F-1351-4B3A-8F76-58ECE3870D22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A conciliação preserva a granularidade técnica sem transformar cada camada ou dado em critério ponderado.</a:t>
            </a:r>
          </a:p>
        </p:txBody>
      </p:sp>
      <p:sp>
        <p:nvSpPr>
          <p:cNvPr id="67" name="d17-box">
            <a:extLst>
              <a:ext uri="{FF2B5EF4-FFF2-40B4-BE49-F238E27FC236}">
                <a16:creationId xmlns:a16="http://schemas.microsoft.com/office/drawing/2014/main" id="{8F935836-A4B6-46F5-8169-E1516BC4FB5F}"/>
              </a:ext>
            </a:extLst>
          </p:cNvPr>
          <p:cNvSpPr>
            <a:spLocks noGrp="1"/>
          </p:cNvSpPr>
          <p:nvPr/>
        </p:nvSpPr>
        <p:spPr>
          <a:xfrm>
            <a:off x="428625" y="1924050"/>
            <a:ext cx="5476875" cy="4048125"/>
          </a:xfrm>
          <a:prstGeom prst="roundRect">
            <a:avLst>
              <a:gd name="adj" fmla="val 2824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d17-text">
            <a:extLst>
              <a:ext uri="{FF2B5EF4-FFF2-40B4-BE49-F238E27FC236}">
                <a16:creationId xmlns:a16="http://schemas.microsoft.com/office/drawing/2014/main" id="{A91CA2FF-CC93-48B7-8EFE-D225DD9EC51E}"/>
              </a:ext>
            </a:extLst>
          </p:cNvPr>
          <p:cNvSpPr>
            <a:spLocks noGrp="1"/>
          </p:cNvSpPr>
          <p:nvPr/>
        </p:nvSpPr>
        <p:spPr>
          <a:xfrm>
            <a:off x="542925" y="2019300"/>
            <a:ext cx="5248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Integração da nova matriz</a:t>
            </a:r>
          </a:p>
        </p:txBody>
      </p:sp>
      <p:sp>
        <p:nvSpPr>
          <p:cNvPr id="69" name="d17-text">
            <a:extLst>
              <a:ext uri="{FF2B5EF4-FFF2-40B4-BE49-F238E27FC236}">
                <a16:creationId xmlns:a16="http://schemas.microsoft.com/office/drawing/2014/main" id="{F9B931C8-3D65-4C61-BADE-CF26B37D1ADE}"/>
              </a:ext>
            </a:extLst>
          </p:cNvPr>
          <p:cNvSpPr>
            <a:spLocks noGrp="1"/>
          </p:cNvSpPr>
          <p:nvPr/>
        </p:nvSpPr>
        <p:spPr>
          <a:xfrm>
            <a:off x="542925" y="2352675"/>
            <a:ext cx="5248275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• 23 linhas da Fase 1 operam como gates.
• 35 linhas da Fase 2 alimentam 15 indicadores de benefícios.
• 16 linhas da Fase 3 alimentam seis indicadores de finanças, instituição e risco.
• Operadores espaciais variam entre rede, interseção, área de serviço e distância.</a:t>
            </a:r>
          </a:p>
        </p:txBody>
      </p:sp>
      <p:sp>
        <p:nvSpPr>
          <p:cNvPr id="70" name="d17-box">
            <a:extLst>
              <a:ext uri="{FF2B5EF4-FFF2-40B4-BE49-F238E27FC236}">
                <a16:creationId xmlns:a16="http://schemas.microsoft.com/office/drawing/2014/main" id="{C784EEA0-CEF0-4C99-B54B-AB2BE859C15C}"/>
              </a:ext>
            </a:extLst>
          </p:cNvPr>
          <p:cNvSpPr>
            <a:spLocks noGrp="1"/>
          </p:cNvSpPr>
          <p:nvPr/>
        </p:nvSpPr>
        <p:spPr>
          <a:xfrm>
            <a:off x="6286500" y="1924050"/>
            <a:ext cx="5476875" cy="4048125"/>
          </a:xfrm>
          <a:prstGeom prst="roundRect">
            <a:avLst>
              <a:gd name="adj" fmla="val 2824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d17-text">
            <a:extLst>
              <a:ext uri="{FF2B5EF4-FFF2-40B4-BE49-F238E27FC236}">
                <a16:creationId xmlns:a16="http://schemas.microsoft.com/office/drawing/2014/main" id="{CA8AF83E-AAFF-49E8-8FCF-0DE1FE10550C}"/>
              </a:ext>
            </a:extLst>
          </p:cNvPr>
          <p:cNvSpPr>
            <a:spLocks noGrp="1"/>
          </p:cNvSpPr>
          <p:nvPr/>
        </p:nvSpPr>
        <p:spPr>
          <a:xfrm>
            <a:off x="6400800" y="2019300"/>
            <a:ext cx="5248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Contribuições de Amorim</a:t>
            </a:r>
          </a:p>
        </p:txBody>
      </p:sp>
      <p:sp>
        <p:nvSpPr>
          <p:cNvPr id="72" name="d17-text">
            <a:extLst>
              <a:ext uri="{FF2B5EF4-FFF2-40B4-BE49-F238E27FC236}">
                <a16:creationId xmlns:a16="http://schemas.microsoft.com/office/drawing/2014/main" id="{DFD4A743-1B36-48DB-8165-EA83A944BF98}"/>
              </a:ext>
            </a:extLst>
          </p:cNvPr>
          <p:cNvSpPr>
            <a:spLocks noGrp="1"/>
          </p:cNvSpPr>
          <p:nvPr/>
        </p:nvSpPr>
        <p:spPr>
          <a:xfrm>
            <a:off x="6400800" y="2352675"/>
            <a:ext cx="5248275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• Fichas com objetivo, fórmula, unidade, fonte e escala espacial.
• Cenário tendencial comparado ao cenário com projeto.
• Métricas absolutas, relativas e desagregadas.
• Testes de relevância, mensurabilidade e qualidade.
• Uso por fase e incerteza explícita.</a:t>
            </a:r>
          </a:p>
        </p:txBody>
      </p:sp>
      <p:sp>
        <p:nvSpPr>
          <p:cNvPr id="73" name="d17-text">
            <a:extLst>
              <a:ext uri="{FF2B5EF4-FFF2-40B4-BE49-F238E27FC236}">
                <a16:creationId xmlns:a16="http://schemas.microsoft.com/office/drawing/2014/main" id="{DA16FC22-E05F-4580-BEBE-6D1C2315D1B0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Fonte: Matriz Fases V2, Paper Comparativo e Amorim.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O AHP começa com workshop de 3h30 e um painel mínimo de oito cadeiras</a:t>
            </a:r>
          </a:p>
        </p:txBody>
      </p:sp>
      <p:cxnSp>
        <p:nvCxnSpPr>
          <p:cNvPr id="93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94128C41-701D-4955-AB9F-03234725E962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Os pesos são definidos antes do ranking por respostas individuais. A consolidação preserva divergências e exige razão de consistência até 10%.</a:t>
            </a:r>
          </a:p>
        </p:txBody>
      </p:sp>
      <p:sp>
        <p:nvSpPr>
          <p:cNvPr id="67" name="d17-box">
            <a:extLst>
              <a:ext uri="{FF2B5EF4-FFF2-40B4-BE49-F238E27FC236}">
                <a16:creationId xmlns:a16="http://schemas.microsoft.com/office/drawing/2014/main" id="{19CA7781-F196-4E68-99F4-7CD77FFDAF1D}"/>
              </a:ext>
            </a:extLst>
          </p:cNvPr>
          <p:cNvSpPr>
            <a:spLocks noGrp="1"/>
          </p:cNvSpPr>
          <p:nvPr/>
        </p:nvSpPr>
        <p:spPr>
          <a:xfrm>
            <a:off x="428625" y="1924050"/>
            <a:ext cx="5476875" cy="4048125"/>
          </a:xfrm>
          <a:prstGeom prst="roundRect">
            <a:avLst>
              <a:gd name="adj" fmla="val 2824"/>
            </a:avLst>
          </a:prstGeom>
          <a:solidFill>
            <a:srgbClr val="D9E2F3"/>
          </a:solidFill>
          <a:ln w="11430">
            <a:solidFill>
              <a:srgbClr val="5B84C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d17-text">
            <a:extLst>
              <a:ext uri="{FF2B5EF4-FFF2-40B4-BE49-F238E27FC236}">
                <a16:creationId xmlns:a16="http://schemas.microsoft.com/office/drawing/2014/main" id="{2C04D382-8831-4981-B0BE-B4F51CEAC0A9}"/>
              </a:ext>
            </a:extLst>
          </p:cNvPr>
          <p:cNvSpPr>
            <a:spLocks noGrp="1"/>
          </p:cNvSpPr>
          <p:nvPr/>
        </p:nvSpPr>
        <p:spPr>
          <a:xfrm>
            <a:off x="542925" y="2019300"/>
            <a:ext cx="5248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Oito representantes</a:t>
            </a:r>
          </a:p>
        </p:txBody>
      </p:sp>
      <p:sp>
        <p:nvSpPr>
          <p:cNvPr id="69" name="d17-text">
            <a:extLst>
              <a:ext uri="{FF2B5EF4-FFF2-40B4-BE49-F238E27FC236}">
                <a16:creationId xmlns:a16="http://schemas.microsoft.com/office/drawing/2014/main" id="{8FDA7FFB-2920-4004-97B6-78FF355837E5}"/>
              </a:ext>
            </a:extLst>
          </p:cNvPr>
          <p:cNvSpPr>
            <a:spLocks noGrp="1"/>
          </p:cNvSpPr>
          <p:nvPr/>
        </p:nvSpPr>
        <p:spPr>
          <a:xfrm>
            <a:off x="542925" y="2352675"/>
            <a:ext cx="5248275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• SEMIL, política e logística.
• SEMIL, ambiente e clima.
• PLI, metodologia.
• PLI, visão multimodal.
• Secretaria de Planejamento.
• SPI.
• CPTM.
• CETESB.</a:t>
            </a:r>
          </a:p>
        </p:txBody>
      </p:sp>
      <p:sp>
        <p:nvSpPr>
          <p:cNvPr id="70" name="d17-box">
            <a:extLst>
              <a:ext uri="{FF2B5EF4-FFF2-40B4-BE49-F238E27FC236}">
                <a16:creationId xmlns:a16="http://schemas.microsoft.com/office/drawing/2014/main" id="{F076B1B3-C692-4D24-A3DC-8AF86C3C02AE}"/>
              </a:ext>
            </a:extLst>
          </p:cNvPr>
          <p:cNvSpPr>
            <a:spLocks noGrp="1"/>
          </p:cNvSpPr>
          <p:nvPr/>
        </p:nvSpPr>
        <p:spPr>
          <a:xfrm>
            <a:off x="6286500" y="1924050"/>
            <a:ext cx="5476875" cy="4048125"/>
          </a:xfrm>
          <a:prstGeom prst="roundRect">
            <a:avLst>
              <a:gd name="adj" fmla="val 2824"/>
            </a:avLst>
          </a:prstGeom>
          <a:solidFill>
            <a:srgbClr val="E2F0D9"/>
          </a:solidFill>
          <a:ln w="11430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d17-text">
            <a:extLst>
              <a:ext uri="{FF2B5EF4-FFF2-40B4-BE49-F238E27FC236}">
                <a16:creationId xmlns:a16="http://schemas.microsoft.com/office/drawing/2014/main" id="{B8F6770B-3ED1-488F-AB69-CAFA1BCB846B}"/>
              </a:ext>
            </a:extLst>
          </p:cNvPr>
          <p:cNvSpPr>
            <a:spLocks noGrp="1"/>
          </p:cNvSpPr>
          <p:nvPr/>
        </p:nvSpPr>
        <p:spPr>
          <a:xfrm>
            <a:off x="6400800" y="2019300"/>
            <a:ext cx="5248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17365D"/>
                </a:solidFill>
                <a:latin typeface="Montserrat"/>
                <a:ea typeface="Montserrat"/>
                <a:cs typeface="Montserrat"/>
              </a:rPr>
              <a:t>Kickoff e 52 comparações</a:t>
            </a:r>
          </a:p>
        </p:txBody>
      </p:sp>
      <p:sp>
        <p:nvSpPr>
          <p:cNvPr id="72" name="d17-text">
            <a:extLst>
              <a:ext uri="{FF2B5EF4-FFF2-40B4-BE49-F238E27FC236}">
                <a16:creationId xmlns:a16="http://schemas.microsoft.com/office/drawing/2014/main" id="{141FAC63-7D80-4045-8A66-5C1E30CB3920}"/>
              </a:ext>
            </a:extLst>
          </p:cNvPr>
          <p:cNvSpPr>
            <a:spLocks noGrp="1"/>
          </p:cNvSpPr>
          <p:nvPr/>
        </p:nvSpPr>
        <p:spPr>
          <a:xfrm>
            <a:off x="6400800" y="2352675"/>
            <a:ext cx="5248275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19050" rIns="28575" bIns="19050" anchor="t"/>
          <a:lstStyle/>
          <a:p>
            <a:pPr algn="l">
              <a:buNone/>
              <a:def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263238"/>
                </a:solidFill>
                <a:latin typeface="Montserrat"/>
                <a:ea typeface="Montserrat"/>
                <a:cs typeface="Montserrat"/>
              </a:rPr>
              <a:t>• Alinhar finalidade, árvore e glossário.
• Testar as âncoras da escala de Saaty.
• Realizar 36 comparações entre dimensões e 16 dentro das dimensões.
• Revisar matrizes com consistência acima de 10%.
• Consolidar por média geométrica e congelar pesos antes das notas.</a:t>
            </a:r>
          </a:p>
        </p:txBody>
      </p:sp>
      <p:sp>
        <p:nvSpPr>
          <p:cNvPr id="73" name="d17-text">
            <a:extLst>
              <a:ext uri="{FF2B5EF4-FFF2-40B4-BE49-F238E27FC236}">
                <a16:creationId xmlns:a16="http://schemas.microsoft.com/office/drawing/2014/main" id="{F701BA67-21B6-4D51-A3E7-11F944783498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Fonte: D17 e Saaty.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Seis workshops cobrem notas qualitativas e calibram a escala ordinal de 0 a 10</a:t>
            </a:r>
          </a:p>
        </p:txBody>
      </p:sp>
      <p:cxnSp>
        <p:nvCxnSpPr>
          <p:cNvPr id="92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09BD30E9-13E1-4B3D-B425-1E9553454FEF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Cinco oficinas temáticas trabalham somente indicadores sem métrica robusta. A sexta harmoniza âncoras, evidências e divergências.</a:t>
            </a:r>
          </a:p>
        </p:txBody>
      </p:sp>
      <p:graphicFrame>
        <p:nvGraphicFramePr>
          <p:cNvPr id="94" name="Tabela 93"/>
          <p:cNvGraphicFramePr/>
          <p:nvPr/>
        </p:nvGraphicFramePr>
        <p:xfrm>
          <a:off x="428625" y="1924050"/>
          <a:ext cx="11334750" cy="4048128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60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Workshop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Cobertura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Duração e composição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0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1. Logística, economia e finanças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T, F e 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4h. Governo, operadores, economia de transportes e academia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0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2. Social, acessibilidade e segurança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S e SEG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4h. Órgãos sociais, municípios, segurança e academia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0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3. Ambiente e clima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4h. CETESB, SEMIL, Defesa Civil e academia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0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4. Território e multimodalidade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TER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3h. Planejamento, municípios, CPTM, operadores e academia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60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5. Governança, maturidade e risco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 e 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4h. SEMIL, SPI, jurídico, finanças e gestão de projetos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60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6. Calibração transversal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Todos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3h. Facilitadores e dois representantes de cada oficina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60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Escala comum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0–2 negativo forte. 5 neutro. 8–9 positivo alto. 10 transformador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N/D e N/A permanecem separados e toda nota exige evidência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8" name="d17-text">
            <a:extLst>
              <a:ext uri="{FF2B5EF4-FFF2-40B4-BE49-F238E27FC236}">
                <a16:creationId xmlns:a16="http://schemas.microsoft.com/office/drawing/2014/main" id="{8B83BB40-B70B-42CB-91A1-146D98339B7F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Fonte: Operacionalização do D17 e Amorim.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sz="1650" b="1" u="none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A soma ponderada produz o ranking e a sensibilidade revela estabilidade ou empate técnico</a:t>
            </a:r>
          </a:p>
        </p:txBody>
      </p:sp>
      <p:cxnSp>
        <p:nvCxnSpPr>
          <p:cNvPr id="92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03067DFA-51BF-4F35-A246-E52F2B0F26AC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Restrição confirmada não é compensada. N/D não vira zero. Pesos, cenários e dados críticos são perturbados antes da aprovação.</a:t>
            </a:r>
          </a:p>
        </p:txBody>
      </p:sp>
      <p:graphicFrame>
        <p:nvGraphicFramePr>
          <p:cNvPr id="94" name="Tabela 93"/>
          <p:cNvGraphicFramePr/>
          <p:nvPr/>
        </p:nvGraphicFramePr>
        <p:xfrm>
          <a:off x="428625" y="1924050"/>
          <a:ext cx="11334750" cy="4048125"/>
        </p:xfrm>
        <a:graphic>
          <a:graphicData uri="http://schemas.openxmlformats.org/drawingml/2006/table">
            <a:tbl>
              <a:tblPr/>
              <a:tblGrid>
                <a:gridCol w="233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096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Controle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Regra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Efeito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Saída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Decisão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Registro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Normalização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Valor bruto vira escala comum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Mantém polaridade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Nota por indicador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Comparar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Fórmula e versão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Agregação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Peso AHP × nota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Produz soma ponderada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Nota global e dimensões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Ordenar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Pesos congelados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Sensibilidade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Variar pesos e premissas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Testa estabilidade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Faixa de posição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Grupo líder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Cenários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Exceção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Gate, N/D ou proxy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Impede compensação indevida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Condicionante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Suspender ou decidir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Ata e justificativa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8" name="d17-text">
            <a:extLst>
              <a:ext uri="{FF2B5EF4-FFF2-40B4-BE49-F238E27FC236}">
                <a16:creationId xmlns:a16="http://schemas.microsoft.com/office/drawing/2014/main" id="{5A83661A-9A3C-4FF2-B5CE-00EE7563353F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Fonte: D17.</a:t>
            </a:r>
          </a:p>
        </p:txBody>
      </p:sp>
    </p:spTree>
    <p:extLst>
      <p:ext uri="{BB962C8B-B14F-4D97-AF65-F5344CB8AC3E}">
        <p14:creationId xmlns:p14="http://schemas.microsoft.com/office/powerpoint/2010/main" val="1474216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">
            <a:extLst>
              <a:ext uri="{FF2B5EF4-FFF2-40B4-BE49-F238E27FC236}">
                <a16:creationId xmlns:a16="http://schemas.microsoft.com/office/drawing/2014/main" id="{9B8F1787-D176-4176-904E-9B77FD4C86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6DE3BF71-AA4E-43C1-9F30-2852D6EB1E0C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21917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tIns="360" bIns="360" anchor="ctr">
            <a:spAutoFit/>
          </a:bodyPr>
          <a:lstStyle/>
          <a:p>
            <a:pPr>
              <a:buNone/>
            </a:pPr>
            <a:endParaRPr/>
          </a:p>
        </p:txBody>
      </p:sp>
      <p:sp>
        <p:nvSpPr>
          <p:cNvPr id="54" name="Título 1">
            <a:extLst>
              <a:ext uri="{FF2B5EF4-FFF2-40B4-BE49-F238E27FC236}">
                <a16:creationId xmlns:a16="http://schemas.microsoft.com/office/drawing/2014/main" id="{9EDAB98B-EAA7-445B-B2C6-31D6B19D4478}"/>
              </a:ext>
            </a:extLst>
          </p:cNvPr>
          <p:cNvSpPr>
            <a:spLocks noGrp="1"/>
          </p:cNvSpPr>
          <p:nvPr/>
        </p:nvSpPr>
        <p:spPr>
          <a:xfrm>
            <a:off x="268200" y="708840"/>
            <a:ext cx="117968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050" rIns="1714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2F7D58"/>
                </a:solidFill>
                <a:latin typeface="Montserrat"/>
                <a:ea typeface="Montserrat"/>
                <a:cs typeface="Montserrat"/>
              </a:defRPr>
            </a:pPr>
            <a:r>
              <a:rPr lang="pt-BR" sz="1650" b="1" u="none" dirty="0">
                <a:solidFill>
                  <a:srgbClr val="2F7D58"/>
                </a:solidFill>
                <a:latin typeface="Montserrat"/>
                <a:ea typeface="Montserrat"/>
                <a:cs typeface="Montserrat"/>
              </a:rPr>
              <a:t>Cronograma</a:t>
            </a:r>
            <a:endParaRPr sz="1650" b="1" u="none" dirty="0">
              <a:solidFill>
                <a:srgbClr val="2F7D58"/>
              </a:solidFill>
              <a:latin typeface="Montserrat"/>
              <a:ea typeface="Montserrat"/>
              <a:cs typeface="Montserrat"/>
            </a:endParaRPr>
          </a:p>
        </p:txBody>
      </p:sp>
      <p:cxnSp>
        <p:nvCxnSpPr>
          <p:cNvPr id="82" name="Conector de Seta Reta 5"/>
          <p:cNvCxnSpPr/>
          <p:nvPr/>
        </p:nvCxnSpPr>
        <p:spPr>
          <a:xfrm>
            <a:off x="355320" y="1168200"/>
            <a:ext cx="11625120" cy="360"/>
          </a:xfrm>
          <a:prstGeom prst="straightConnector1">
            <a:avLst/>
          </a:prstGeom>
          <a:ln w="38160">
            <a:solidFill>
              <a:schemeClr val="accent6">
                <a:lumMod val="20000"/>
                <a:lumOff val="80000"/>
              </a:schemeClr>
            </a:solidFill>
            <a:round/>
            <a:tailEnd type="diamond" w="lg" len="lg"/>
          </a:ln>
        </p:spPr>
      </p:cxnSp>
      <p:sp>
        <p:nvSpPr>
          <p:cNvPr id="66" name="d17-text">
            <a:extLst>
              <a:ext uri="{FF2B5EF4-FFF2-40B4-BE49-F238E27FC236}">
                <a16:creationId xmlns:a16="http://schemas.microsoft.com/office/drawing/2014/main" id="{881B164C-226D-439C-957B-D97552CC2976}"/>
              </a:ext>
            </a:extLst>
          </p:cNvPr>
          <p:cNvSpPr>
            <a:spLocks noGrp="1"/>
          </p:cNvSpPr>
          <p:nvPr/>
        </p:nvSpPr>
        <p:spPr>
          <a:xfrm>
            <a:off x="428625" y="1447800"/>
            <a:ext cx="1133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F5B62"/>
                </a:solidFill>
                <a:latin typeface="Montserrat"/>
                <a:ea typeface="Montserrat"/>
                <a:cs typeface="Montserrat"/>
              </a:rPr>
              <a:t>A elicitação dos pesos pode começar antes do fechamento de todos os indicadores, desde que definições e fronteiras estejam estabilizadas.</a:t>
            </a:r>
          </a:p>
        </p:txBody>
      </p:sp>
      <p:graphicFrame>
        <p:nvGraphicFramePr>
          <p:cNvPr id="84" name="Tabela 83"/>
          <p:cNvGraphicFramePr/>
          <p:nvPr/>
        </p:nvGraphicFramePr>
        <p:xfrm>
          <a:off x="428625" y="1924050"/>
          <a:ext cx="11334750" cy="4048128"/>
        </p:xfrm>
        <a:graphic>
          <a:graphicData uri="http://schemas.openxmlformats.org/drawingml/2006/table">
            <a:tbl>
              <a:tblPr/>
              <a:tblGrid>
                <a:gridCol w="271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Etapa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Duração típica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Produto de controle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Dependência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Estrutura e questionário AHP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3–5 dias úteis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Manual de critérios e instrumento testado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Matriz aprovada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Respostas e oficina de pesos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5–10 dias úteis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Matrizes individuais e ata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Agenda dos especialistas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Consistência e segunda rodada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3–5 dias úteis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CR, justificativas e pesos agregados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Retorno dos participantes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Cálculo e auditoria dos indicadores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5–10 dias úteis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Fichas por projeto e base reproduzível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Dados consolidados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Agregação e sensibilidade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5–7 dias úteis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Ranking-base, cenários e estabilidade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Pesos e notas validados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83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Aprovação e redação final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3–5 dias úteis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D17 e base de evidências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0">
                          <a:solidFill>
                            <a:srgbClr val="263238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Comitê diretor</a:t>
                      </a:r>
                    </a:p>
                  </a:txBody>
                  <a:tcPr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8" name="d17-text">
            <a:extLst>
              <a:ext uri="{FF2B5EF4-FFF2-40B4-BE49-F238E27FC236}">
                <a16:creationId xmlns:a16="http://schemas.microsoft.com/office/drawing/2014/main" id="{E203F4BA-F090-41EF-95E8-789D82F97B77}"/>
              </a:ext>
            </a:extLst>
          </p:cNvPr>
          <p:cNvSpPr>
            <a:spLocks noGrp="1"/>
          </p:cNvSpPr>
          <p:nvPr/>
        </p:nvSpPr>
        <p:spPr>
          <a:xfrm>
            <a:off x="428625" y="6067425"/>
            <a:ext cx="1133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28575" rIns="47625" bIns="28575" anchor="ctr"/>
          <a:lstStyle/>
          <a:p>
            <a:pPr algn="l">
              <a:buNone/>
              <a:def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1">
                <a:solidFill>
                  <a:srgbClr val="6D777D"/>
                </a:solidFill>
                <a:latin typeface="Montserrat"/>
                <a:ea typeface="Montserrat"/>
                <a:cs typeface="Montserrat"/>
              </a:rPr>
              <a:t>Fonte(s): Estimativa operacional para o PLI-SP, compatível com o Plano de Ação REV00.</a:t>
            </a:r>
          </a:p>
        </p:txBody>
      </p:sp>
    </p:spTree>
    <p:extLst>
      <p:ext uri="{BB962C8B-B14F-4D97-AF65-F5344CB8AC3E}">
        <p14:creationId xmlns:p14="http://schemas.microsoft.com/office/powerpoint/2010/main" val="1902046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1371</Words>
  <Application>Microsoft Office PowerPoint</Application>
  <DocSecurity>0</DocSecurity>
  <PresentationFormat>Widescreen</PresentationFormat>
  <Paragraphs>177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Arial</vt:lpstr>
      <vt:lpstr>Montserrat</vt:lpstr>
      <vt:lpstr>Tema do Office</vt:lpstr>
      <vt:lpstr>Tema do Office</vt:lpstr>
      <vt:lpstr>Tema do Office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Fernando Fleury</cp:lastModifiedBy>
  <cp:revision>2</cp:revision>
  <dcterms:created xsi:type="dcterms:W3CDTF">2026-08-04T10:08:56Z</dcterms:created>
  <dcterms:modified xsi:type="dcterms:W3CDTF">2026-08-04T11:13:06Z</dcterms:modified>
</cp:coreProperties>
</file>