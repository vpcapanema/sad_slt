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1" r:id="rId2"/>
    <p:sldMasterId id="2147483652" r:id="rId3"/>
    <p:sldMasterId id="2147483653" r:id="rId4"/>
  </p:sldMasterIdLst>
  <p:notesMasterIdLst>
    <p:notesMasterId r:id="rId7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embeddedFontLst>
    <p:embeddedFont>
      <p:font typeface="Montserrat" panose="00000500000000000000" pitchFamily="2" charset="0"/>
      <p:regular r:id="rId73"/>
      <p:bold r:id="rId74"/>
      <p:italic r:id="rId75"/>
      <p:boldItalic r:id="rId76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font" Target="fonts/font2.fntdata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1.fntdata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Fontes internas do PLI-SP.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Ação PLI-SP REV00. D7 — Concepção da Visão do Sistema Logístico Multimodal.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Trabalho. Plano de Ação PLI-SP REV00. Matriz de Critérios e Premissas Fases V2 atualizada.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 e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V2. Índice de Risco e Restrição.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 e governança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Documentos metodológicos anexos; Banco Mundial (2016); Irlanda, Transport Appraisal Framework (2023).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Saaty (1990); Banco Mundial (2016); documentos metodológicos anexos.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documentos metodológicos anexos.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Trabalho; Critérios AHP V2; orientação do Governo do Estado registrada no desenvolvimento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(2008); Infra S.A (2024); Banco Mundial (2016); Irlanda (2023); Comissão Europeia (2014).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Banco Mundial (2016); Irlanda (2023); Silva (2008); documentos metodológicos anexos.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Saaty (1990), DOI 10.1016/0377-2217(90)90057-I;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Saaty (1990); Critérios AHP V2; documentos metodológicos anexos.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Saaty (1990);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Estimativa operacional para o PLI-SP, compatível com o Plano de Ação REV00.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documentos metodológicos anexos.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D7; benchmarks do Banco Mundial, Irlanda e Silva (2008).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D3, D6, D8–D13; D7 do PLI-SP.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D15 e D16; Infra S.A (2024); PPA 2024–2027.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D2, D8, D9 e D12; PPA 2024–2027; D7 do PLI-SP.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D2 e D5; D7 do PLI-SP; PPA 2024–2027.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D3 e D6; bases ARTESP, DER-SP, ANTT, Infosiga e órgãos modais.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D3, D6, D8–D12; D7; inventários e planos climáticos aplicáveis.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D6–D14; D7 do PLI-SP; planos territoriais e urbanos aplicáveis.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D5, D14–D18; fichas dos órgãos responsáveis.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D8–D18; práticas de gestão de risco e referência de classe.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V2; análise de redundância; benchmarks consultados.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D7 do PLI-SP; PPA 2024–2027; Critérios AHP V2; página institucional do PLI-SP.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 e Amorim.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 Transplan–Concremat;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Trabalho; D15;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Trabalho; D2–D5 e D8–D12;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Trabalho; Critérios AHP V2; bases setoriais e ambientais.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Plano de Trabalho; Plano de Ação REV00;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Análise dos Produtos D2–D18;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Matriz Fases V2 atualizada. Produtos D3–D13.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 e Produtos D2–D16.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Matriz Fases V2. Amorim, Acessibilidade, Segurança e Equidade.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 e Amorim.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Matriz Fases V2. Produtos D14 e D15.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Matriz Fases V2. Arquitetura conciliada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Governança do D17. Diretrizes do PLI-SP.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Saaty e operacionalização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Saaty. Critérios AHP V2. Operacionalização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Operacionalização do D17 e Amorim.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Operacionalização do D17. Matriz Fases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Amorim, Apêndice D. Matriz Fases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Arquitetura AHP + soma ponderada. Matriz Fases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Governança do D17. Amorim.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Silva, R. B. (2008), tese de doutorado, COPPE/UFRJ; Silva et al., SBPO (2011).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capítulo 5 e apêndices; Silva et al. (2011).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matriz principal e Tabela 5.9.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Tabela 5.9, p. 157 do documento.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matriz principal, apêndice.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matriz principal, apêndice.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matriz principal, apêndice.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Tabela 5.10, p. 157.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(2008), Tabelas 5.10 e 5.11, pp. 157–158.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Silva (2008); Critérios AHP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Exemplo elaborado para a Nota Técnica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Exemplo elaborado para a Nota Técnica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Exemplo elaborado para a Nota Técnica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Plano de Ação PLI-SP e operacionalização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Síntese das recomendações metodológicas e operacionais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1471FCFC-FDC8-4736-B0C0-892A1BC6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/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A00B5C77-B60C-45E4-BB91-567A6BCA53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8640" y="150840"/>
            <a:ext cx="454320" cy="214200"/>
          </a:xfrm>
          <a:prstGeom prst="rect">
            <a:avLst/>
          </a:prstGeom>
          <a:ln w="0">
            <a:noFill/>
          </a:ln>
        </p:spPr>
      </p:pic>
      <p:sp>
        <p:nvSpPr>
          <p:cNvPr id="3" name="CaixaDeTexto 5">
            <a:extLst>
              <a:ext uri="{FF2B5EF4-FFF2-40B4-BE49-F238E27FC236}">
                <a16:creationId xmlns:a16="http://schemas.microsoft.com/office/drawing/2014/main" id="{0B76F06E-DCF1-4D80-B11B-23A0D3F7CA96}"/>
              </a:ext>
            </a:extLst>
          </p:cNvPr>
          <p:cNvSpPr>
            <a:spLocks noGrp="1"/>
          </p:cNvSpPr>
          <p:nvPr/>
        </p:nvSpPr>
        <p:spPr>
          <a:xfrm>
            <a:off x="5842800" y="150480"/>
            <a:ext cx="5579640" cy="21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8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GOVERNO DO ESTADO DE SÃO PAULO | </a:t>
            </a:r>
            <a:r>
              <a:rPr sz="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SECRETARIA DE MEIO AMBIENTE, INFRAESTRUTURA E LOGÍSTICA</a:t>
            </a:r>
          </a:p>
        </p:txBody>
      </p:sp>
      <p:pic>
        <p:nvPicPr>
          <p:cNvPr id="15" name="Image 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2920" y="98640"/>
            <a:ext cx="834840" cy="458280"/>
          </a:xfrm>
          <a:prstGeom prst="rect">
            <a:avLst/>
          </a:prstGeom>
          <a:ln w="0">
            <a:noFill/>
          </a:ln>
        </p:spPr>
      </p:pic>
      <p:pic>
        <p:nvPicPr>
          <p:cNvPr id="16" name="Image 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46160" y="270000"/>
            <a:ext cx="1245960" cy="217080"/>
          </a:xfrm>
          <a:prstGeom prst="rect">
            <a:avLst/>
          </a:prstGeom>
          <a:ln w="0">
            <a:noFill/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1E8D1311-EFFE-45EC-8449-1664ED6F49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F0F90E3-C583-4865-AE3C-ABD20B2276CE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6A9AE2B8-AAC8-4513-8757-E4CC3365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84B2B3E7-36DB-40A4-B209-FF0B58144D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indent="-324000" algn="l">
              <a:spcBef>
                <a:spcPts val="1134"/>
              </a:spcBef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indent="-288000" algn="l">
              <a:spcBef>
                <a:spcPts val="850"/>
              </a:spcBef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indent="-216000" algn="l">
              <a:spcBef>
                <a:spcPts val="567"/>
              </a:spcBef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>
            <a:extLst>
              <a:ext uri="{FF2B5EF4-FFF2-40B4-BE49-F238E27FC236}">
                <a16:creationId xmlns:a16="http://schemas.microsoft.com/office/drawing/2014/main" id="{D3C219AB-C8D2-44EA-9A71-D488DD21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3462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>
              <a:lnSpc>
                <a:spcPct val="90000"/>
              </a:lnSpc>
              <a:buNone/>
              <a:defRPr sz="1600" b="1" u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sz="1600" b="1" u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OBRIGADO</a:t>
            </a:r>
          </a:p>
        </p:txBody>
      </p:sp>
      <p:pic>
        <p:nvPicPr>
          <p:cNvPr id="15" name="Google Shape;426;p1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6710400"/>
            <a:ext cx="12191760" cy="1454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2">
            <a:extLst>
              <a:ext uri="{FF2B5EF4-FFF2-40B4-BE49-F238E27FC236}">
                <a16:creationId xmlns:a16="http://schemas.microsoft.com/office/drawing/2014/main" id="{1924AC8D-D77B-4B8A-A97C-38ADF19694B3}"/>
              </a:ext>
            </a:extLst>
          </p:cNvPr>
          <p:cNvSpPr>
            <a:spLocks noGrp="1"/>
          </p:cNvSpPr>
          <p:nvPr/>
        </p:nvSpPr>
        <p:spPr>
          <a:xfrm>
            <a:off x="0" y="2160"/>
            <a:ext cx="12191760" cy="719640"/>
          </a:xfrm>
          <a:prstGeom prst="rect">
            <a:avLst/>
          </a:prstGeom>
          <a:solidFill>
            <a:schemeClr val="accent6">
              <a:alpha val="20000"/>
            </a:scheme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" name="Retângulo 4">
            <a:extLst>
              <a:ext uri="{FF2B5EF4-FFF2-40B4-BE49-F238E27FC236}">
                <a16:creationId xmlns:a16="http://schemas.microsoft.com/office/drawing/2014/main" id="{ADA59D9A-35D8-4B47-97C3-AD4F85A5E598}"/>
              </a:ext>
            </a:extLst>
          </p:cNvPr>
          <p:cNvSpPr>
            <a:spLocks noGrp="1"/>
          </p:cNvSpPr>
          <p:nvPr/>
        </p:nvSpPr>
        <p:spPr>
          <a:xfrm rot="16200000">
            <a:off x="-3084840" y="3085200"/>
            <a:ext cx="6709680" cy="539640"/>
          </a:xfrm>
          <a:prstGeom prst="rect">
            <a:avLst/>
          </a:prstGeom>
          <a:noFill/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" name="Retângulo 5">
            <a:extLst>
              <a:ext uri="{FF2B5EF4-FFF2-40B4-BE49-F238E27FC236}">
                <a16:creationId xmlns:a16="http://schemas.microsoft.com/office/drawing/2014/main" id="{C33FE77A-B46C-4D95-B2B2-ECE141BFBF85}"/>
              </a:ext>
            </a:extLst>
          </p:cNvPr>
          <p:cNvSpPr>
            <a:spLocks noGrp="1"/>
          </p:cNvSpPr>
          <p:nvPr/>
        </p:nvSpPr>
        <p:spPr>
          <a:xfrm rot="16200000">
            <a:off x="8566920" y="3085200"/>
            <a:ext cx="6709680" cy="539640"/>
          </a:xfrm>
          <a:prstGeom prst="rect">
            <a:avLst/>
          </a:prstGeom>
          <a:noFill/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" name="Retângulo 6">
            <a:extLst>
              <a:ext uri="{FF2B5EF4-FFF2-40B4-BE49-F238E27FC236}">
                <a16:creationId xmlns:a16="http://schemas.microsoft.com/office/drawing/2014/main" id="{BE778A2F-3539-49BB-9071-D939B0D0C68C}"/>
              </a:ext>
            </a:extLst>
          </p:cNvPr>
          <p:cNvSpPr>
            <a:spLocks noGrp="1"/>
          </p:cNvSpPr>
          <p:nvPr/>
        </p:nvSpPr>
        <p:spPr>
          <a:xfrm>
            <a:off x="0" y="6276960"/>
            <a:ext cx="12191760" cy="432720"/>
          </a:xfrm>
          <a:prstGeom prst="rect">
            <a:avLst/>
          </a:prstGeom>
          <a:noFill/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>
            <a:extLst>
              <a:ext uri="{FF2B5EF4-FFF2-40B4-BE49-F238E27FC236}">
                <a16:creationId xmlns:a16="http://schemas.microsoft.com/office/drawing/2014/main" id="{B673CAF0-63ED-4667-942F-10A44F037C9E}"/>
              </a:ext>
            </a:extLst>
          </p:cNvPr>
          <p:cNvSpPr>
            <a:spLocks noGrp="1"/>
          </p:cNvSpPr>
          <p:nvPr/>
        </p:nvSpPr>
        <p:spPr>
          <a:xfrm>
            <a:off x="75240" y="3083400"/>
            <a:ext cx="5705280" cy="2547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Contexto e triagem prévia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Alternativas e benchmarks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Contribuições de Amorim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AHP e arquitetura decisória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Nove dimensões e 21 indicadores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Integração das 74 variáveis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Workshops e governança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Benchmark, exemplo e cronograma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Revisão 02 — agosto de 2026</a:t>
            </a:r>
          </a:p>
        </p:txBody>
      </p:sp>
      <p:pic>
        <p:nvPicPr>
          <p:cNvPr id="48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8640" y="150840"/>
            <a:ext cx="454320" cy="214200"/>
          </a:xfrm>
          <a:prstGeom prst="rect">
            <a:avLst/>
          </a:prstGeom>
          <a:ln w="0">
            <a:noFill/>
          </a:ln>
        </p:spPr>
      </p:pic>
      <p:sp>
        <p:nvSpPr>
          <p:cNvPr id="26" name="Retângulo 7">
            <a:extLst>
              <a:ext uri="{FF2B5EF4-FFF2-40B4-BE49-F238E27FC236}">
                <a16:creationId xmlns:a16="http://schemas.microsoft.com/office/drawing/2014/main" id="{B838C6CB-4BB7-4DCC-9066-96DCA91ED7AF}"/>
              </a:ext>
            </a:extLst>
          </p:cNvPr>
          <p:cNvSpPr>
            <a:spLocks noGrp="1"/>
          </p:cNvSpPr>
          <p:nvPr/>
        </p:nvSpPr>
        <p:spPr>
          <a:xfrm>
            <a:off x="37080" y="2342880"/>
            <a:ext cx="5743440" cy="5930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defRPr sz="150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50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Nota Técnica — Produto D17</a:t>
            </a:r>
          </a:p>
        </p:txBody>
      </p:sp>
      <p:sp>
        <p:nvSpPr>
          <p:cNvPr id="27" name="Retângulo: Cantos Arredondados 12">
            <a:extLst>
              <a:ext uri="{FF2B5EF4-FFF2-40B4-BE49-F238E27FC236}">
                <a16:creationId xmlns:a16="http://schemas.microsoft.com/office/drawing/2014/main" id="{714E7876-6103-4349-AF14-6D234F2B0492}"/>
              </a:ext>
            </a:extLst>
          </p:cNvPr>
          <p:cNvSpPr>
            <a:spLocks noGrp="1"/>
          </p:cNvSpPr>
          <p:nvPr/>
        </p:nvSpPr>
        <p:spPr>
          <a:xfrm>
            <a:off x="65520" y="910080"/>
            <a:ext cx="7307640" cy="1197657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defRPr sz="2100" b="1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2100" b="1" u="none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HIERARQUIZAÇÃO DOS PROJETOS DO PLI-SP 2050</a:t>
            </a:r>
          </a:p>
        </p:txBody>
      </p:sp>
      <p:pic>
        <p:nvPicPr>
          <p:cNvPr id="51" name="Imagem 6"/>
          <p:cNvPicPr>
            <a:picLocks noChangeAspect="1"/>
          </p:cNvPicPr>
          <p:nvPr/>
        </p:nvPicPr>
        <p:blipFill>
          <a:blip r:embed="rId4"/>
          <a:stretch/>
        </p:blipFill>
        <p:spPr>
          <a:xfrm flipH="1">
            <a:off x="8579520" y="923400"/>
            <a:ext cx="2931480" cy="2239920"/>
          </a:xfrm>
          <a:prstGeom prst="rect">
            <a:avLst/>
          </a:prstGeom>
          <a:ln w="0">
            <a:noFill/>
          </a:ln>
        </p:spPr>
      </p:pic>
      <p:pic>
        <p:nvPicPr>
          <p:cNvPr id="52" name="Imagem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11240" y="3483000"/>
            <a:ext cx="4285800" cy="3134160"/>
          </a:xfrm>
          <a:prstGeom prst="rect">
            <a:avLst/>
          </a:prstGeom>
          <a:ln w="0">
            <a:noFill/>
          </a:ln>
        </p:spPr>
      </p:pic>
      <p:pic>
        <p:nvPicPr>
          <p:cNvPr id="53" name="Imagem 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70320" y="4070880"/>
            <a:ext cx="3333600" cy="2626920"/>
          </a:xfrm>
          <a:prstGeom prst="rect">
            <a:avLst/>
          </a:prstGeom>
          <a:ln w="0">
            <a:noFill/>
          </a:ln>
        </p:spPr>
      </p:pic>
      <p:pic>
        <p:nvPicPr>
          <p:cNvPr id="54" name="Imagem 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627960" y="2116080"/>
            <a:ext cx="2113560" cy="1969560"/>
          </a:xfrm>
          <a:prstGeom prst="rect">
            <a:avLst/>
          </a:prstGeom>
          <a:ln w="0">
            <a:noFill/>
          </a:ln>
        </p:spPr>
      </p:pic>
      <p:pic>
        <p:nvPicPr>
          <p:cNvPr id="55" name="Imagem 1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405440" y="3215160"/>
            <a:ext cx="351360" cy="344160"/>
          </a:xfrm>
          <a:prstGeom prst="rect">
            <a:avLst/>
          </a:prstGeom>
          <a:ln w="0">
            <a:noFill/>
          </a:ln>
        </p:spPr>
      </p:pic>
      <p:pic>
        <p:nvPicPr>
          <p:cNvPr id="56" name="Imagem 1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579520" y="2200680"/>
            <a:ext cx="576720" cy="159480"/>
          </a:xfrm>
          <a:prstGeom prst="rect">
            <a:avLst/>
          </a:prstGeom>
          <a:ln w="0">
            <a:noFill/>
          </a:ln>
        </p:spPr>
      </p:pic>
      <p:pic>
        <p:nvPicPr>
          <p:cNvPr id="57" name="Imagem 1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067960" y="6378840"/>
            <a:ext cx="646200" cy="178920"/>
          </a:xfrm>
          <a:prstGeom prst="rect">
            <a:avLst/>
          </a:prstGeom>
          <a:ln w="0">
            <a:noFill/>
          </a:ln>
        </p:spPr>
      </p:pic>
      <p:pic>
        <p:nvPicPr>
          <p:cNvPr id="58" name="Imagem 1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467480" y="3945240"/>
            <a:ext cx="28440" cy="652680"/>
          </a:xfrm>
          <a:prstGeom prst="rect">
            <a:avLst/>
          </a:prstGeom>
          <a:ln w="0">
            <a:noFill/>
          </a:ln>
        </p:spPr>
      </p:pic>
      <p:pic>
        <p:nvPicPr>
          <p:cNvPr id="59" name="Imagem 17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919280" y="1097280"/>
            <a:ext cx="240120" cy="1317960"/>
          </a:xfrm>
          <a:prstGeom prst="rect">
            <a:avLst/>
          </a:prstGeom>
          <a:ln w="0">
            <a:noFill/>
          </a:ln>
        </p:spPr>
      </p:pic>
      <p:pic>
        <p:nvPicPr>
          <p:cNvPr id="60" name="Imagem 18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0914120" y="3228480"/>
            <a:ext cx="173520" cy="1028520"/>
          </a:xfrm>
          <a:prstGeom prst="rect">
            <a:avLst/>
          </a:prstGeom>
          <a:ln w="0">
            <a:noFill/>
          </a:ln>
        </p:spPr>
      </p:pic>
      <p:pic>
        <p:nvPicPr>
          <p:cNvPr id="61" name="Imagem 19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451640" y="1114920"/>
            <a:ext cx="233280" cy="934920"/>
          </a:xfrm>
          <a:prstGeom prst="rect">
            <a:avLst/>
          </a:prstGeom>
          <a:ln w="0">
            <a:noFill/>
          </a:ln>
        </p:spPr>
      </p:pic>
      <p:pic>
        <p:nvPicPr>
          <p:cNvPr id="62" name="Imagem 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1865600" y="2057400"/>
            <a:ext cx="28800" cy="1197000"/>
          </a:xfrm>
          <a:prstGeom prst="rect">
            <a:avLst/>
          </a:prstGeom>
          <a:ln w="0">
            <a:noFill/>
          </a:ln>
        </p:spPr>
      </p:pic>
      <p:pic>
        <p:nvPicPr>
          <p:cNvPr id="63" name="Imagem 22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1224800" y="5859720"/>
            <a:ext cx="480960" cy="487800"/>
          </a:xfrm>
          <a:prstGeom prst="rect">
            <a:avLst/>
          </a:prstGeom>
          <a:ln w="0">
            <a:noFill/>
          </a:ln>
        </p:spPr>
      </p:pic>
      <p:pic>
        <p:nvPicPr>
          <p:cNvPr id="64" name="Imagem 23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781000" y="5450760"/>
            <a:ext cx="240120" cy="1317960"/>
          </a:xfrm>
          <a:prstGeom prst="rect">
            <a:avLst/>
          </a:prstGeom>
          <a:ln w="0">
            <a:noFill/>
          </a:ln>
        </p:spPr>
      </p:pic>
      <p:pic>
        <p:nvPicPr>
          <p:cNvPr id="65" name="Imagem 24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0077840" y="1088280"/>
            <a:ext cx="480960" cy="487800"/>
          </a:xfrm>
          <a:prstGeom prst="rect">
            <a:avLst/>
          </a:prstGeom>
          <a:ln w="0">
            <a:noFill/>
          </a:ln>
        </p:spPr>
      </p:pic>
      <p:pic>
        <p:nvPicPr>
          <p:cNvPr id="66" name="Imagem 25"/>
          <p:cNvPicPr>
            <a:picLocks noChangeAspect="1"/>
          </p:cNvPicPr>
          <p:nvPr/>
        </p:nvPicPr>
        <p:blipFill>
          <a:blip r:embed="rId11"/>
          <a:srcRect t="80135"/>
          <a:stretch/>
        </p:blipFill>
        <p:spPr>
          <a:xfrm>
            <a:off x="6998760" y="3742920"/>
            <a:ext cx="279000" cy="258840"/>
          </a:xfrm>
          <a:prstGeom prst="rect">
            <a:avLst/>
          </a:prstGeom>
          <a:ln w="0">
            <a:noFill/>
          </a:ln>
        </p:spPr>
      </p:pic>
      <p:pic>
        <p:nvPicPr>
          <p:cNvPr id="67" name="Imagem 26"/>
          <p:cNvPicPr>
            <a:picLocks noChangeAspect="1"/>
          </p:cNvPicPr>
          <p:nvPr/>
        </p:nvPicPr>
        <p:blipFill>
          <a:blip r:embed="rId11"/>
          <a:srcRect t="80135"/>
          <a:stretch/>
        </p:blipFill>
        <p:spPr>
          <a:xfrm>
            <a:off x="11531520" y="1428480"/>
            <a:ext cx="279000" cy="258840"/>
          </a:xfrm>
          <a:prstGeom prst="rect">
            <a:avLst/>
          </a:prstGeom>
          <a:ln w="0">
            <a:noFill/>
          </a:ln>
        </p:spPr>
      </p:pic>
      <p:pic>
        <p:nvPicPr>
          <p:cNvPr id="68" name="Imagem 27"/>
          <p:cNvPicPr>
            <a:picLocks noChangeAspect="1"/>
          </p:cNvPicPr>
          <p:nvPr/>
        </p:nvPicPr>
        <p:blipFill>
          <a:blip r:embed="rId12"/>
          <a:srcRect t="82004"/>
          <a:stretch/>
        </p:blipFill>
        <p:spPr>
          <a:xfrm>
            <a:off x="9163080" y="3254760"/>
            <a:ext cx="173520" cy="1850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6156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D17 seleciona projetos de alto impacto e organiza sua implantação no tempo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664328-A54A-4914-84C5-463E6BD7AF3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hierarquização transforma uma carteira heterogênea em recomendação pública compreensível, reproduzível e revisável.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C8287ED-5132-4A06-AB40-E0601091332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D50EC4D-CC5D-4D9D-9DEE-106F202D9527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Decisões que o produto precisa apoiar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5627761-0777-4A2C-808F-0C8549F4A4C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Selecionar projetos que combinem contribuição estratégica, benefícios verificáveis, equidade territorial, sustentabilidade e capacidade de entrega.
• Distinguir mérito, maturidade e restrições.
• Recomendar prioridades de curto, médio e longo prazos.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07017DB-01F7-4E01-B52E-82B5261B7DF2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5C15DCA-73B2-4B9B-8D9C-6C39DEEC941F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Natureza da hierarquização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76A33A2-D097-44E3-8D24-EFD7646DED7D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A classificação não substitui viabilidade, orçamento, licenciamento ou autorização governamental.
• A carteira mostrará nota global, resultados por dimensão, qualidade da evidência, estabilidade do ranking e condicionantes de implantação.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8C9E99A7-8395-4AD8-9797-65005463CE2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Ação PLI-SP REV00. D7 — Concepção da Visão do Sistema Logístico Multimodal.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Os produtos anteriores alimentam o D17 e a triagem ocorre antes da pontuação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362EC402-AA90-4849-AE14-8883987E9A84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Projetos somente podem ser comparados depois de terem escopo, contrafactual, custos, benefícios e evidências organizados segundo regras comuns.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ABF51E01-D79A-4E39-8BE5-5DDC313BCA6B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47B7BE4-FAA8-4C49-B616-82AD24150A7C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Base técnica e territorial — D2 a D13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8C17048-ED5F-425C-9087-2B0C613A98A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Diagnósticos, matrizes de transporte, redes, demanda, cenários e níveis de serviço formam a linha de base e explicam onde estão os gargalos, quem é afetado e como a rede responde.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5DC887E7-4120-46CA-98C3-359BB5CB8EE7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252BCC4C-5BC9-4136-B14B-720967E674F8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Definição e valoração — D14, D15 e D16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AAE1D577-BE1A-44CA-BDAC-FA5CE7BC6A6B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D14 consolida intervenções, o D15 estima custos e cronogramas e o D16 calcula benefícios econômicos. Esses resultados alimentam os indicadores e não são pesos autônomos.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B85B912D-9C81-40CC-9392-0E18B2B5519E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7295B012-472B-421F-B0C4-2FD84C84B0C3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Triagem, hierarquização e governança — Matriz Fases, D17 e D18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2DA3DF25-F15C-4D85-AF36-8D2F1163C247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Fase 1 examina 23 riscos e restrições antes das notas. O D17 calcula indicadores, pesos, ranking e sensibilidade. Uma ficha institucional preliminar antecipa informações críticas do D18.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2C36A4CC-20D7-4F17-A3AA-8454FA65754B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Trabalho. Plano de Ação PLI-SP REV00. Matriz de Critérios e Premissas Fases V2 atualizada.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triagem prévia precede qualquer nota e impede compensações indevidas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15BBED3-3A46-44DB-9A9B-5C3CB0BFFFB9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processo passa a ter seis momentos sucessivos. Somente projetos elegíveis ou elegíveis com condições seguem para os 21 indicadores.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B5491272-94CE-44CF-BA6F-708ABC65061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B12451-DC85-4C9A-BFA4-83EAE372992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1. Escopo comparável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89E982-8742-400B-B57F-59F201301FC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Ficha do projeto, alternativa, área de influência, cenário sem projeto, custos, prazo e responsáveis.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93223E58-17CE-40C7-B157-1BF5132F6AC9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BA801F5-BF81-41C0-91DE-EF71C656E22E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2. Fase 1 — 23 gates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7584AE2-8ECA-489B-8B06-104E3621282F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Verificações ambientais, sociais, territoriais, fundiárias, de risco físico e de impedimento legal.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BFE2677-1FEE-48B3-8555-843CA262849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F0E8C25-E154-4F8E-8FE7-5739C95E6457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3. Fase 2 — 35 camadas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75BCE3E-3547-4AA0-88B1-9D1B40D3386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Dados espaciais e quantitativos formam benefícios técnicos, econômicos, sociais, ambientais e territoriais.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980D7C6D-7E56-43DD-8390-D37C1460AF1B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5BD21677-295D-4EE8-92CC-914505C20BB6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4. Fase 3 — 16 atributos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E4E8ADE7-C034-4F88-835C-665DB85D4E3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Maturidade, finanças, governança e entregabilidade completam o perfil de cada projeto.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C84B64D-B966-44C2-84F3-BF1FAAF2CB17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98D0AA16-CE80-4785-BF0F-7EA49345CEA2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5. AHP e 21 indicadores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33378B8-DADC-4F3E-B958-1848F312FADB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Pesos são definidos por oito representantes. Notas são normalizadas e agregadas com rastreabilidade.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4346C95F-FAFB-48B8-8B3A-DEB10EDA15EF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A6DDBC2B-F154-4811-A622-6339A98C162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6. Resultado e horizonte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71A88A1-9FF6-4706-B6CE-14DFC5B8CA25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Ranking, resultados por dimensão, sensibilidade, condicionantes e recomendação temporal.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7251ABC6-2139-4550-A721-C62F5D1C347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 e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Fase 1 reúne 23 verificações de risco e restrição antes do ranking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sobreposição espacial inicia a análise, mas somente a validação técnica e jurídica converte uma ocorrência em condicionante ou impedimento.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Grupo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Qtd.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Exemplos de verificação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Efeito decisório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Unidades de conservação, APP, mananciais, vegetação, patrimônio e povos tradicionais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Passa, condiciona, suspende ou exclui após validação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Social e territorial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Comunidades, assentamentos, terras indígenas e compatibilidade territorial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Exige consulta, ajuste de traçado ou evidência complementar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Risco físico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Inundação, deslizamento e processos geotécnicos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Converte risco bruto em risco residual após mitigação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Fundiário e faixas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Desapropriações, servidões e interferências de infraestrutura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Quantifica custo, prazo e possibilidade de alternativa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Legal e institucional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Competência, norma vigente e impedimento 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Pode produzir veto quando não houver alternativa viável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V2. Índice de Risco e Restrição.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gate produz cinco resultados e exclui apenas impedimentos formalmente confirmados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resultado combina risco médio aplicável e a maior restrição confirmada. Ausência de dado nunca recebe nota zero.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Situação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Regra objetiva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Efeito no processo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Evidência mínima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Elegível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Nenhuma restrição confirmada e risco residual controlável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Segue para cálculo dos 21 indicadores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Camadas conferidas e validação do órgão competente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Elegível com condições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Há impacto mitigável, autorização possível ou obrigação de adequação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Segue com condicionante, custo, prazo e responsável registrados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Plano de ação e aceite do ponto de contato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Suspenso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Falta evidência essencial ou há dúvida jurídica ou territorial material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Não recebe ranking até a pendência ser resolvida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Lista de lacunas, responsável e data de reavaliação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Excluído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Impedimento vigente, aplicável e sem alternativa técnica ou mitigação factível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Sai da seleção e da priorização subsequentes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Parecer formal e registro da decisão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Não aplicável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 tema não incide sobre a tipologia ou a área do projeto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Item é retirado do denominador e documentado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Justificativa técnica verificável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 e governança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Há diferentes alternativas metodológicas para cumprir os objetivos do D17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15BBED3-3A46-44DB-9A9B-5C3CB0BFFFB9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As alternativas variam na forma de obter pesos, agregar desempenhos, admitir compensações e representar restrições.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B5491272-94CE-44CF-BA6F-708ABC65061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B12451-DC85-4C9A-BFA4-83EAE372992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AHP + soma ponderada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89E982-8742-400B-B57F-59F201301FC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Comparações par a par definem pesos; indicadores normalizados geram a nota global. É transparente e permite teste de consistência.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93223E58-17CE-40C7-B157-1BF5132F6AC9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BA801F5-BF81-41C0-91DE-EF71C656E22E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Soma ponderada direta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7584AE2-8ECA-489B-8B06-104E3621282F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Pesos são atribuídos diretamente, sem comparações par a par. É a opção mais simples, porém oferece menor disciplina para revelar incoerências.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BFE2677-1FEE-48B3-8555-843CA262849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F0E8C25-E154-4F8E-8FE7-5739C95E6457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TOPSIS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75BCE3E-3547-4AA0-88B1-9D1B40D3386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Ordena projetos pela proximidade de uma solução ideal e distância da pior solução. É útil como verificação de robustez.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980D7C6D-7E56-43DD-8390-D37C1460AF1B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5BD21677-295D-4EE8-92CC-914505C20BB6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ELECTRE ou PROMETHEE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E4E8ADE7-C034-4F88-835C-665DB85D4E3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Métodos de sobreclassificação permitem limiares, preferência e veto. São adequados quando desempenho excelente não deve compensar falhas críticas.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C84B64D-B966-44C2-84F3-BF1FAAF2CB17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98D0AA16-CE80-4785-BF0F-7EA49345CEA2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MACBETH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33378B8-DADC-4F3E-B958-1848F312FADB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Converte julgamentos semânticos de diferença de atratividade em escalas cardinais. Favorece deliberação, mas exige facilitação intensa.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4346C95F-FAFB-48B8-8B3A-DEB10EDA15EF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A6DDBC2B-F154-4811-A622-6339A98C162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CBA e otimização de portfólio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71A88A1-9FF6-4706-B6CE-14DFC5B8CA25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análise custo-benefício monetiza eficiência; a otimização seleciona combinações sob orçamento e dependências. São complementares ao MCDA.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7251ABC6-2139-4550-A721-C62F5D1C347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Documentos metodológicos anexos; Banco Mundial (2016); Irlanda, Transport Appraisal Framework (2023).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escolha do método depende de quanto a decisão aceita compensações entre critérios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ponto central não é qual método é universalmente superior, mas qual regra traduz melhor a decisão pública pretendida.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Método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Regra de decisão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Quando é mais adequado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Limitação principal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AHP + WSM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Compensação explícita por pesos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Carteiras amplas, critérios mistos e necessidade de transparência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Exige controlar redundância e sensibilidade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WSM direto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Compensação por pesos atribuídos diretamente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Prazo curto e consenso prévio sobre pesos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Não testa coerência dos julgamentos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TOPSIS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Distância ao ideal e ao anti-ideal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Comparação relativa e teste alternativo do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Ranking depende do conjunto de alternativas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ELECTRE/PROMETHEE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Sobreclassificação, limiares e veto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Critérios não compensatórios ou restrições críticas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Mais parâmetros e comunicação mais complexa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MACBETH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Diferenças qualitativas convertidas em escala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Painéis deliberativos com pouca informação quantitativa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Facilitação e tempo de oficina elevados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Saaty (1990); Banco Mundial (2016); documentos metodológicos anexos.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Escalabilidade e auditabilidade favorecem uma solução híbrida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3A243551-F39E-44D3-AAB1-FD71E18FB46E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Comparar todos os projetos par a par pelo AHP completo não é operacional; comparar apenas critérios preserva o benefício do método.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Alternativa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Esforço de aplicação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Auditabilidade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Adequação ao D17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AHP completo para projetos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Muito alto: n(n−1)/2 pares por critério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Alta, se houver consistência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Não recomendada para carteira extensa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AHP apenas para pesos + WSM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Moderado: 52 comparações na hierarquia proposta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Alta; pesos, fórmulas e notas ficam rastreáveis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Recomendada como solução-base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WSM com pesos diretos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Baixo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Média; exige justificativa externa dos pesos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Plano de contingência se a agenda for crítica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TOPSIS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Moderado após consolidação dos dados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Média-alta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Recomendado como teste de robustez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Sobreclassificação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Alto para calibrar limiares e vetos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Alta para regras críticas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Aplicação seletiva a requisitos de exclusão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CBA/otimização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Alto e dependente de dados maduros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Complemento para eficiência e faseamento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95BCE306-1CBC-44C2-9934-D2CC8E382292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documentos metodológicos anexos.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Recomendação: AHP para os pesos, WSM para o ranking e sensibilidade para a decisão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13D2866F-1351-4B3A-8F76-58ECE3870D22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Termo de Referência não impõe o AHP; a escolha decorre da preferência informada do Governo do Estado e de sua adequação ao problema.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8F935836-A4B6-46F5-8169-E1516BC4FB5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A91CA2FF-CC93-48B7-8EFE-D225DD9EC51E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Por que adotar esta combinação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F9B931C8-3D65-4C61-BADE-CF26B37D1ADE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AHP disciplina a discussão sobre importância relativa, obriga o painel a explicitar comparações e oferece uma verificação de consistência. A soma ponderada — Weighted Sum Model, WSM — permite aplicar os pesos a dezenas ou centenas de projetos sem multiplicar julgamentos subjetivos. Cenários, variação de pesos, bootstrap dos julgamentos e TOPSIS de controle demonstram se as primeiras posições são estáveis ou dependem de escolhas estreitas.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784EEA0-CEF0-4C99-B54B-AB2BE859C15C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CA8AF83E-AAFF-49E8-8FCF-0DE1FE10550C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Condição para que a recomendação seja válida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FD4A743-1B36-48DB-8165-EA83A944BF98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desenho deve ser validado formalmente pela SEMIL e pelos órgãos de governo envolvidos. Se o painel não puder cumprir a agenda de comparações ou se a qualidade dos dados inviabilizar parte dos indicadores, a soma ponderada com pesos diretos documentados é uma alternativa mais simples capaz de produzir o mesmo tipo de saída. O relatório deverá registrar que a preferência pelo AHP é institucional, não uma exigência do escopo contratual.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DA16FC22-E05F-4580-BEBE-6D1C2315D1B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Trabalho; Critérios AHP V2; orientação do Governo do Estado registrada no desenvolvimento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Benchmarks confirmam o uso combinado de análise econômica e multicritério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6235C121-E86F-4124-BC82-D7E15BA9FC8C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Os precedentes mostram famílias de prática; nem todos utilizam AHP, e essa diversidade é precisamente a lição metodológica.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D835B5B6-3483-49C0-9595-3AF51E0331EE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600700" cy="1273175"/>
          </a:xfrm>
          <a:prstGeom prst="roundRect">
            <a:avLst>
              <a:gd name="adj" fmla="val 8978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316EF4-7E5E-450E-B180-57222B1CE329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Brasil — carteira PNLT/PAC analisada por Silva (2008)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AA1DE05F-5A2F-4FFD-92AC-419E3C99ED06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3721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Aplicação acadêmica sobre carteira real: Delphi selecionou critérios, TOPSIS reduziu 60 projetos a 25 e AHP obteve pesos por grupos modais. É o benchmark aprofundado desta apresentação.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BA9EDE9-4EBB-4B77-BD3A-9594FE4134D2}"/>
              </a:ext>
            </a:extLst>
          </p:cNvPr>
          <p:cNvSpPr>
            <a:spLocks noGrp="1"/>
          </p:cNvSpPr>
          <p:nvPr/>
        </p:nvSpPr>
        <p:spPr>
          <a:xfrm>
            <a:off x="6162675" y="1924050"/>
            <a:ext cx="5600700" cy="1273175"/>
          </a:xfrm>
          <a:prstGeom prst="roundRect">
            <a:avLst>
              <a:gd name="adj" fmla="val 8978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18636894-F53A-4552-9A7A-5071ECF37E05}"/>
              </a:ext>
            </a:extLst>
          </p:cNvPr>
          <p:cNvSpPr>
            <a:spLocks noGrp="1"/>
          </p:cNvSpPr>
          <p:nvPr/>
        </p:nvSpPr>
        <p:spPr>
          <a:xfrm>
            <a:off x="6276975" y="2019300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Brasil — Manual de Avaliação da Infra S.A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8408118B-88B7-41D8-B9EF-8BB408C8C10B}"/>
              </a:ext>
            </a:extLst>
          </p:cNvPr>
          <p:cNvSpPr>
            <a:spLocks noGrp="1"/>
          </p:cNvSpPr>
          <p:nvPr/>
        </p:nvSpPr>
        <p:spPr>
          <a:xfrm>
            <a:off x="6276975" y="2352675"/>
            <a:ext cx="53721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Referência pública para avaliação socioeconômica de infraestrutura de transportes. Reforça a necessidade de contrafactual, custos, benefícios e análise de risco, complementando critérios não monetizáveis.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C3C56F22-A2E3-4B62-8C22-7C336BDD04FA}"/>
              </a:ext>
            </a:extLst>
          </p:cNvPr>
          <p:cNvSpPr>
            <a:spLocks noGrp="1"/>
          </p:cNvSpPr>
          <p:nvPr/>
        </p:nvSpPr>
        <p:spPr>
          <a:xfrm>
            <a:off x="428625" y="3311525"/>
            <a:ext cx="5600700" cy="1273175"/>
          </a:xfrm>
          <a:prstGeom prst="roundRect">
            <a:avLst>
              <a:gd name="adj" fmla="val 8978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CD3E4504-85AA-40CE-9758-4CF0F4829226}"/>
              </a:ext>
            </a:extLst>
          </p:cNvPr>
          <p:cNvSpPr>
            <a:spLocks noGrp="1"/>
          </p:cNvSpPr>
          <p:nvPr/>
        </p:nvSpPr>
        <p:spPr>
          <a:xfrm>
            <a:off x="542925" y="3406775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Banco Mundial — Infrastructure Prioritization Framework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291EF3FD-E783-4E87-AC55-A35340AC092A}"/>
              </a:ext>
            </a:extLst>
          </p:cNvPr>
          <p:cNvSpPr>
            <a:spLocks noGrp="1"/>
          </p:cNvSpPr>
          <p:nvPr/>
        </p:nvSpPr>
        <p:spPr>
          <a:xfrm>
            <a:off x="542925" y="3740150"/>
            <a:ext cx="53721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Estrutura MCDA para carteiras com dados básicos, combinando índices econômico-financeiro e socioambiental, restrição orçamentária e transparência prévia de critérios e pesos.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6F26423E-5A2B-41FD-8736-E95EAEEBC393}"/>
              </a:ext>
            </a:extLst>
          </p:cNvPr>
          <p:cNvSpPr>
            <a:spLocks noGrp="1"/>
          </p:cNvSpPr>
          <p:nvPr/>
        </p:nvSpPr>
        <p:spPr>
          <a:xfrm>
            <a:off x="6162675" y="3311525"/>
            <a:ext cx="5600700" cy="1273175"/>
          </a:xfrm>
          <a:prstGeom prst="roundRect">
            <a:avLst>
              <a:gd name="adj" fmla="val 8978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D01D6BCD-3FCB-4347-9814-C4D6A635CB5C}"/>
              </a:ext>
            </a:extLst>
          </p:cNvPr>
          <p:cNvSpPr>
            <a:spLocks noGrp="1"/>
          </p:cNvSpPr>
          <p:nvPr/>
        </p:nvSpPr>
        <p:spPr>
          <a:xfrm>
            <a:off x="6276975" y="3406775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Irlanda — Transport Appraisal Framework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832AC540-3611-40BE-88AE-46A0531D53A6}"/>
              </a:ext>
            </a:extLst>
          </p:cNvPr>
          <p:cNvSpPr>
            <a:spLocks noGrp="1"/>
          </p:cNvSpPr>
          <p:nvPr/>
        </p:nvSpPr>
        <p:spPr>
          <a:xfrm>
            <a:off x="6276975" y="3740150"/>
            <a:ext cx="53721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Orienta avaliação e implementação de investimentos de transporte, combinando análise econômica, MCA e proporcionalidade do esforço ao porte e estágio da intervenção.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A7972847-C8C0-41F9-AF5E-7A9F8E233EB4}"/>
              </a:ext>
            </a:extLst>
          </p:cNvPr>
          <p:cNvSpPr>
            <a:spLocks noGrp="1"/>
          </p:cNvSpPr>
          <p:nvPr/>
        </p:nvSpPr>
        <p:spPr>
          <a:xfrm>
            <a:off x="428625" y="4699000"/>
            <a:ext cx="5600700" cy="1273175"/>
          </a:xfrm>
          <a:prstGeom prst="roundRect">
            <a:avLst>
              <a:gd name="adj" fmla="val 8978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83BE9ACE-DC10-4C3F-B961-0FFB65D6A0EC}"/>
              </a:ext>
            </a:extLst>
          </p:cNvPr>
          <p:cNvSpPr>
            <a:spLocks noGrp="1"/>
          </p:cNvSpPr>
          <p:nvPr/>
        </p:nvSpPr>
        <p:spPr>
          <a:xfrm>
            <a:off x="542925" y="4794250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União Europeia — guia de custo-benefício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17A499A4-98C9-49D6-A6DF-3CE983D83225}"/>
              </a:ext>
            </a:extLst>
          </p:cNvPr>
          <p:cNvSpPr>
            <a:spLocks noGrp="1"/>
          </p:cNvSpPr>
          <p:nvPr/>
        </p:nvSpPr>
        <p:spPr>
          <a:xfrm>
            <a:off x="542925" y="5127625"/>
            <a:ext cx="53721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análise econômica sustenta decisões de grandes projetos, inserida em planejamento multinível. Impactos não monetizados e coerência estratégica permanecem relevantes.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1271AB17-A3AA-4444-8A2F-06F978EA6A83}"/>
              </a:ext>
            </a:extLst>
          </p:cNvPr>
          <p:cNvSpPr>
            <a:spLocks noGrp="1"/>
          </p:cNvSpPr>
          <p:nvPr/>
        </p:nvSpPr>
        <p:spPr>
          <a:xfrm>
            <a:off x="6162675" y="4699000"/>
            <a:ext cx="5600700" cy="1273175"/>
          </a:xfrm>
          <a:prstGeom prst="roundRect">
            <a:avLst>
              <a:gd name="adj" fmla="val 8978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010B09E9-EAC3-43CE-8F27-5D2EEFD958DB}"/>
              </a:ext>
            </a:extLst>
          </p:cNvPr>
          <p:cNvSpPr>
            <a:spLocks noGrp="1"/>
          </p:cNvSpPr>
          <p:nvPr/>
        </p:nvSpPr>
        <p:spPr>
          <a:xfrm>
            <a:off x="6276975" y="4794250"/>
            <a:ext cx="537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Coreia, Indonésia e New South Wales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CC986E3-5008-49EA-A973-43B2242B0236}"/>
              </a:ext>
            </a:extLst>
          </p:cNvPr>
          <p:cNvSpPr>
            <a:spLocks noGrp="1"/>
          </p:cNvSpPr>
          <p:nvPr/>
        </p:nvSpPr>
        <p:spPr>
          <a:xfrm>
            <a:off x="6276975" y="5127625"/>
            <a:ext cx="53721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levantamento do Banco Mundial registra AHP na Coreia, modelo aditivo na Indonésia e pontuação multicritério com revisão profissional em New South Wales.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DC4DA1B4-7B14-48D5-A750-EAC84AA4403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(2008); Infra S.A (2024); Banco Mundial (2016); Irlanda (2023); Comissão Europeia (2014).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Os benchmarks convergem em seis princípios de boa hierarquização pública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B6A1ECB2-3D6C-4B59-B8D3-59EA8DC5A53F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Independentemente do algoritmo, a legitimidade do resultado depende da governança dos dados e das decisões.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6E58DEF2-8779-46B0-9C3C-43F44873BE8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D7530E82-F751-4E03-851A-F9920FD83545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Triagem antes do ranking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5951C957-FC43-41E3-9844-BE5C3C2E162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Elegibilidade, duplicidades, escopo e requisitos legais devem ser resolvidos antes da pontuação.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672BD6A1-FC22-45A0-A5C6-37022819BC34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03043636-4E4F-4F3B-BFD2-662D7777454C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Critérios definidos ex ante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15565364-9A25-471A-977C-44A447ED68D1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Objetivos, indicadores, pesos e regras de tratamento de ausências não podem ser alterados para favorecer resultados conhecidos.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AFBEADB6-6873-4E4C-AF88-FE46D3A9B3B8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898DE36A-10B3-4FEF-A2F2-7E5F9852CC03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CBA e MCDA são complementares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DE0BE55F-7FBA-4538-B010-288CF0D89FF5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Eficiência econômica não absorve, sozinha, equidade, ambiente, resiliência, governança e maturidade.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C92EFB9D-29D9-4779-B3F8-7D81068D5BE0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812BD764-2873-435F-8161-4D72195484BC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Dados proporcionais ao estágio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B8433896-39D4-4DB5-8ABC-8BFCFB61AA9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Estimativas preliminares podem apoiar priorização, desde que incerteza, classe de dado e plano de substituição estejam visíveis.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C91BC552-7965-457B-8FD1-B8A7E177708A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38AB826F-075E-44F5-A6C5-99E44C2D51C5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Deliberação documentada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1EF34442-E2BD-4E94-81DA-C1F0AFCA9C21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Especialistas contribuem com julgamento técnico, mas cada nota deve apontar evidência, justificativa e eventual conflito de interesse.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A5032967-0C1C-4867-AE5E-216356912AFB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7032655A-7D04-42DE-A154-EB4AB7C1BB82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Sensibilidade obrigatória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75656E58-B4E1-431C-B805-C459BB6DAA52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carteira deve permanecer inteligível quando pesos, cenários, normalizações ou métodos alternativos são testados.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494666DF-7281-41A2-81EC-0A09F72D788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Banco Mundial (2016); Irlanda (2023); Silva (2008); documentos metodológicos anexos.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AHP é um método de decomposição hierárquica e comparação par a par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F3D2AD0B-B722-411D-882D-92E3279A02CB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método transforma julgamentos relativos em um vetor de pesos, preservando a possibilidade de testar a coerência interna das respostas.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F20272A0-CBBD-473F-B715-2D4DEB0DABA0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D2D6C46-E9A9-4119-8FEF-635557E32E26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Como o método é executado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FC7C59E7-806F-4965-B9D2-4110CB4F4CA9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Primeiro, o problema é organizado em níveis: objetivo do D17, dimensões e indicadores. Depois, cada participante responde qual elemento de um par é mais importante e com que intensidade, utilizando a escala fundamental de 1 a 9. As comparações formam matrizes recíprocas. O autovetor principal de cada matriz é normalizado para produzir pesos locais; a multiplicação dos pesos ao longo da hierarquia produz pesos globais.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45830CE4-6002-4597-A704-3D2256073D2D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6ABFF043-9EDB-4006-A2F8-33DDFE16C8F5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 que o método entrega — e o que não entrega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4BB09675-CF0C-46DA-ABE7-129212E9145F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AHP entrega pesos, prioridades relativas e indicadores de consistência. Ele não cria dados de projeto, não determina sozinho as notas de desempenho e não substitui decisão política. No desenho proposto, projetos não serão comparados par a par. Receberão indicadores quantitativos normalizados e notas ordinais ancoradas; esses resultados serão multiplicados pelos pesos AHP e somados.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FBCD4655-C7D3-4872-AD02-03684596D9B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Saaty (1990), DOI 10.1016/0377-2217(90)90057-I;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processo AHP produz pesos, coerência documentada e trilha de revisão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FEFA6C30-0F10-4E29-AA04-879DEC72FE24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aplicação deve ser tratada como um processo de elicitação e validação, não como o simples preenchimento de uma planilha.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7B176EF4-3C60-47E8-A685-48337CEF0D92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65A629D-4227-4269-806F-BF3A2D68ACC7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1. Preparação e respostas individuais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134EBAA8-0653-4FE3-8990-E9F0E1358522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equipe envia previamente definições, exemplos, fronteiras entre critérios e questionário. Cada integrante registra comparações individuais. Respostas independentes reduzem ancoragem pela autoridade e permitem identificar dispersão.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FC525C03-C569-461A-9665-2D09FCD097A0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15CF441B-9955-4560-81F3-0FA74CFFA92F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2. Cálculo, consistência e revisão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655CC61F-D84D-420E-97F9-01F0CD266158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São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calculados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pesos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locais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, pesos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globais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e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razão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consistência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.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Matrizes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com CR superior a 0,10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voltam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participante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acompanhadas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das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comparações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mais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contraditórias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. A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revisão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não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procura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uniformidade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;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procura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coerência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lógica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16BDAA14-1B34-4B6A-A78F-977E89322396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0CAA1763-F947-4C96-88A1-395471AB6B54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3. Agregação e aprovação institucional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19CC0F12-0D74-4AEA-8D6E-E1B7FD33CC07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Julgamentos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válidos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são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agregados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pela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média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geométrica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. O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relatório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apresenta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peso central,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dispersão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por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grupo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cenários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alternativos e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memória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das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alterações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. </a:t>
            </a:r>
            <a:r>
              <a:rPr lang="pt-BR"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SEMIL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valida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configuração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que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será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usada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na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i="0" dirty="0" err="1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carteira</a:t>
            </a:r>
            <a:r>
              <a:rPr sz="1125" b="0" i="0" dirty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4D262B6E-1C57-4CB6-A37F-07E05380A5FD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Saaty (1990); Critérios AHP V2; documentos metodológicos anexos.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escala 1–9 expressa intensidade relativa; a consistência protege a lógica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5444B1CA-938F-43C4-92AA-AE113B71BE74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Os valores intermediários 2, 4, 6 e 8 podem ser usados quando o julgamento estiver entre duas categorias verbais.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Valor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Interpretação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Exemplo de leitura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Igual importância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Ambos contribuem de forma equivalente ao 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aᵢⱼ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Importância moderada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 experiência favorece levemente um elemento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aⱼᵢ = 1/3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Importância forte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Há evidência clara de predominância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aⱼᵢ = 1/5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Importância muito forte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 predominância é demonstrável e dominante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aⱼᵢ = 1/7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Importância extrema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 superioridade é inequívoca no objetivo analisado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aⱼᵢ = 1/9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Razão de consistência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Compara a incoerência observada à de matrizes aleatórias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Aceitar CR ≤ 0,10; revisar acima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B4415730-8066-4AFC-9F19-68B8A25722E4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Saaty (1990);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lang="pt-BR" sz="1650" b="1" u="none" dirty="0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Cronograma</a:t>
            </a:r>
            <a:endParaRPr sz="1650" b="1" u="none" dirty="0">
              <a:solidFill>
                <a:srgbClr val="2F7D58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881B164C-226D-439C-957B-D97552CC2976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elicitação dos pesos pode começar antes do fechamento de todos os indicadores, desde que definições e fronteiras estejam estabilizadas.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Etapa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Duração típica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 de controle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Dependência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Estrutura e questionário AHP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3–5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Manual de critérios e instrumento testado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 aprovada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Respostas e oficina de pesos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5–10 dias úteis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Matrizes individuais e ata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Agenda dos especialistas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Consistência e segunda rodada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3–5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CR, justificativas e pesos agregados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Retorno dos participantes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Cálculo e auditoria dos indicadores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5–10 dias úteis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Fichas por projeto e base reproduzível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Dados consolidados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Agregação e sensibilidade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5–7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Ranking-base, cenários e estabilidade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Pesos e notas validados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Aprovação e redação final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3–5 dias úteis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D17 e base de evidências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Comitê diretor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E203F4BA-F090-41EF-95E8-789D82F97B77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Estimativa operacional para o PLI-SP, compatível com o Plano de Ação REV00.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arquitetura proposta separa elegibilidade, evidência, preferência e decisão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168B87FE-A171-4D56-B94F-DB9F113542D3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camada responde a uma pergunta diferente e possui responsáveis e controles próprios.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3E783D08-0A0B-4282-9266-CB0A919BE7BE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5D165904-0468-4879-A33C-3035776700DB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1. Elegibilidade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59304D25-220E-49E3-845B-6A4446F5A7FA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projeto pertence ao escopo, tem objeto comparável, contrafactual e ausência de impedimento eliminatório?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8BB6A02A-85FE-4D03-B191-84901EA7D813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F42C356D-1D9B-427C-99A4-55A663A29995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2. Insumos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54193030-5A4C-40EF-8A80-F262B0E96AAA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Quais dados de demanda, custos, território, ambiente, segurança e maturidade estão disponíveis e com qual qualidade?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27C03B25-DA12-42D4-A715-CA443C154E18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D14033DD-D793-48A2-B252-236A5EE065B4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3. Indicadores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6CCC6748-D195-4123-AF71-95DB85E3FD97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Como os insumos são transformados em resultados comparáveis, com unidade, polaridade, normalização e incerteza?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67498687-661F-4B15-9337-7FB5191ACE4C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CC57C7DB-2ACD-4422-9C15-D9661F7D98CE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4. Pesos AHP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91A7313E-96A7-4667-B204-8563E9A47EC6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Qual importância relativa o Governo atribui às dimensões e aos indicadores, com consistência verificada?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828380D3-43D7-4BC5-9809-54D1F18C86C1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E598ADF0-4E31-4C89-9410-24A73FB44640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5. Agregação WSM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FA3B411-AE0D-4D3B-BBEC-334857F611E3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Qual nota global resulta da soma dos desempenhos normalizados multiplicados pelos pesos?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F85BDB94-C046-4FF3-927C-C076BD530149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97DF34DA-7785-43B4-834D-E6921BDF193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6. Robustez e horizonte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9C66C94F-890D-48DC-8178-433209F88E4B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ranking resiste a cenários? Como mérito, prontidão, restrição fiscal e dependências definem curto, médio e longo prazos?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22884EBB-28E0-404C-BB7D-F2BADDAE16EA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documentos metodológicos anexos.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As nove dimensões cobrem mérito, distribuição, sustentabilidade e capacidade de entrega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5D409AD-60E3-435F-9044-4A10CD5DEDDF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seleção procura cobertura suficiente sem transformar cada preocupação pública em um critério autônomo e redundante.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2E0CEAA-38B7-4724-A2E2-6E0810EB78A8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E3A97586-764E-4BB0-A111-197C6B83975A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Mérito e resultados esperados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8BC90DF-1F08-4262-B18A-4B03B814076C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Técnica e logística; econômico-financeira e fiscal; econômica e competitividade; social e equidade; segurança. Esse bloco mede necessidade, eficiência, efeitos produtivos, distribuição dos benefícios e proteção à vida.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72EEE623-6A28-4F3B-822D-22828498AE5B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B41F88EB-3330-4516-9DF6-DBD96E0A4C67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Sustentabilidade e coerência espacial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2DFC9CA6-CBC5-44E8-80F9-4F87D0A8DA2F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Ambiental e climática; territorial, urbana e multimodal. O objetivo é impedir que ganhos operacionais sejam avaliados isoladamente de emissões, biodiversidade, resiliência, integração modal e efeitos sobre cidades e regiões.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C53889FC-FB45-4005-B9B1-2048475BFA77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D96666AD-BEFE-4660-B4D0-95E07510DF30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Capacidade pública de transformar mérito em resultado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3BDAF97F-34CC-4296-ACDB-146A6B350084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Institucional, governança e maturidade; riscos e entregabilidade. Essas dimensões não substituem o mérito: mostram se o benefício pode ser realizado, em que horizonte e sob quais condicionantes.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16854090-B329-4CF9-A522-656FFC63C885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D7; benchmarks do Banco Mundial, Irlanda e Silva (2008).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D1 — Técnica e logística: o projeto resolve um problema relevante da rede?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8670B10-7980-46DE-A139-BC1BFAEC3340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dimensão mede necessidade, ganho operacional e contribuição sistêmica, e não apenas o porte físico da intervenção.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3229CF35-1F2F-4068-8A05-B21EF4636607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F3B8D4D0-9226-4B55-B8D2-8FFC288C019E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CE338802-EF0E-44F3-849F-7753D6005E9A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Projetos de infraestrutura existem para modificar desempenho da rede. A dimensão verifica se há gargalo demonstrado, saturação, baixa confiabilidade, falta de conectividade ou insuficiência de cobertura. Ela foi escolhida porque o PLI é um plano multimodal e precisa distinguir intervenções que resolvem problemas sistêmicos daquelas que apenas ampliam ativos sem demanda ou função comprovadas.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6E3A290D-C9DB-488F-90C5-934E55DE4986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94D82F15-0569-49C4-A13B-7F013654D907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070D1ADE-A89B-49A0-8F58-987E24829366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T1 — desempenho, saturação e alívio de gargalos; T2 — economia de tempo, regularidade e confiabilidade; T3 — cobertura de necessidades logísticas e conectividade de rede. Juntos, eles combinam nível de serviço, experiência do usuário e função estratégica. Demanda, capacidade e tempos são insumos usados para calcular os indicadores, não critérios autônomos.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56B2904A-8E2D-484F-9808-D6D51DEBC4E7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5598BE43-27FE-455C-A4DE-5445016C5C43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C9D887E2-0330-4D02-894C-FE211E2853F4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Foram considerados “volume transportado”, “extensão” e “capacidade criada” como dimensões separadas, mas foram rejeitados porque premiariam porte e poderiam duplicar T1–T3. A seleção está alinhada à visão do PLI de integração modal, redução de custos logísticos, eficiência e confiabilidade. A aderência de cada métrica deverá ser validada por modal.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CEAF98B9-AFFD-45A6-B538-2DF095A6C525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D3, D6, D8–D13; D7 do PLI-SP.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D2 — Econômico-financeira e fiscal: quanto benefício direto é obtido por unidade de recurso?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57FCEFB4-0118-40C9-8B11-D7AC3D45E5A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CAPEX, OPEX, receitas e financiamento alimentam os cálculos; não são, isoladamente, indicadores a serem ponderados.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2FF1843-3E3E-49ED-93AD-564A86EACDBC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94D01C80-9BDB-4706-A220-93F20D0B23EF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272A44E7-5FFD-4F01-B6E0-400BEEE8C7CA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dimensão introduz disciplina de valor por dinheiro e compatibilidade fiscal. Dois projetos podem gerar benefício semelhante, mas exigir esforços públicos muito diferentes. A avaliação deve considerar custos de ciclo de vida, possibilidade de receitas, participação privada, garantias e exposição orçamentária, sem reduzir a decisão à disponibilidade imediata de caixa.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8AE4CC11-4D3D-40D1-9303-2156D40547CA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F21B92E7-B879-4EB4-BB16-A6E2A1792731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85831CAB-DCA8-4242-BB36-62452A3FB98C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F1 — eficiência econômica direta do investimento, apoiada por valor presente líquido socioeconômico, relação benefício-custo ou benefício por real investido; F2 — sustentabilidade fiscal e capacidade de alavancagem, considerando necessidade de aporte, OPEX, garantias, perfil temporal e fontes de financiamento. Benefícios de segurança e ambiente devem permanecer em suas dimensões para evitar dupla contagem.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85283D3D-FBA4-43DA-9724-48545EE1A0F6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11A0F53-3012-4050-8D34-1B54F2776645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5B3A85B8-22AC-4F6A-8178-ECEB2884653C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“Menor CAPEX” não foi escolhido porque favoreceria intervenções pequenas, mesmo que pouco transformadoras. “Bancabilidade” também não se tornou dimensão autônoma: é parte de F2 e não deve penalizar projetos públicos essenciais sem receita própria. O bloco dialoga com o PPA paulista ao favorecer eficiência, atração responsável de investimento e sustentabilidade da execução.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C876E972-6AEC-426F-AD33-394BB01FF908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D15 e D16; Infra S.A (2024); PPA 2024–2027.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D3 — Econômica e competitividade: o projeto transforma cadeias produtivas e territórios?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AB0662E1-B542-498C-A49E-D793411622D6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dimensão captura efeitos estruturais que não aparecem integralmente em economia de tempo ou na relação benefício-custo.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633E1864-445B-406F-9458-8BC945B70955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F263492D-1FD9-4C39-8EF7-5913B8DFB4A6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ED034700-283F-4342-81EE-EBA415EAA672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Infraestrutura logística altera custos de produção, acesso a mercados, confiabilidade de suprimentos, localização de atividades e capacidade exportadora. A dimensão foi escolhida para representar o papel do PLI como política de desenvolvimento, sem confundir resultados sistêmicos com impactos meramente locais ou temporários da construção.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D573517C-4700-485A-8901-3AE31167C60E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26E8B121-5BA2-4678-A9DB-542335329593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8FF1D320-CFF1-449C-A49A-8E6EF0EA6673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E1 — competitividade, produtividade e atendimento a cadeias estratégicas, medindo redução de custos generalizados, confiabilidade e integração de polos; E2 — emprego, renda e desenvolvimento produtivo regional, com foco em empregos sustentáveis, diversificação e encadeamentos. Empregos de obra podem ser informados, mas não devem dominar a nota por serem temporários.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9E3AF863-1067-4C41-A2D6-B94C75783C02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DFB53212-7E0D-45C5-8022-ADF3CB71AC28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518400E4-F05E-4B33-BA0A-2EDB78D6806B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“Turismo”, “inovação” e “exportações” foram considerados como dimensões específicas, porém variam por projeto e foram incorporados a E1/E2 para evitar proliferação de critérios. O alinhamento é forte com o objetivo do PPA de setor produtivo competitivo e com o PLI de reduzir custos logísticos e fortalecer o desenvolvimento regional.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A06F2313-8E17-45AD-94E7-F280657E870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D2, D8, D9 e D12; PPA 2024–2027; D7 do PLI-SP.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D4 — Social e equidade territorial: quem recebe os benefícios e quais barreiras são reduzidas?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2FB7DF8E-EF4C-45A1-969C-36809F7CBBD4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média estadual pode esconder desigualdades; a dimensão exige desagregação territorial e por grupos populacionais.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7C2B9EB9-95CD-489E-B5A0-75A3DFAE8255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A02E15B-2612-4E36-8197-83EBF4EE7FF6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264113E8-25A9-4E65-AF34-8BC87945E969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Projetos com alta demanda agregada podem concentrar benefícios em áreas já bem atendidas. A dimensão social verifica se a intervenção reduz desigualdades, atende territórios vulneráveis e amplia acesso a emprego, saúde, educação e serviços. Foi escolhida porque equidade é objetivo de política pública e não pode ser inferida apenas do benefício econômico total.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EF9C9305-D0BF-4165-9BED-B8E426AE728A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1B0EC943-9C98-42F9-BF62-DF737A9D7787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CAEEE4F4-4F65-4827-A5E3-0671B9BB1E87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S1 — equidade territorial e redução de desigualdades, combinando vulnerabilidade, déficit de infraestrutura e distribuição espacial; S2 — acessibilidade inclusiva a oportunidades e serviços essenciais, medindo população que passa a alcançar destinos relevantes em tempo ou custo razoável. As métricas devem identificar beneficiários, não apenas população total da área de influência.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1F89172A-1A9C-4716-8680-A3F1FC2D653A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8102A104-C54F-43C1-AC4F-54496F90A1F5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2A534A1-898F-4C5E-AF87-0C0CB3B19E84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“População atendida” isolada foi rejeitada por premiar projetos metropolitanos sem indicar distribuição. Gênero, raça, deficiência e população de baixa renda não foram apagados: são desagregações obrigatórias de S1 e S2 quando os dados permitirem. O bloco se alinha à qualidade de vida e ao desenvolvimento regional sustentável expressos no PLI e no planejamento estadual.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54B82BA4-B654-45F2-8548-6C05C41F6DFD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D2 e D5; D7 do PLI-SP; PPA 2024–2027.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D5 — Segurança: quantas ocorrências graves e exposições críticas podem ser evitadas?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3D0DD105-6CB8-4835-8E74-5575607EC82E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dimensão prioriza gravidade e exposição, evitando premiar apenas a redução de ocorrências leves ou números absolutos sem base comum.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FD97298F-D554-4A40-9918-421AF01FF03D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7B7E5F62-D2B0-45C5-81BE-96227957F9BF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CA7CEF5-13F5-4850-9661-63C85C264DE3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Segurança é resultado final e direito do usuário. A dimensão foi separada porque vidas salvas não devem desaparecer dentro de tempos de viagem ou benefícios monetizados. A análise deverá usar exposição, severidade, localização e tipo de usuário, diferenciando rodovias, ferrovias, hidrovias, portos, aeroportos e interfaces urbanas.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F5E4A35C-5925-41C4-902D-6438C837ADA8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DF4B178B-AE32-4600-B59F-33D24677F17E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97EEA23-8BEC-46CE-9C16-15CC03D60DEE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SEG1 — redução de sinistros graves e proteção de usuários vulneráveis, preferencialmente por funções de desempenho de segurança ou fatores de modificação calibrados; SEG2 — segurança operacional de fluxos críticos e cargas perigosas, considerando passagens em nível, conflitos operacionais, acidentes tecnológicos, redundância e capacidade de resposta.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5673BC58-7A1A-4A22-91EA-DED261676D41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B817C815-70A3-426B-B3A9-88F690F2B5E6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A254B90-63C8-477D-BB82-0FA39BFD200B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“Número de acidentes” sem exposição foi descartado, pois redes mais movimentadas naturalmente acumulam mais eventos. Segurança patrimonial e cibernética podem aparecer na gestão de risco, mas não formam dimensão autônoma nesta versão. A escolha se alinha à prioridade pública de proteção da vida e à confiabilidade do sistema logístico.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32499F48-1E3E-474B-B099-A3CC7E1FB19D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D3 e D6; bases ARTESP, DER-SP, ANTT, Infosiga e órgãos modais.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D6 — Ambiental e climática: o projeto reduz impactos e permanece funcional sob novos riscos?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57A3D0FE-5140-474F-BCAC-32B569CF5F55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dimensão separa benefícios ambientais de compatibilidade territorial e de resiliência, evitando um único indicador ambiental opaco.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0D7B8A6-8F64-43CE-9D67-50DCE0AE3A71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FFE398B-3836-4689-815F-79CB5AD99149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15283EB2-58DB-48B1-8F8B-E183EAFD18EA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Projetos podem reduzir emissões operacionais e, simultaneamente, produzir impactos de construção, fragmentação ou exposição climática. A dimensão foi escolhida para registrar esses efeitos em quatro frentes distintas e impedir que a descarbonização compense automaticamente dano ambiental relevante.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E4038D99-3978-485C-9E83-94FCA09EB0F9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B86FEF5-AE01-49AC-9C59-D9538A764ADB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FF71FA0C-1820-47DC-8A44-F7E139137C98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A1 — descarbonização, eficiência energética e mudança modal; A2 — qualidade ambiental local e redução de exposição a poluentes, ruído e vibração; A3 — compatibilidade socioambiental, biodiversidade e comunidades; A4 — resiliência climática e continuidade operacional. Cada indicador exige cenário sem projeto, horizonte temporal e fronteira de emissões definidos.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496D462B-7C97-431E-BAE6-7D5F46047205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F82957D0-425B-4E56-B3D0-8B4FB8401387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64F2B28D-586A-4A22-B417-3DAFA6C1DFD8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Licenciamento não foi confundido com benefício ambiental: a dificuldade de licenciar entra em maturidade e risco, enquanto A3 mede o impacto residual e a compatibilidade. Carbono de construção deve ser reportado quando disponível, mas não se mistura silenciosamente às emissões operacionais. O bloco se alinha à eficiência energética, redução de carbono e desenvolvimento sustentável do PLI.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F8BE1D8E-5319-4C10-8AFB-1A3FE5B2D7B5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D3, D6, D8–D12; D7; inventários e planos climáticos aplicáveis.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D7 — Territorial, urbana e multimodal: o projeto melhora conexões sem transferir conflitos?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68922D92-20F4-4736-8996-2CD5E264D956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dimensão observa efeitos espaciais e interfaces entre modais, municípios e usos urbanos.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4649C336-7E54-49A0-9820-4C9183DF1219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6884A620-D51B-4695-87A7-1A738DFBECE9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79E828FF-1324-48EB-BACB-7193FB50627C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Uma intervenção pode aumentar capacidade em um trecho e deslocar congestionamento, tráfego pesado ou externalidades para outro território. A dimensão foi escolhida para avaliar integração urbana, segregação de fluxos conflitantes, conectividade intermodal e aderência ao ordenamento territorial, elementos centrais para uma visão de rede.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1F75077F-1A41-48E5-BD0D-AD8B8CE5E27C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8230E92-9953-46E5-81EB-590BE51C5648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D92F690-86AE-4DF7-9E6B-19449E071EE1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TER1 — integração urbana e segregação de fluxos conflitantes, considerando travessias, acessos, circulação local e qualidade urbana; TER2 — integração territorial e intermodal e aderência aos instrumentos de planejamento, medindo conexões efetivas, continuidade de corredores e coerência com planos estaduais, metropolitanos, municipais e setoriais.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42C8351B-5CB4-4A21-B28E-1423906BCCBA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F5C82AE7-22A3-452B-BF64-D75DDD7A190E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35BE53FB-34F8-4867-80E0-30763AED9C7C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“Intermodalidade” não foi isolada como dimensão porque seus benefícios já aparecem em T3 e TER2; a separação criaria dupla contagem. Desenvolvimento orientado ao transporte e uso do solo são relevantes em projetos urbanos, mas entram como componentes de TER1/TER2. O bloco expressa diretamente a visão multimodal e integrada do PLI-SP.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648946C8-D0CF-4FAC-95BA-3CDB21C31A7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D6–D14; D7 do PLI-SP; planos territoriais e urbanos aplicáveis.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D8 — Institucional, governança e maturidade: há condições concretas para avançar?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F13290E7-346D-4DF5-AEA0-4C08C3E207C7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dimensão diferencia legitimidade e coordenação institucional do estágio técnico de preparação.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723DB7FC-1C93-48FF-AD93-B5E30648466E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950E2AB0-54BA-4C31-90C0-FD455EE5DF0F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ED8F3339-6BC6-4C45-8B66-E6C8ED7273E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Projetos públicos falham não apenas por engenharia, mas por competências fragmentadas, ausência de patrocinador, decisões não formalizadas, estudos insuficientes ou indefinição de responsabilidades. A dimensão foi escolhida para tornar esses fatores visíveis e apoiar o faseamento, sem permitir que prontidão substitua mérito.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0E24BC69-702C-4766-AABC-9AE2FCB7FD94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A427C67-C82B-431B-A72B-C81DF292A44A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FFABFCA7-E979-4540-B47E-748D9790C6A8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I1 — governança, viabilidade institucional e legitimidade, incluindo órgão líder, acordos, competência legal, participação e apoio qualificado; I2 — prontidão e maturidade para implementação, considerando estudos, projeto, licenciamento, desapropriações, interferências, cronograma, modelo de contratação e qualidade das estimativas.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106DC24-221E-4D13-AE4C-EE361D638EC0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28E5866D-4F76-4F5A-919E-8C905A9C6026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CC268D3E-27D0-4018-A0D7-61A62612FE0F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Aceitação social não foi transformada em critério simples de popularidade; integra I1 com evidência do processo participativo. “Existência de projeto básico” não basta para nota alta se custos, riscos e interfaces não estiverem atualizados. A dimensão apoia a prioridade estadual de converter planejamento em investimento realizável e auditável.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7096FFD2-07B0-49E9-B065-F7216811722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D5, D14–D18; fichas dos órgãos responsáveis.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D9 — Riscos e entregabilidade: o benefício permanecerá realizável diante das incertezas?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5BF51BF0-3098-4684-8E8B-3EB3FC6F6591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Risco não é ausência de mérito; é a possibilidade de o projeto não entregar o resultado, prazo ou custo estimado.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ECFBF8A4-C169-4EBC-8564-9BAE52390DE9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982A1450-38EA-4F6F-9487-613A4856FBC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Sentido e razão da escolha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D97144AA-2D51-4D55-AE10-099B82967650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Projetos com boa pontuação média podem depender de demanda otimista, obras complementares, coordenação de terceiros ou premissas financeiras frágeis. A dimensão foi escolhida para mostrar exposição e dependências antes da decisão, permitindo condicionar ou fasear projetos em vez de simplesmente excluí-los.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D3B6CD03-F9AC-4DAE-B8BC-13AF84549D00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87DE93D6-2E12-4929-A8F3-8A7F809BBBEC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 selecionados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A0DBB9C6-BEA5-4FB0-A21B-886B3CE62D2C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R1 — risco integrado de entrega e interdependências, cobrindo engenharia, interfaces, desapropriações, licenças, cadeia de suprimentos, governança e obras conexas; R2 — risco de demanda e de realização dos benefícios, avaliando intervalo de previsão, sensibilidade, mudança tecnológica, comportamento, competição modal e ramp-up.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B8E9D1FD-50EF-46DD-9821-8BACEFAD3997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9C6D2C1A-E003-493D-B5A1-7D4459C7009D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Alternativas e alinhamento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7195E3AB-6B3B-4FE5-B381-AEDEF911E245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Risco ambiental não é duplicado em R1 quando já estiver refletido em A3; aqui importa o efeito do risco sobre prazo, custo e entrega. Um critério genérico de “complexidade” foi rejeitado por ser pouco auditável. A dimensão fortalece realismo, responsabilidade fiscal e gestão ativa do portfólio.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4E218653-8280-490D-A7A9-6B9C958F914B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D8–D18; práticas de gestão de risco e referência de classe.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Dimensões alternativas foram incorporadas, subordinadas ou excluídas para evitar dupla contagem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2F37213C-69FD-4EDF-804F-A101DB2B3F96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exclusão de uma dimensão autônoma não significa que o tema foi ignorado; indica onde ele será medido.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Tema considerado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Tratamento adotado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Razão metodológica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Inovação e digitalização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Componente de T1, E1, I2 ou cenário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É meio para produzir resultados, não benefício uniforme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Geração de empregos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E2; separar obra temporária de efeito estrutural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Evita premiar CAPEX e contar o mesmo efeito duas vezes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Turismo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E1/E2 quando material para o território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Relevância não é universal entre projetos e modais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Intermodalidade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T3 e TER2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Função de rede já coberta em duas perspectivas complementares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Licenciabilidade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I2 e R1; impacto residual em 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Separa benefício ambiental de dificuldade processual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Urgência política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Não pontuada; tratada em decisão final documentada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Evita converter preferência conjuntural em indicador técnico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Aderência estratégica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TER2 e I1, com requisitos de elegibilidade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Reduz risco de critério genérico dominar toda a carteira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5CE49EC7-97F5-4EA7-BC5E-F2731C77026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V2; análise de redundância; benchmarks consultados.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matriz revisada contém 21 indicadores distribuídos em nove dimensões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E0B1ABC-9812-40E2-808F-3F90B9C7450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indicador possui definição, unidade, polaridade, regra de normalização, fonte e procedimento de validação.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3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Dimensão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 Técnica e logística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T1 gargalos; T2 tempo e confiabilidade; T3 cobertura e conectividade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D2 Econômico-financeira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 eficiência do investimento; F2 sustentabilidade fiscal e alavancagem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 Econômica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E1 competitividade e cadeias; E2 emprego, renda e desenvolvimento regional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D4 Social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S1 equidade territorial; S2 acessibilidade inclusiva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D5 Segurança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SEG1 sinistros graves e vulneráveis; SEG2 fluxos críticos e cargas perigosas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D6 Ambiental e climática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A1 descarbonização; A2 qualidade local; A3 compatibilidade; A4 resiliência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D7 Territorial e multimodal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TER1 integração urbana; TER2 integração territorial e intermodal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D8 Institucional e maturidade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 governança e legitimidade; I2 prontidão para implementação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D9 Riscos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R1 entrega e interdependências; R2 demanda e realização dos benefícios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CB4889BE-0E94-42EC-9D36-A4CC78CB179C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Os indicadores são adequados se passarem por seis testes de validade e alinhamento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F150CA60-D8F6-419C-A383-D8A620173BFF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matriz representa as prioridades do Governo apenas depois de validação institucional dos conceitos, pesos e métricas.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A5FB1112-B14F-4B7A-98E1-7C9991478D9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0D69FA6D-5709-4645-92FB-D97BE1523310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Relevância causal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92D4CD-4C65-4A73-9F7E-FD1862B210F2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indicador deve mudar porque o projeto foi implantado e deve refletir um resultado que importa à decisão.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23CB6907-1214-40E2-86EB-609AA008F3EA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965E0781-FADA-4A53-9058-D5B52C418F6D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Não redundância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E142288B-2FD6-478A-8CFA-745ED126BF74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mesmo benefício não pode aparecer em dois indicadores ou ser contado novamente em F1 sem ajuste.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D09EABAC-E805-4A24-8818-6C608E54D65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4354CF8E-E6C3-4DC5-8724-475B44B2F5BA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Comparabilidade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9AD88901-9370-4656-B371-69A310EB404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unidade e o contrafactual devem permitir comparação entre escalas, regiões e modais, com tratamento explícito de não aplicabilidade.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83944991-FE9A-48A9-A629-89892BC0D5F6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24CE1DCB-C1B7-44B5-89F6-329019E2152B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Mensurabilidade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FD145AFD-CECB-48A4-B8F6-46E0BECC30E0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Fonte, fórmula, data-base, incerteza e responsável precisam ser registrados para cada projeto.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D35CD7F-D263-4505-BAE8-A306347F4A3C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F842DC2B-34E5-4DAA-802A-F9D0620732A9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Alinhamento público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593304A6-6F4B-4BD9-819F-4FCABF9D4D74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matriz dialoga com PLI, D7 e PPA: integração, competitividade, sustentabilidade, equidade, segurança e entrega.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0D76A157-8178-41F1-9359-8479E1BF1A93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50A56B20-6880-4E68-B275-50CE32AD95A6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Validação governamental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E8C3485B-99EA-4AC2-A139-47C1B75B96A0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alinhamento não é presumido: SEMIL, SPI e órgãos setoriais devem aprovar definições e pesos antes de conhecer o ranking final.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59183579-252A-4174-A2DB-068AE3CA8FF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D7 do PLI-SP; PPA 2024–2027; Critérios AHP V2; página institucional do PLI-SP.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lógica espacial muda conforme o fenômeno e evita favorecer projetos apenas pelo tamanho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Camadas territoriais são processadas em sistema de referência comum e vinculadas à geometria funcional do projeto, não somadas indiscriminadamente por célula.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Operador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Uso recomendado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  Controle de comparabilidade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Identidade e interseção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Restrições, áreas protegidas e ocupações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Sobrepor traçado, faixa ou área de influência à camada oficial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Registrar área, extensão, severidade e alternativa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Análise de rede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Tempo, custo, acessibilidade, demanda e integração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Calcular cenário tendencial e cenário com projeto na rede multimodal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Mesma matriz, horizonte e função de custo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Área de serviço e estatística zonal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População, emprego, renda e serviços alcançados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Agregar zonas ou grade de 100 m segundo alcance funcional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Relatar valor absoluto e relativo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Distância e decaimento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Proximidade de oportunidades e exposição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Aplicar faixas ou função de decaimento quando o efeito for locacional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Evitar distância euclidiana em fenômenos de rede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Integração do indicador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Conversão de variáveis em resultado comparável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Normalizar apenas depois do cálculo físico ou econômico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Não somar células brutas nem confundir porte com benefício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 e Amorim.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Insumos descrevem o projeto; indicadores traduzem seus resultados para a decisão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60D8075F-DCFD-4085-986C-D8DD6E912D6D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Ponderar diretamente CAPEX, OPEX, demanda ou extensão produziria vieses de escala e misturaria dados com objetivos.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A4CC455C-CA3F-4A0F-9269-71622FC32AD5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44B9569A-270C-42A0-8A38-CCF744A8AE30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Insumos: fatos, premissas e estimativas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3C748537-5CC1-4AE9-AA83-F65FD8D8B75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São dados necessários ao cálculo: demanda, capacidade, tempos, extensão, custos, cronograma, população, renda, sinistros, emissões, áreas protegidas, riscos climáticos, estudos e licenças. Cada insumo deve ter unidade, data-base, fonte, qualidade, cenário e responsável. Um mesmo insumo pode alimentar mais de um indicador, desde que o resultado não seja contado duas vezes.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83F35762-FFF3-4C62-80A8-5A897968136C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ADBA83BB-A56C-4A55-89E0-E330B7A72A33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Indicadores: interpretação comparável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3BE612DF-F9AA-4CB5-BE9E-27F4D6237CA9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Indicadores respondem ao objetivo decisório: alívio de gargalo, eficiência do investimento, acessibilidade, segurança, descarbonização, maturidade ou risco. Eles transformam insumos por fórmulas, normalização ou rubricas ordinais. Por exemplo, CAPEX e benefícios monetizados alimentam F1; CAPEX, OPEX, garantias e receitas alimentam F2. O peso é atribuído a F1 e F2, não aos valores brutos.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3B1D624B-FA19-410F-BF8D-3CF0489FCA77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I01–I05: demanda, capacidade, composição, tempos e condição física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7AC83902-56CC-4365-B7B0-B30470D08FDC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Esses insumos sustentam T1–T3, SEG1/SEG2, A1 e R2 e devem ser coerentes entre cenário-base e cenário com projeto.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Insumo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Produtos de origem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Lacuna ou complemento do D17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I01 Demanda atual e projetada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D4, D8, D9 e D12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T1–T3, E1, F1, A1,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Faixas P10/P50/P90 e demanda induzida por projeto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I02 Oferta, capacidade e nível de serviço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D6, D8, D10, D12 e D13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T1 e T3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Capacidade efetiva por gargalo e regra modal comum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I03 Composição do fluxo e ocupação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D4, D8, D11 e D12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T2, SEG, A1 e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Ocupação, carga e frota por período e cenário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I04 Tempos, confiabilidade e sazonalidade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D4, D8 e D12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T2, S2, F1 e R2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Distribuição, não apenas média, e comparação antes/depois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I05 Condição, geometria e pontos críticos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D6 e D13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T1, SEG1, I2 e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Ficha georreferenciada de interfaces e restrições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CB31AD66-6430-466D-8D07-FA0952A845C4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 Transplan–Concremat;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I06–I09: custos, financiamento e cronograma precisam ser comparáveis no ciclo de vida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212F5207-6858-424B-9EC8-742F24968AA2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data-base, o nível de projeto, contingências e fronteiras de custo devem ser iguais antes de qualquer comparação.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Insumo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Produtos de origem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Lacuna ou complemento do D17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I06 CAPEX e cronograma físico-financeiro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D14 e D15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F1, F2, I2 e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Classe da estimativa, contingência, data-base e faixa de incerteza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I07 OPEX e manutenção de ciclo de vida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F1, F2 e R1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Reposições, manutenção diferida e padrão de serviço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I08 Receitas, tarifas e estrutura de financiamento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D11 e D15; fontes dos proponentes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F2 e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Garantias, aportes, risco de receita e fontes ainda não fechadas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I09 Prazo de implementação e marcos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D14 e D15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I2, R1 e horizonte temporal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Caminho crítico, licenças, desapropriações e interdependências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D7FFF33-5C5C-46B6-91D1-4497358536FB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Trabalho; D15;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I10–I13: território, vulnerabilidade, acessibilidade e cadeias produtivas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D38D1D0A-A095-46A6-978F-4E6819B8D9E4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área de influência precisa ser definida por relações de transporte e beneficiários, não apenas por limites administrativos.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Insumo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Produtos de origem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Lacuna ou complemento do D17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I10 Localização, área de influência e população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D2, D3, D4, D6 e D14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S1, S2, E2, TER1/TER2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Método comum para delimitar influência direta e ampliada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I11 Renda, vulnerabilidade e déficit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D2 e D5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S1 e S2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Desagregação por renda, raça, gênero, deficiência e ruralidade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I12 Acesso a oportunidades e serviços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D2, D4, D8 e D12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S2 e TER1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Matrizes de tempo/custo e limiares por tipo de oportunidade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I13 Produção, emprego e cadeias econômicas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D2, D3, D8, D9 e D12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E1 e E2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Separar efeito de construção, deslocamento e efeito estrutural líquido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F47EE85-8E20-4473-B619-5F7336E59E0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Trabalho; D2–D5 e D8–D12;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I14–I18: segurança, cargas perigosas, emissões, ambiente e clima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6A9F572C-3523-4A7A-98C9-6A71C59ADC67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Dados observados de contexto não bastam; o D17 precisa estimar a diferença entre os cenários com e sem projeto.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Insumo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Produtos de origem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Lacuna ou complemento do D17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I14 Sinistros, severidade e exposição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D6 e bases setoriais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SEG1 e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Funções de segurança/CMF calibradas e georreferenciamento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I15 Cargas perigosas e eventos tecnológicos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D6 e operadores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SEG2 e R1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Rotas, população exposta, frequência e resposta emergencial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I16 Energia, combustíveis e fatores de emissão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D3, D8, D11 e D12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A1, A2 e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Velocidade, frota, ciclo de vida e carbono de construção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I17 Áreas protegidas, recursos e comunidades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D2, D3 e D6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A2, A3, I2 e R1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residual após mitigação e sensibilidade territorial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I18 Perigos climáticos e continuidade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D6, D10 e bases climáticas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A4 e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Curvas de dano, redundância e tempo de recuperação por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FD5C4B7F-463C-44B6-89A1-98890EC65A4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Trabalho; Critérios AHP V2; bases setoriais e ambientais.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I19–I20: governança e maturidade exigem fichas preliminares antes do D18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8F6A5A4C-DCBB-4762-9A10-E32496C7B46B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cronograma do Plano de Ação coloca o D18 após o D17; por isso, a informação mínima institucional deve ser antecipada.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16DB47DF-D0B9-4730-BAF8-C7F5BE44EA3E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80677AFB-E451-4A86-84DC-C55332055992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I19 — marco legal, governança, planos e apoio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07C6FDA-B652-491A-BB5E-66DAAB943358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Fontes previstas: D5, D7, D14, documentos dos órgãos, legislação, convênios e registros participativos. O insumo alimenta TER2, I1, I2 e R1. Para cada projeto será necessário identificar órgão líder, competências, titularidade, acordos, decisões pendentes, aderência a planos e evidências de apoio ou conflito. A participação social deve ser qualificada; número de manifestações isolado não constitui legitimidade.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289AFDDF-F935-4906-9230-FF3981733C92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92428BBF-2423-4C6F-872F-885F227E3B8C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I20 — maturidade, desapropriações, interferências e pré-requisitos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88B474C-31BE-43E2-813F-92D7A7BFAF8E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Fontes previstas: D14, D15 e fichas dos proponentes. O insumo alimenta I2 e R1. A ficha deverá registrar estágio de estudos, projeto, licenças, áreas, utilidades, interfaces, modelo de contratação, estimativa de custo, financiamento e dependências. Como parte desses dados não está assegurada em produto antecedente, o D17 deverá enviar formulário padronizado aos pontos de contato da SEMIL, SPI e órgãos responsáveis.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F81D3B07-175A-4DD5-B031-00FF9B41ACC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Plano de Trabalho; Plano de Ação REV00;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D17 precisará criar uma ficha de evidências para cobrir lacunas não resolvidas nos produtos antecedentes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8B0BC7A-54ED-4631-AE3D-45AEBB94BD5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lacuna não deve ser preenchida por nota intuitiva; deve gerar solicitação de dado, proxy identificado ou marcação de insuficiência.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Lacuna prioritária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Risco para a hierarquização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Resposta proposta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Faixas de demanda e benefícios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Ranking excessivamente dependente de projeção pontual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P10/P50/P90, cenários e referência de classe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Acessibilidade e equidade desagregadas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População total encobre beneficiários vulneráveis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Matrizes de acesso e indicadores por grupo/território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Segurança específica do projeto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Taxas genéricas produzem falsa precisão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Exposição, georreferenciamento e CMF/função calibrada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Emissões por velocidade e frota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Percentual fixo confunde regularidade e redução real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Modelo com atividade, velocidade, frota e construção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residual e clima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Licenciamento e resiliência tratados apenas qualitativamente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Camadas espaciais, risco físico, mitigação e recuperação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Governança e maturidade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Projetos prontos e imaturos recebem notas sem base comum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Ficha documental, evidências e verificação pelos órgãos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49979B05-83B7-4687-95A5-40668C4348A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Análise dos Produtos D2–D18;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formação dos indicadores técnicos combina rede, demanda e condição operacional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ficha registra fórmula, fonte, operador espacial, responsável, cenário, unidade e regra de qualidade.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e fontes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 comparável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T1 Desempenho logístico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24–30 e 64. Redes, demanda, capacidade e condição nos D3–D13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Simular rede sem e com projeto e comparar volume, capacidade, atraso e confiabilidade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Variação de V/C, atraso, custo generalizado e confiabilidade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T2 Tempo e confiabilidade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26, 30, 39 e 64. Matrizes e modelos dos produtos de demanda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Calcular tempos médios e variabilidade por OD, modo e período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Horas poupadas, percentil de tempo e redução da variabilidade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T3 Conectividade multimodal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41, 43, 44, 49, 50, 58, 61 e 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Medir ligações funcionais, cobertura de demanda e acesso à rede estruturante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Demanda atendida, conexões novas e cobertura territorial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Cenário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Horizonte comum e hipótese tendencial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Comparar resultado com projeto menos resultado sem projeto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Benefício incremental, nunca estoque bruto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Metadados, versão de rede e calibração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Repetir parâmetros comuns para todos os projetos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Resultado auditável e reproduzível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Matriz Fases V2 atualizada. Produtos D3–D13.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Finanças e economia convertem custos e efeitos de rede em valor público comparável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ficha registra fórmula, fonte, operador espacial, responsável, cenário, unidade e regra de qualidade.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e fontes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 comparável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 Eficiência econômico-financeira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31–33, 35 e 36. D15 e D16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Analisar ciclo de vida, benefícios incrementais e custos sem duplicar componentes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VPL, relação B/C e custo-efetividade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F2 Sustentabilidade fiscal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31, 32 e 34. D15, orçamento e arranjos de parceria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Estimar desembolso público, OPEX, alavancagem e exposição fiscal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Necessidade fiscal, previsibilidade e capacidade de financiamento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E1 Competitividade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35, 37–39, 41–44 e 49. D2, D8, D9 e D12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Combinar massa econômica com redução do custo de transporte e ganho de confiabilidade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Custo logístico evitado e produção alcançada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E2 Emprego e renda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37 e 40. D2, D8, D12, SEADE e IBGE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Estimar efeitos permanentes líquidos por região e evitar contar emprego temporário como benefício recorrente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Empregos, valor adicionado e renda incremental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Mesmo horizonte, preços e taxa de desconto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Documentar benefícios já monetizados no D16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Sem dupla contagem entre F1, E1 e 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 e Produtos D2–D16.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Equidade e segurança exigem desagregação dos beneficiários e exposição ao risco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ficha registra fórmula, fonte, operador espacial, responsável, cenário, unidade e regra de qualidade.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e fontes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 comparável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S1 Equidade territorial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19, 45–47, 50 e 62. D2, D5, SEADE, IBGE, FUNAI, INCRA e ITESP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Calcular benefício por grupo e território e comparar distribuição antes e depois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Beneficiários vulneráveis e redução de desigualdades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S2 Acesso a oportunidades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46–50. Rede, empregos e serviços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Medir empregos e serviços alcançáveis em limite de tempo ou custo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Oportunidades adicionais acessíveis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SEG1 Sinistros evitados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28, 51, 52 e 54. Infosiga, ARTESP, DER e ANTT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Aplicar funções de desempenho de segurança e exposição no cenário sem e com projeto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Mortes e feridos graves evitados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SEG2 Risco operacional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 53 e registros de incidentes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Combinar frequência, consequência, população exposta e resposta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Redução de risco e tempo de resposta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Desagregar por renda, município, modo e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Relatar valores absolutos e relativos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Evitar que médias escondam impactos distributivos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Matriz Fases V2. Amorim, Acessibilidade, Segurança e Equidade.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Os quatro indicadores ambientais distinguem clima, poluição, ecossistemas e resiliência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ficha registra fórmula, fonte, operador espacial, responsável, cenário, unidade e regra de qualidade.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e fontes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 comparável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A1 GEE e energia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43, 44, 55, 57 e 58. Atividade e fatores oficiais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Calcular atividade por modo vezes fator de emissão e comparar cenários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tCO2e por ano e energia consumida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A2 Poluição</a:t>
                      </a:r>
                    </a:p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 exposição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    Linha 56. CETESB, população e receptores sensíveis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Estimar emissão, dispersão ou proxy e população exposta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NOx, PM, ruído, vibração e pessoas expostas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A3 Ecossistemas e patrimônio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Fase 1, linhas 1–14 e 17–19. DataGeo, CETESB, ICMBio, FUNAI, INCRA e IPHAN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Medir sobreposição, sensibilidade e impacto residual após evitar, mitigar e compensar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Área, extensão, severidade e impacto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A4 Risco climático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15, 16 e 70. Defesa Civil, IPT, SGB e DAEE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Combinar ameaça, exposição, vulnerabilidade e redundância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Interrupção, perdas, usuários afetados e resiliência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Métricas distintas dentro da mesma dimensão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Integrar subcomponentes sem tratá-los como equivalentes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Sem diluição de impacto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 e Amorim.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Território, integração e instituição combinam resultados de rede com evidência documental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ficha registra fórmula, fonte, operador espacial, responsável, cenário, unidade e regra de qualidade.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e fontes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 comparável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TER1 Integração urbana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59, 60 e 64. Tráfego, uso do solo e planos municipais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Avaliar conflitos, barreiras, tráfego pesado removido e compatibilidade urbana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Conflitos reduzidos e coesão territorial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TER2 Integração multimodal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8, 17, 43, 44, 49, 58, 61–63 e 67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Combinar análise de rede com coerência aos planos e conexões funcionais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Conexões, transbordos, continuidade e aderência estratégica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I1 Governança e legitimidade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2, 4, 6, 12, 13, 19, 21–23, 65 e 67–69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Classificar evidências institucionais na escala ancorada de 0 a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Competência, coordenação, participação e legitimidade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I2 Maturidade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20, 27, 29, 31, 32, 65, 66, 73 e 74. D14, D15 e fichas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Aplicar stage-gates para estudos, licenças, projeto, prazo e prontidão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Estágio, lacunas, cronograma e prontidão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Evidência prevalece sobre percepção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Notas qualitativas exigem justificativa e fonte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Comparação auditável entre projetos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Matriz Fases V2. Produtos D14 e D15.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Risco e entregabilidade consolidam condicionantes sem repetir a penalização da triagem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BEA7718-B2A9-4330-B70E-DFE3A6AFE33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ficha registra fórmula, fonte, operador espacial, responsável, cenário, unidade e regra de qualidade.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Indicador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e fontes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Procedimento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 comparável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R1 Entregabilidade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Gates 1–23 e linhas 65, 72–74. Registro de riscos e cronograma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Combinar probabilidade e impacto, estimar P50 e P80 e considerar mitigação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Custo e prazo ajustados ao risco e confiança de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R2 Robustez dos benefícios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Linhas 24, 30, 39, 41 e 71. Cenários de demanda e operação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Testar demanda, custo, prazo e realização de benefícios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Variação, downside e confiança no resultado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Correlação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 de correlações e mapa causal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Rever componentes compartilhados com maturidade e ambiente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Sem dupla contagem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Dado ausente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N/D separado de zero e de N/A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Suspender cálculo crítico ou usar proxy documentada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Incerteza explícita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Integração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Resultado do gate + nota de risco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 gate decide elegibilidade. R1 e R2 medem a incerteza remanescente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Restrição não é compensada por benefício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3BD19D7-1A25-4F5D-8E44-E813C778726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Matriz Fases V2. Arquitetura conciliada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AHP será conduzido por oito representantes para combinar pluralidade e rapidez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664328-A54A-4914-84C5-463E6BD7AF3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Cada cadeira terá um titular, com resposta individual antes da consolidação. O painel é pequeno o suficiente para operar e amplo o suficiente para evitar uma visão exclusivamente modal.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C8287ED-5132-4A06-AB40-E0601091332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D50EC4D-CC5D-4D9D-9DEE-106F202D9527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Governo e coordenação metodológica — seis cadeiras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5627761-0777-4A2C-808F-0C8549F4A4C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SEMIL, coordenação de política e logística.
• SEMIL, ambiente e clima.
• Equipe PLI, coordenação metodológica.
• Equipe PLI, visão multimodal e setorial.
• Secretaria de Planejamento.
• Secretaria de Parcerias em Investimentos.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07017DB-01F7-4E01-B52E-82B5261B7DF2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5C15DCA-73B2-4B9B-8D9C-6C39DEEC941F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Empresas públicas e controles — duas cadeiras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76A33A2-D097-44E3-8D24-EFD7646DED7D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CPTM, visão de operação ferroviária e transporte metropolitano.
• CETESB, visão ambiental, licenciamento e qualidade dos dados.
Regras comuns
• Um voto por cadeira.
• Declaração de conflitos.
• Sem maioria de um único modo.
• Divergências permanecem visíveis.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8C9E99A7-8395-4AD8-9797-65005463CE2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Governança do D17. Diretrizes do PLI-SP.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workshop de pontapé inicial prepara os participantes antes das 52 comparações AHP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15BBED3-3A46-44DB-9A9B-5C3CB0BFFFB9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Duração proposta de 3h30. A oficina confirma o objeto da decisão, os indicadores e as âncoras de julgamento antes da coleta individual dos pesos.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B5491272-94CE-44CF-BA6F-708ABC65061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B12451-DC85-4C9A-BFA4-83EAE372992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1. Finalidade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89E982-8742-400B-B57F-59F201301FC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Alinhar o que o ranking decide e o que permanece fora dele, como licenciamento e autorização orçamentária.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93223E58-17CE-40C7-B157-1BF5132F6AC9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BA801F5-BF81-41C0-91DE-EF71C656E22E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2. Material prévio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7584AE2-8ECA-489B-8B06-104E3621282F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Nota metodológica, árvore de critérios, glossário, fichas dos 21 indicadores e exemplo de comparação.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BFE2677-1FEE-48B3-8555-843CA262849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F0E8C25-E154-4F8E-8FE7-5739C95E6457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3. Participantes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75BCE3E-3547-4AA0-88B1-9D1B40D3386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Os oito titulares, facilitador independente, relator e apoio para dúvidas de dados e AHP.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980D7C6D-7E56-43DD-8390-D37C1460AF1B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5BD21677-295D-4EE8-92CC-914505C20BB6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4. Dinâmica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E4E8ADE7-C034-4F88-835C-665DB85D4E3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Apresentação curta, teste individual, debate de ambiguidades e revisão das definições que geram interpretações distintas.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C84B64D-B966-44C2-84F3-BF1FAAF2CB17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98D0AA16-CE80-4785-BF0F-7EA49345CEA2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5. Produtos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33378B8-DADC-4F3E-B958-1848F312FADB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Árvore validada, glossário final, calendário, responsáveis e protocolo para divergências e conflitos.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4346C95F-FAFB-48B8-8B3A-DEB10EDA15EF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A6DDBC2B-F154-4811-A622-6339A98C162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6. Próximo passo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71A88A1-9FF6-4706-B6CE-14DFC5B8CA25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Questionário individual com 52 comparações, prazo de dois dias úteis e devolutiva de consistência.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7251ABC6-2139-4550-A721-C62F5D1C347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Saaty e operacionalização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questionário AHP terá 52 comparações e revisão obrigatória de inconsistências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664328-A54A-4914-84C5-463E6BD7AF3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As respostas são individuais para reduzir pressão de grupo. A consolidação usa média geométrica e preserva a dispersão entre participantes.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C8287ED-5132-4A06-AB40-E0601091332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D50EC4D-CC5D-4D9D-9DEE-106F202D9527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Estrutura dos julgamentos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5627761-0777-4A2C-808F-0C8549F4A4C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36 comparações entre as nove dimensões.
• 16 comparações entre indicadores dentro de cada dimensão.
• Escala de Saaty de 1 a 9, com recíprocos.
• Exemplos e definições idênticos para todos.
• Nenhuma comparação direta entre projetos.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07017DB-01F7-4E01-B52E-82B5261B7DF2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5C15DCA-73B2-4B9B-8D9C-6C39DEEC941F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Consistência e aprovação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76A33A2-D097-44E3-8D24-EFD7646DED7D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Razão de consistência até 10%.
• Matriz acima do limite retorna ao respondente.
• Pesos consolidados por média geométrica.
• Dispersão gera cenários alternativos.
• Pesos são aprovados e congelados antes do ranking.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8C9E99A7-8395-4AD8-9797-65005463CE2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Saaty. Critérios AHP V2. Operacionalização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Seis workshops cobrem os indicadores qualitativos e calibram a escala comum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3A243551-F39E-44D3-AAB1-FD71E18FB46E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Cinco oficinas temáticas atribuem notas apenas quando a métrica não puder ser calculada com robustez. A sexta oficina harmoniza âncoras e resolve divergências.</a:t>
            </a:r>
          </a:p>
        </p:txBody>
      </p:sp>
      <p:graphicFrame>
        <p:nvGraphicFramePr>
          <p:cNvPr id="84" name="Tabela 83"/>
          <p:cNvGraphicFramePr/>
          <p:nvPr>
            <p:extLst>
              <p:ext uri="{D42A27DB-BD31-4B8C-83A1-F6EECF244321}">
                <p14:modId xmlns:p14="http://schemas.microsoft.com/office/powerpoint/2010/main" val="2556988941"/>
              </p:ext>
            </p:extLst>
          </p:nvPr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Workshop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Cobertura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Participantes recomendados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Duração e produto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Logística, economia e finanças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T, F e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SEMIL, SPI,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Planejamento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operadores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e academia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Premissas, proxies e notas justificadas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 Social, acessibilidade e segurança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 e SEG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Órgãos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sociais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representação de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municípios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DER</a:t>
                      </a:r>
                      <a:endParaRPr sz="1050" b="0" dirty="0">
                        <a:solidFill>
                          <a:srgbClr val="263238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Beneficiários, distribuição e risco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 Ambiente e clima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CETESB, SEMIL, 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Defesa Civil, órgãos de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biodiversidade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e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Impacto residual e resiliência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 Território e multimodalidade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Planejamento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representação de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municípios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CPTM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3h. Integração funcional e urbana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 Governança, maturidade e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 e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SEMIL, SPI,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jurídico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finanças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lang="pt-BR"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casa civil</a:t>
                      </a:r>
                      <a:endParaRPr sz="1050" b="0" dirty="0">
                        <a:solidFill>
                          <a:srgbClr val="263238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Evidências, prontidão e entregabilidade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 Calibração transversal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Facilitadores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e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dois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representantes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de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cada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oficina</a:t>
                      </a:r>
                      <a:endParaRPr sz="1050" b="0" dirty="0">
                        <a:solidFill>
                          <a:srgbClr val="263238"/>
                        </a:solidFill>
                        <a:latin typeface="Montserrat"/>
                        <a:ea typeface="Montserrat"/>
                        <a:cs typeface="Montserrat"/>
                      </a:endParaRP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3h.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Âncoras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comuns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divergências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e </a:t>
                      </a:r>
                      <a:r>
                        <a:rPr sz="1050" b="0" dirty="0" err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ata</a:t>
                      </a:r>
                      <a:r>
                        <a:rPr sz="1050" b="0" dirty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 final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95BCE306-1CBC-44C2-9934-D2CC8E382292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Operacionalização do D17 e Amorim.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escala ordinal de 0 a 10 distingue impacto negativo, ausência de impacto e contribuição positiva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3A243551-F39E-44D3-AAB1-FD71E18FB46E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N/D e N/A permanecem categorias próprias. A escala 1 a 5 da matriz somente poderá ser convertida quando suas âncoras forem semanticamente equivalentes.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Faixa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Significado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Âncora de julgamento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Registro obrigatório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 a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negativo significativo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Deteriora materialmente o objetivo ou cria efeito residual relevante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Evidência, magnitude e possibilidade de mitigação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 a 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negativo moderado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Há perda localizada ou temporária que não domina a decisão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Grupo ou território afetado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Ausência de impacto material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Resultado equivalente ao cenário tendencial dentro da incerteza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Justificativa de neutralidade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 a 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positivo moderado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Contribuição verificável, porém limitada em alcance ou intensidade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Beneficiários e mecanismo causal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 a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positivo elevado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Contribuição ampla, robusta e coerente com prioridades públicas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Fonte, escala e confiança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transformador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Muda estruturalmente o resultado e supera alternativas plausíveis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Justificativa excepcional e validação cruzada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95BCE306-1CBC-44C2-9934-D2CC8E382292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Operacionalização do D17. Matriz Fases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Cada nota será acompanhada por uma ficha que permite reconstruir o cálculo ou o julgamento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15BBED3-3A46-44DB-9A9B-5C3CB0BFFFB9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ficha é a unidade básica de auditoria. Ela torna explícitas as premissas e permite atualização quando surgirem dados melhores.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B5491272-94CE-44CF-BA6F-708ABC65061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B12451-DC85-4C9A-BFA4-83EAE372992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Definição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89E982-8742-400B-B57F-59F201301FC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Código, objetivo, mecanismo causal, polaridade e relação com prioridades do Governo.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93223E58-17CE-40C7-B157-1BF5132F6AC9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BA801F5-BF81-41C0-91DE-EF71C656E22E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Métrica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7584AE2-8ECA-489B-8B06-104E3621282F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Fórmula, unidade, cenário, horizonte, normalização e limiares.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BFE2677-1FEE-48B3-8555-843CA262849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F0E8C25-E154-4F8E-8FE7-5739C95E6457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Espaço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75BCE3E-3547-4AA0-88B1-9D1B40D3386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Geometria do projeto, área funcional, operador espacial e desagregações.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980D7C6D-7E56-43DD-8390-D37C1460AF1B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5BD21677-295D-4EE8-92CC-914505C20BB6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Dados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E4E8ADE7-C034-4F88-835C-665DB85D4E3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Fonte, produto, data, versão, responsável, metadados e restrições de uso.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C84B64D-B966-44C2-84F3-BF1FAAF2CB17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98D0AA16-CE80-4785-BF0F-7EA49345CEA2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Qualidade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33378B8-DADC-4F3E-B958-1848F312FADB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Cobertura, comparabilidade, incerteza, proxy, aplicabilidade e risco de dupla contagem.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4346C95F-FAFB-48B8-8B3A-DEB10EDA15EF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A6DDBC2B-F154-4811-A622-6339A98C162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Decisão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71A88A1-9FF6-4706-B6CE-14DFC5B8CA25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Valor bruto, nota, justificativa, validação, revisor e histórico de alterações.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7251ABC6-2139-4550-A721-C62F5D1C347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Amorim, Apêndice D. Matriz Fases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nota global usa soma ponderada, mas a ausência de evidência não é tratada como desempenho zero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664328-A54A-4914-84C5-463E6BD7AF3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projeto somente recebe pontuação depois do gate. Valores quantitativos são normalizados, notas qualitativas usam âncoras comuns e todos os resultados mantêm rastreabilidade.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C8287ED-5132-4A06-AB40-E0601091332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D50EC4D-CC5D-4D9D-9DEE-106F202D9527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Cálculo e integração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5627761-0777-4A2C-808F-0C8549F4A4C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Converter cada indicador para escala comum e manter o valor bruto.
• Aplicar pesos AHP congelados antes de observar o ranking.
• Calcular soma ponderada e resultados por dimensão.
• Testar pesos, cenários e dados críticos.
• Comparar ranking global e grupos de desempenho.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07017DB-01F7-4E01-B52E-82B5261B7DF2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5C15DCA-73B2-4B9B-8D9C-6C39DEEC941F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Ausência, correlação e controles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76A33A2-D097-44E3-8D24-EFD7646DED7D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N/D nunca vira zero.
• N/A sai do denominador com justificativa.
• Proxy recebe etiqueta e intervalo de incerteza.
• Indicadores correlacionados são revistos para evitar dupla contagem.
• Restrição confirmada não é compensada por boa nota.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8C9E99A7-8395-4AD8-9797-65005463CE2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Arquitetura AHP + soma ponderada. Matriz Fases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governança separa preferência pública, cálculo técnico, validação de dados e decisão final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15BBED3-3A46-44DB-9A9B-5C3CB0BFFFB9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separação de papéis reduz conflitos e permite localizar a origem de cada valor ou julgamento.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B5491272-94CE-44CF-BA6F-708ABC65061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B12451-DC85-4C9A-BFA4-83EAE372992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Comitê AHP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89E982-8742-400B-B57F-59F201301FC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Define prioridades relativas e pesos, sem atribuir notas aos próprios projetos.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93223E58-17CE-40C7-B157-1BF5132F6AC9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BA801F5-BF81-41C0-91DE-EF71C656E22E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Núcleo técnico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7584AE2-8ECA-489B-8B06-104E3621282F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Calcula métricas, mantém scripts, fichas, bases, versões e trilha de auditoria.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BFE2677-1FEE-48B3-8555-843CA262849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F0E8C25-E154-4F8E-8FE7-5739C95E6457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Pontos de contato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75BCE3E-3547-4AA0-88B1-9D1B40D3386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Confirmam escopo, fornecem evidências e validam fatos, sem alterar regras comuns.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980D7C6D-7E56-43DD-8390-D37C1460AF1B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5BD21677-295D-4EE8-92CC-914505C20BB6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Especialistas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E4E8ADE7-C034-4F88-835C-665DB85D4E3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Atribuem notas qualitativas justificadas e identificam impactos não capturados.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C84B64D-B966-44C2-84F3-BF1FAAF2CB17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98D0AA16-CE80-4785-BF0F-7EA49345CEA2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Revisão independente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33378B8-DADC-4F3E-B958-1848F312FADB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Confere consistência, dupla contagem, proxies, normalização e sensibilidade.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4346C95F-FAFB-48B8-8B3A-DEB10EDA15EF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A6DDBC2B-F154-4811-A622-6339A98C162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Instância decisória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71A88A1-9FF6-4706-B6CE-14DFC5B8CA25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Aprova o ranking, documenta exceções e define os horizontes da carteira.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7251ABC6-2139-4550-A721-C62F5D1C347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Governança do D17. Amorim.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 aprofundado: aplicação acadêmica sobre uma carteira real do PNLT/PAC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A9338338-FAD9-4CF6-9C75-FAD5CC5242D5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caso é valioso por publicar critérios, notas, pesos e ranking; deve ser citado com a natureza correta.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7D4E3A9F-73B6-4EF4-854C-241CA2CF6BB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BD3CC800-3524-4149-B170-76BCCED1BE9E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Objeto e precedência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1CCB2502-1366-48D7-84DA-01A49F08A635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 tese de Renaud Barbosa da Silva, defendida na COPPE/UFRJ em 2008, aplicou uma estrutura híbrida Delphi–TOPSIS–AHP a 60 projetos de infraestrutura de transporte associados ao PNLT e ao PAC. O trabalho utiliza projetos reais e participantes especializados e constitui precedente brasileiro detalhado para apoiar decisões sobre carteira pública.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555703D5-F11A-4861-AEE3-663E97724440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2FB172B2-453D-41BF-A189-71A905F419DD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Ressalva indispensável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09D3352A-5C7F-4FAB-ADD4-221D0A8D5E2B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Não se trata da metodologia oficial do PNLT nem de um ranking promulgado pelo Governo Federal. Trata-se de pesquisa acadêmica aplicada a essa carteira. O benchmark é usado para compreender processo, pesos, notas, sensibilidade e efeitos de mudança de método — não para transferir automaticamente critérios ou prioridades de 2008 para o PLI-SP 2050.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C03665F4-AC8D-42DC-AE96-6D680E4D8954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Silva, R. B. (2008), tese de doutorado, COPPE/UFRJ; Silva et al., SBPO (2011).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benchmark combinou Delphi, TOPSIS e AHP em cinco etapas</a:t>
            </a:r>
          </a:p>
        </p:txBody>
      </p:sp>
      <p:cxnSp>
        <p:nvCxnSpPr>
          <p:cNvPr id="88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7DB0BBDC-9753-4E7E-89D0-D9DDD20FB611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caso utilizou métodos diferentes para estruturar critérios, reduzir a carteira, obter pesos e testar o ranking.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1EDE0AE3-4111-47C2-AD89-E85031536A92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7A7EA11A-39DE-41EF-9292-344317FB269D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1. Construção dos critérios e carteira inicial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856A545-499D-431B-B525-3C639D7CF170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Trinta stakeholders participaram do processo Delphi para discutir projetos e critérios. A matriz principal reuniu 60 empreendimentos e sete critérios avaliados em escala de 1 a 9, criando uma base homogênea para comparação.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5F6917BF-BDF4-4E9D-A6F5-F4B50B973726}"/>
              </a:ext>
            </a:extLst>
          </p:cNvPr>
          <p:cNvSpPr>
            <a:spLocks noGrp="1"/>
          </p:cNvSpPr>
          <p:nvPr/>
        </p:nvSpPr>
        <p:spPr>
          <a:xfrm>
            <a:off x="428625" y="3305175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4B52F2F-E64A-49B5-97F6-ECF0E1D520CB}"/>
              </a:ext>
            </a:extLst>
          </p:cNvPr>
          <p:cNvSpPr>
            <a:spLocks noGrp="1"/>
          </p:cNvSpPr>
          <p:nvPr/>
        </p:nvSpPr>
        <p:spPr>
          <a:xfrm>
            <a:off x="542925" y="3400425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2. Pré-seleção e ponderação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0D6702D7-C8EE-49D6-B4F6-9D77B6ABCE74}"/>
              </a:ext>
            </a:extLst>
          </p:cNvPr>
          <p:cNvSpPr>
            <a:spLocks noGrp="1"/>
          </p:cNvSpPr>
          <p:nvPr/>
        </p:nvSpPr>
        <p:spPr>
          <a:xfrm>
            <a:off x="542925" y="3733800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TOPSIS produziu uma ordenação preliminar e reduziu a carteira a 25 projetos. Em seguida, foram preparados 25 conjuntos de matrizes AHP. Trinta e dois especialistas e não especialistas responderam comparações, processadas no Expert Choice.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68FADE0E-8AF7-4D2D-80BB-030FE1ED0C79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11334750" cy="1285875"/>
          </a:xfrm>
          <a:prstGeom prst="roundRect">
            <a:avLst>
              <a:gd name="adj" fmla="val 8889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0B00EE61-1A99-4590-9E94-7BCEAE8FF0EA}"/>
              </a:ext>
            </a:extLst>
          </p:cNvPr>
          <p:cNvSpPr>
            <a:spLocks noGrp="1"/>
          </p:cNvSpPr>
          <p:nvPr/>
        </p:nvSpPr>
        <p:spPr>
          <a:xfrm>
            <a:off x="542925" y="4781550"/>
            <a:ext cx="1110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3. Ranking final e sensibilidade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8F9BECCE-D6A9-4688-9392-68D77FAA1718}"/>
              </a:ext>
            </a:extLst>
          </p:cNvPr>
          <p:cNvSpPr>
            <a:spLocks noGrp="1"/>
          </p:cNvSpPr>
          <p:nvPr/>
        </p:nvSpPr>
        <p:spPr>
          <a:xfrm>
            <a:off x="542925" y="5114925"/>
            <a:ext cx="11106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Os pesos AHP foram calculados por grupo/modal e utilizados no TOPSIS. O estudo comparou rankings com pesos iguais, pesos AHP individuais e pesos médios, demonstrando deslocamentos de posição e a necessidade de sensibilidade antes da recomendação.</a:t>
            </a:r>
          </a:p>
        </p:txBody>
      </p:sp>
      <p:sp>
        <p:nvSpPr>
          <p:cNvPr id="76" name="d17-text">
            <a:extLst>
              <a:ext uri="{FF2B5EF4-FFF2-40B4-BE49-F238E27FC236}">
                <a16:creationId xmlns:a16="http://schemas.microsoft.com/office/drawing/2014/main" id="{F38229BC-98F7-44F4-AE81-60DD2148AAD3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capítulo 5 e apêndices; Silva et al. (2011).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benchmark avaliou sete critérios econômicos, sociais, ambientais e de execução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9B35D8B-4D43-4274-95A5-90153C8AA3CD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As notas de 1 a 9 registraram desempenho dos projetos; o AHP foi usado para obter pesos dos critérios por grupo modal.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Critério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Interpretação no estudo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Correspondência aproximada no D17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Conexão intermodal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Capacidade de articular modais e redes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T3 e TER2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Geração de empregos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Efeito sobre trabalho e atividade econômica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E2, com separação de empregos temporários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Bem-estar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Contribuição ao bem-estar da população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S1, S2 e parte de 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ambiental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Efeito ambiental associado ao empreendimento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A1, A2 e A3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Recuperação de passivos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Capacidade de tratar passivos existentes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Relação custo-benefício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Eficiência econômica do investimento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Prazo de execução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Tempo necessário para implantação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I2, R1 e faseamento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60D0826B-EAFC-43B2-B8DC-36FB19A607B7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matriz principal e Tabela 5.9.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Os pesos AHP variaram entre grupos modais, revelando preferências distintas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D16C81D4-A3FD-4292-937D-C75318D85E25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Valores representam pesos médios publicados; cada coluna soma aproximadamente 1,00.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Critério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Rodovias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Ferrovias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Hidrovias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Contornos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Conexão intermodal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Geração de empregos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Bem-estar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Impacto ambiental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Recuperação de passivos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Relação custo-benefício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Prazo de execução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58BE3753-9867-484D-B1CE-0E4FECADE618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Tabela 5.9, p. 157 do documento.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Benchmark: notas dos projetos finalistas — posições 1 a 9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E6C73991-52E3-41DA-8136-6C7CB88E7173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Escala original de 1 a 9: Conexão, Emprego, Bem-estar social, Impacto ambiental, Passivos, Custo-benefício e Prazo.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30"/>
        </p:xfrm>
        <a:graphic>
          <a:graphicData uri="http://schemas.openxmlformats.org/drawingml/2006/table">
            <a:tbl>
              <a:tblPr/>
              <a:tblGrid>
                <a:gridCol w="420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Emp.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Amb.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Pass.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B/C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Prazo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Arco Rodoviário do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Ferroanel de SP — Norte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Avenida Perimetral de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Eclusas de Tucuruí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São Francisco do Sul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Contorno ferroviário de Curitiba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Ferronorte: Alto Araguaia–Rondonópolis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Rodoanel de SP — Sul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Vila do Conde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05B7737A-6376-4B87-988B-AEA952785897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matriz principal, apêndice.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Benchmark: notas dos projetos finalistas — posições 10 a 17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FB2B90A7-4B6C-4BFB-874D-FD89D35E529F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As abreviações permanecem iguais às do slide anterior; os valores são os publicados na matriz principal.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30"/>
        </p:xfrm>
        <a:graphic>
          <a:graphicData uri="http://schemas.openxmlformats.org/drawingml/2006/table">
            <a:tbl>
              <a:tblPr/>
              <a:tblGrid>
                <a:gridCol w="420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Emp.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Amb.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Pass.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B/C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Prazo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BR-163: Guarantã–Rurópolis/Santarém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Via expressa do Porto de Itajaí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Hidrovia Paraná–Paraguai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Ramal Estreito–Balsas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Itaguaí — dragagem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Ferrovia Norte–Sul — 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Contorno Camaçari–Aratu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Paranaguá — berços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Suape — acesso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4D2FB3AA-4B3F-48E1-BA61-C8FA7E4E363C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matriz principal, apêndice.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Benchmark: notas dos projetos finalistas — posições 18 a 25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FBB59C6E-AAAF-4925-9387-5AF30445A86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publicação das notas junto ao ranking é uma prática de transparência que deve ser incorporada ao D17.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420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Emp.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Amb.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Pass.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B/C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Prazo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BR-230/PA — pavimentação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Nova Transnordestina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Santos — dragagem/derrocagem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BR-101/ES — contorno de Vitória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BR-153/TO — restauração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BR-364/MT — pavimentação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do Itaqui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C2078146-2F8E-467B-A70C-6AD309B7B9D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matriz principal, apêndice.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Benchmark: hierarquização final — posições 1 a 13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EDAD282-87F8-4EAA-8359-1B7C7E5A9EF4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coeficiente φ representa a proximidade relativa do TOPSIS; valores maiores indicam posição mais favorável.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Pos.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φ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Distâncias (Δ+ / Δ−)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Arco Rodoviário do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0,39 / 0,51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Ferroanel de SP — Norte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0,41 / 0,50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Avenida Perimetral de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0,41 / 0,49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Eclusas de Tucuruí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0,43 / 0,47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São Francisco do Sul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0,44 / 0,47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Contorno ferroviário de Curitiba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0,45 / 0,46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Ferronorte: Alto Araguaia–Rondonópolis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0,45 / 0,46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Rodoanel de SP — Sul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0,45 / 0,45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Vila do Conde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0,46 / 0,45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BR-163: Guarantã–Rurópolis/Santarém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0,48 / 0,43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Via expressa do Porto de Itajaí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0,51 / 0,40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Hidrovia Paraná–Paraguai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0,51 / 0,40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Ramal Estreito–Balsas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0,51 / 0,40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A512D1A6-8DAA-4380-BA48-A98B2D68AF4E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Tabela 5.10, p. 157.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Benchmark: hierarquização final — posições 14 a 25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997840C2-54F1-4E5B-A743-91609CFD8D6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estudo comparou ranking clássico, AHP individual e pesos AHP médios; as posições mudaram, confirmando a necessidade de sensibilidade.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2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Pos.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φ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Distâncias (Δ+ / Δ−)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Itaguaí — dragagem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0,52 / 0,39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Ferrovia Norte–Sul — 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0,53 / 0,38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Contorno Camaçari–Aratu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0,53 / 0,38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Paranaguá — berços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0,55 / 0,36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Suape — acesso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0,55 / 0,36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19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BR-230/PA — pavimentação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0,39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0,55 / 0,35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Nova Transnordestina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0,56 / 0,35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de Santos — dragagem/derrocagem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0,37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0,57 / 0,34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BR-101/ES — contorno de Vitória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0,58 / 0,32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BR-153/TO — restauração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0,59 / 0,32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BR-364/MT — pavimentação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0,59 / 0,32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Porto do Itaqui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0,61 / 0,30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8EC0A943-3822-430D-BFC7-E8579CF04F0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(2008), Tabelas 5.10 e 5.11, pp. 157–158.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benchmark é útil para transparência, mas sua transposição ao PLI exige quatro adaptações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6B27215D-E8FE-4379-B2B9-D3331552E055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principal contribuição do caso é publicar a cadeia completa; sua principal limitação é a amplitude dos critérios e das notas.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92C5DFAC-8C2D-45F9-B95E-42D786CDC778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8EEF88E8-6DCA-4F11-B0A7-7A13E58A0C41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 que deve ser incorporado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9756DDD0-2C6A-493C-A729-25D9979AA60C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Combinação de métodos por etapa; divulgação de pesos e notas; participação de stakeholders; comparação de rankings; sensibilidade; separação por grupos quando diferenças modais forem materialmente justificadas. O D17 também deve publicar a matriz de desempenho e a decomposição da nota global.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469105D7-630D-4C38-9A6C-94B937B804B7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6E69F7A0-B8A5-42B8-AAC6-A2EDC09D481B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 que deve ser aperfeiçoado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4F12652C-3AD9-4627-BFC3-D8174C36825D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Critérios como bem-estar e impacto ambiental eram amplos e sujeitos a interpretação. O D17 usa 21 indicadores definidos, fontes e rubricas. Pesos modais somente serão diferentes se o objetivo público justificar; caso contrário, projetos devem permanecer comparáveis. O ranking final precisa incorporar qualidade dos dados, regras de não aplicabilidade, requisitos eliminatórios e horizonte de implantação.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B71389E7-BE29-4D43-8657-9AD854A5D2F8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Silva (2008); Critérios AHP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Exemplo ilustrativo: três projetos e três dimensões simplificadas</a:t>
            </a:r>
          </a:p>
        </p:txBody>
      </p:sp>
      <p:cxnSp>
        <p:nvCxnSpPr>
          <p:cNvPr id="85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0A6E2D2-6C89-4F90-ABCB-CA26F2F2A70E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 exemplo não representa projetos reais do PLI e reduz a hierarquia apenas para demonstrar o cálculo.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FF435B2A-C8E6-41AD-9B8D-CD90A4DB582A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F5DEC7AD-4A7B-4326-843E-6A8917825A4D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Projetos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CD55CFF6-E5E7-4869-A0FC-A17D34C4D4D7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 A — corredor rodoviário com forte benefício operacional e maturidade alta, mas contribuição social moderada.</a:t>
            </a:r>
          </a:p>
          <a:p>
            <a:endParaRPr sz="1125" b="0" i="0">
              <a:solidFill>
                <a:srgbClr val="263238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 B — conexão metropolitana com benefício técnico relevante, elevada acessibilidade social e maturidade intermediária.</a:t>
            </a:r>
          </a:p>
          <a:p>
            <a:endParaRPr sz="1125" b="0" i="0">
              <a:solidFill>
                <a:srgbClr val="263238"/>
              </a:solidFill>
              <a:latin typeface="Montserrat"/>
              <a:ea typeface="Montserrat"/>
              <a:cs typeface="Montserrat"/>
            </a:endParaRPr>
          </a:p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Projeto C — ligação ferroviária de grande efeito técnico, porém com menor maturidade e benefício social mais concentrado.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30A3A680-1622-4509-B34A-EFA45D1C00AE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0B83586E-4A9E-40D5-BC1C-97B35DFB4610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Comparações AHP e pesos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942BE4A8-C312-4860-91C5-6B984CAC2D49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 painel considera mérito técnico duas vezes mais importante que benefício social; mérito técnico quatro vezes mais importante que entregabilidade; benefício social duas vezes mais importante que entregabilidade. A matriz é perfeitamente consistente e produz pesos aproximados de 57% para mérito técnico, 29% para benefício social e 14% para entregabilidade.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4CE97F36-3BDA-4EED-96F4-4EF35CE2C90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Exemplo elaborado para a Nota Técnica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No cenário-base, o Projeto B lidera por pequena margem sobre o Projeto A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C828B286-7458-4C55-8BB0-A881EBAD4436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Nota global = 0,57·Técnica + 0,29·Social + 0,14·Entregabilidade; todos os desempenhos estão em escala 0–100.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4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2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Projeto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Técnica (57%)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Social (29%)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Entregabilidade (14%)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 global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Posição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 — corredor rodoviário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75,6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 — conexão metropolitana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75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76,4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1º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 — ligação ferroviária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71,8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43CBBC43-239D-4878-A047-A4ECF37344B8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Exemplo elaborado para a Nota Técnica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sensibilidade revela um grupo líder, não uma ordem absoluta e imutável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067DFA-51BF-4F35-A246-E52F2B0F26AC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Quando um cenário plausível altera o primeiro colocado, a decisão deve ser apresentada como faixa ou grupo de prioridade.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Cenário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Pesos Téc./Soc./Entr.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 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 B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 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Ordem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57% / 29% / 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75,6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76,4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71,8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 &gt; A &gt;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Socioambiental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40% / 45% / 15%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70,8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79,8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63,8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B &gt; A &gt; C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Técnico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70% / 20% /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77,9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 &gt; C &gt;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Entregabilidade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45% / 20% / 35%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77,3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75,8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66,2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 &gt; B &gt; C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5A83661A-9A3C-4FF2-B5CE-00EE7563353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Exemplo elaborado para a Nota Técnica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cronograma concentra pesos, triagem e indicadores antes da consolidação do D17</a:t>
            </a: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3A243551-F39E-44D3-AAB1-FD71E18FB46E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As frentes operam em paralelo, com pontos de controle que impedem o uso de pesos inconsistentes, projetos inelegíveis ou dados sem validação.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Período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Atividade principal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 de controle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Marco relacionado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 a 7 de agosto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Workshop de pontapé inicial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Árvore, glossário, titulares e protocolo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Início formal do AHP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 a 15 de agosto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52 comparações e revisão de consistência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Pesos consolidados e cenários de dispersão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Fim da primeira quinzena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 de agosto a 11 de setembro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Triagem e processamento espacial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Status dos 23 gates e base geoespacial versionada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Carteira elegível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 de agosto a 18 de setembro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Cálculos quantitativos e cinco workshops temáticos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Fichas preliminares dos 21 indicadores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Produção das notas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 a 25 de setembro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Calibração transversal e auditoria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Notas validadas, lacunas e proxies documentadas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D14 em 24 de setembro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28 de setembro a 23 de outubro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Normalização, ranking, sensibilidade e aprovação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D15 em 8/10, D16 em 15/10, D17 em 22/10 e apresentação em 23/10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Encerramento metodológico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95BCE306-1CBC-44C2-9934-D2CC8E382292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Plano de Ação PLI-SP e operacionalização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Seis decisões permitem iniciar imediatamente a operacionalização do D17</a:t>
            </a:r>
          </a:p>
        </p:txBody>
      </p:sp>
      <p:cxnSp>
        <p:nvCxnSpPr>
          <p:cNvPr id="97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15BBED3-3A46-44DB-9A9B-5C3CB0BFFFB9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metodologia estará pronta para aplicação quando regras, pessoas, dados e responsabilidades forem formalmente confirmados.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B5491272-94CE-44CF-BA6F-708ABC650616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EB12451-DC85-4C9A-BFA4-83EAE3729923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1. Arquitetura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4789E982-8742-400B-B57F-59F201301FCD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Aprovar triagem, formação dos indicadores, AHP, agregação e sensibilidade como fases distintas.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93223E58-17CE-40C7-B157-1BF5132F6AC9}"/>
              </a:ext>
            </a:extLst>
          </p:cNvPr>
          <p:cNvSpPr>
            <a:spLocks noGrp="1"/>
          </p:cNvSpPr>
          <p:nvPr/>
        </p:nvSpPr>
        <p:spPr>
          <a:xfrm>
            <a:off x="42513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5BA801F5-BF81-41C0-91DE-EF71C656E22E}"/>
              </a:ext>
            </a:extLst>
          </p:cNvPr>
          <p:cNvSpPr>
            <a:spLocks noGrp="1"/>
          </p:cNvSpPr>
          <p:nvPr/>
        </p:nvSpPr>
        <p:spPr>
          <a:xfrm>
            <a:off x="43656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2. Indicadores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B7584AE2-8ECA-489B-8B06-104E3621282F}"/>
              </a:ext>
            </a:extLst>
          </p:cNvPr>
          <p:cNvSpPr>
            <a:spLocks noGrp="1"/>
          </p:cNvSpPr>
          <p:nvPr/>
        </p:nvSpPr>
        <p:spPr>
          <a:xfrm>
            <a:off x="43656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Validar as fichas, fórmulas, fontes, operadores espaciais e regras de dados ausentes.</a:t>
            </a:r>
          </a:p>
        </p:txBody>
      </p:sp>
      <p:sp>
        <p:nvSpPr>
          <p:cNvPr id="73" name="d17-box">
            <a:extLst>
              <a:ext uri="{FF2B5EF4-FFF2-40B4-BE49-F238E27FC236}">
                <a16:creationId xmlns:a16="http://schemas.microsoft.com/office/drawing/2014/main" id="{EBFE2677-1FEE-48B3-8555-843CA262849C}"/>
              </a:ext>
            </a:extLst>
          </p:cNvPr>
          <p:cNvSpPr>
            <a:spLocks noGrp="1"/>
          </p:cNvSpPr>
          <p:nvPr/>
        </p:nvSpPr>
        <p:spPr>
          <a:xfrm>
            <a:off x="8074025" y="1924050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d17-text">
            <a:extLst>
              <a:ext uri="{FF2B5EF4-FFF2-40B4-BE49-F238E27FC236}">
                <a16:creationId xmlns:a16="http://schemas.microsoft.com/office/drawing/2014/main" id="{AF0E8C25-E154-4F8E-8FE7-5739C95E6457}"/>
              </a:ext>
            </a:extLst>
          </p:cNvPr>
          <p:cNvSpPr>
            <a:spLocks noGrp="1"/>
          </p:cNvSpPr>
          <p:nvPr/>
        </p:nvSpPr>
        <p:spPr>
          <a:xfrm>
            <a:off x="8188325" y="2019300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3. Painel AHP</a:t>
            </a:r>
          </a:p>
        </p:txBody>
      </p:sp>
      <p:sp>
        <p:nvSpPr>
          <p:cNvPr id="75" name="d17-text">
            <a:extLst>
              <a:ext uri="{FF2B5EF4-FFF2-40B4-BE49-F238E27FC236}">
                <a16:creationId xmlns:a16="http://schemas.microsoft.com/office/drawing/2014/main" id="{075BCE3E-3547-4AA0-88B1-9D1B40D3386D}"/>
              </a:ext>
            </a:extLst>
          </p:cNvPr>
          <p:cNvSpPr>
            <a:spLocks noGrp="1"/>
          </p:cNvSpPr>
          <p:nvPr/>
        </p:nvSpPr>
        <p:spPr>
          <a:xfrm>
            <a:off x="8188325" y="2352675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Designar os oito titulares e convocar o workshop de pontapé inicial.</a:t>
            </a:r>
          </a:p>
        </p:txBody>
      </p:sp>
      <p:sp>
        <p:nvSpPr>
          <p:cNvPr id="76" name="d17-box">
            <a:extLst>
              <a:ext uri="{FF2B5EF4-FFF2-40B4-BE49-F238E27FC236}">
                <a16:creationId xmlns:a16="http://schemas.microsoft.com/office/drawing/2014/main" id="{980D7C6D-7E56-43DD-8390-D37C1460AF1B}"/>
              </a:ext>
            </a:extLst>
          </p:cNvPr>
          <p:cNvSpPr>
            <a:spLocks noGrp="1"/>
          </p:cNvSpPr>
          <p:nvPr/>
        </p:nvSpPr>
        <p:spPr>
          <a:xfrm>
            <a:off x="4286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d17-text">
            <a:extLst>
              <a:ext uri="{FF2B5EF4-FFF2-40B4-BE49-F238E27FC236}">
                <a16:creationId xmlns:a16="http://schemas.microsoft.com/office/drawing/2014/main" id="{5BD21677-295D-4EE8-92CC-914505C20BB6}"/>
              </a:ext>
            </a:extLst>
          </p:cNvPr>
          <p:cNvSpPr>
            <a:spLocks noGrp="1"/>
          </p:cNvSpPr>
          <p:nvPr/>
        </p:nvSpPr>
        <p:spPr>
          <a:xfrm>
            <a:off x="5429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4. Especialistas</a:t>
            </a:r>
          </a:p>
        </p:txBody>
      </p:sp>
      <p:sp>
        <p:nvSpPr>
          <p:cNvPr id="78" name="d17-text">
            <a:extLst>
              <a:ext uri="{FF2B5EF4-FFF2-40B4-BE49-F238E27FC236}">
                <a16:creationId xmlns:a16="http://schemas.microsoft.com/office/drawing/2014/main" id="{E4E8ADE7-C034-4F88-835C-665DB85D4E33}"/>
              </a:ext>
            </a:extLst>
          </p:cNvPr>
          <p:cNvSpPr>
            <a:spLocks noGrp="1"/>
          </p:cNvSpPr>
          <p:nvPr/>
        </p:nvSpPr>
        <p:spPr>
          <a:xfrm>
            <a:off x="5429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Indicar participantes e pontos de contato para as cinco oficinas e a calibração.</a:t>
            </a:r>
          </a:p>
        </p:txBody>
      </p:sp>
      <p:sp>
        <p:nvSpPr>
          <p:cNvPr id="79" name="d17-box">
            <a:extLst>
              <a:ext uri="{FF2B5EF4-FFF2-40B4-BE49-F238E27FC236}">
                <a16:creationId xmlns:a16="http://schemas.microsoft.com/office/drawing/2014/main" id="{BC84B64D-B966-44C2-84F3-BF1FAAF2CB17}"/>
              </a:ext>
            </a:extLst>
          </p:cNvPr>
          <p:cNvSpPr>
            <a:spLocks noGrp="1"/>
          </p:cNvSpPr>
          <p:nvPr/>
        </p:nvSpPr>
        <p:spPr>
          <a:xfrm>
            <a:off x="42513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d17-text">
            <a:extLst>
              <a:ext uri="{FF2B5EF4-FFF2-40B4-BE49-F238E27FC236}">
                <a16:creationId xmlns:a16="http://schemas.microsoft.com/office/drawing/2014/main" id="{98D0AA16-CE80-4785-BF0F-7EA49345CEA2}"/>
              </a:ext>
            </a:extLst>
          </p:cNvPr>
          <p:cNvSpPr>
            <a:spLocks noGrp="1"/>
          </p:cNvSpPr>
          <p:nvPr/>
        </p:nvSpPr>
        <p:spPr>
          <a:xfrm>
            <a:off x="43656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5. Dados</a:t>
            </a:r>
          </a:p>
        </p:txBody>
      </p:sp>
      <p:sp>
        <p:nvSpPr>
          <p:cNvPr id="81" name="d17-text">
            <a:extLst>
              <a:ext uri="{FF2B5EF4-FFF2-40B4-BE49-F238E27FC236}">
                <a16:creationId xmlns:a16="http://schemas.microsoft.com/office/drawing/2014/main" id="{333378B8-DADC-4F3E-B958-1848F312FADB}"/>
              </a:ext>
            </a:extLst>
          </p:cNvPr>
          <p:cNvSpPr>
            <a:spLocks noGrp="1"/>
          </p:cNvSpPr>
          <p:nvPr/>
        </p:nvSpPr>
        <p:spPr>
          <a:xfrm>
            <a:off x="43656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Autorizar acessos, responsáveis, versões e cronograma de entrega das bases.</a:t>
            </a:r>
          </a:p>
        </p:txBody>
      </p:sp>
      <p:sp>
        <p:nvSpPr>
          <p:cNvPr id="82" name="d17-box">
            <a:extLst>
              <a:ext uri="{FF2B5EF4-FFF2-40B4-BE49-F238E27FC236}">
                <a16:creationId xmlns:a16="http://schemas.microsoft.com/office/drawing/2014/main" id="{4346C95F-FAFB-48B8-8B3A-DEB10EDA15EF}"/>
              </a:ext>
            </a:extLst>
          </p:cNvPr>
          <p:cNvSpPr>
            <a:spLocks noGrp="1"/>
          </p:cNvSpPr>
          <p:nvPr/>
        </p:nvSpPr>
        <p:spPr>
          <a:xfrm>
            <a:off x="8074025" y="4005263"/>
            <a:ext cx="3689350" cy="1966913"/>
          </a:xfrm>
          <a:prstGeom prst="roundRect">
            <a:avLst>
              <a:gd name="adj" fmla="val 5811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d17-text">
            <a:extLst>
              <a:ext uri="{FF2B5EF4-FFF2-40B4-BE49-F238E27FC236}">
                <a16:creationId xmlns:a16="http://schemas.microsoft.com/office/drawing/2014/main" id="{A6DDBC2B-F154-4811-A622-6339A98C162D}"/>
              </a:ext>
            </a:extLst>
          </p:cNvPr>
          <p:cNvSpPr>
            <a:spLocks noGrp="1"/>
          </p:cNvSpPr>
          <p:nvPr/>
        </p:nvSpPr>
        <p:spPr>
          <a:xfrm>
            <a:off x="8188325" y="4100513"/>
            <a:ext cx="346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6. Governança</a:t>
            </a:r>
          </a:p>
        </p:txBody>
      </p:sp>
      <p:sp>
        <p:nvSpPr>
          <p:cNvPr id="84" name="d17-text">
            <a:extLst>
              <a:ext uri="{FF2B5EF4-FFF2-40B4-BE49-F238E27FC236}">
                <a16:creationId xmlns:a16="http://schemas.microsoft.com/office/drawing/2014/main" id="{271A88A1-9FF6-4706-B6CE-14DFC5B8CA25}"/>
              </a:ext>
            </a:extLst>
          </p:cNvPr>
          <p:cNvSpPr>
            <a:spLocks noGrp="1"/>
          </p:cNvSpPr>
          <p:nvPr/>
        </p:nvSpPr>
        <p:spPr>
          <a:xfrm>
            <a:off x="8188325" y="4433888"/>
            <a:ext cx="3460750" cy="144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Aprovar gates, atas, controle de consistência, exceções e instância decisória final.</a:t>
            </a:r>
          </a:p>
        </p:txBody>
      </p:sp>
      <p:sp>
        <p:nvSpPr>
          <p:cNvPr id="85" name="d17-text">
            <a:extLst>
              <a:ext uri="{FF2B5EF4-FFF2-40B4-BE49-F238E27FC236}">
                <a16:creationId xmlns:a16="http://schemas.microsoft.com/office/drawing/2014/main" id="{7251ABC6-2139-4550-A721-C62F5D1C3476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Síntese das recomendações metodológicas e operacionais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13392</Words>
  <Application>Microsoft Office PowerPoint</Application>
  <DocSecurity>0</DocSecurity>
  <PresentationFormat>Widescreen</PresentationFormat>
  <Paragraphs>1676</Paragraphs>
  <Slides>67</Slides>
  <Notes>67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67</vt:i4>
      </vt:variant>
    </vt:vector>
  </HeadingPairs>
  <TitlesOfParts>
    <vt:vector size="73" baseType="lpstr">
      <vt:lpstr>Arial</vt:lpstr>
      <vt:lpstr>Montserrat</vt:lpstr>
      <vt:lpstr>Tema do Office</vt:lpstr>
      <vt:lpstr>Tema do Office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Fernando Fleury</cp:lastModifiedBy>
  <cp:revision>1</cp:revision>
  <dcterms:created xsi:type="dcterms:W3CDTF">2026-08-04T10:08:44Z</dcterms:created>
  <dcterms:modified xsi:type="dcterms:W3CDTF">2026-08-04T11:07:48Z</dcterms:modified>
</cp:coreProperties>
</file>