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7"/>
  </p:notesMasterIdLst>
  <p:sldIdLst>
    <p:sldId id="256" r:id="rId5"/>
    <p:sldId id="257" r:id="rId6"/>
  </p:sldIdLst>
  <p:sldSz cx="12192000" cy="6858000"/>
  <p:notesSz cx="6858000" cy="9144000"/>
  <p:embeddedFontLst>
    <p:embeddedFont>
      <p:font typeface="Montserrat" pitchFamily="2" charset="77"/>
      <p:regular r:id="rId8"/>
      <p:bold r:id="rId9"/>
      <p:italic r:id="rId10"/>
      <p:boldItalic r:id="rId1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877A11A9-857A-4CC5-B131-97DE4322EDBE}">
          <p14:sldIdLst>
            <p14:sldId id="256"/>
            <p14:sldId id="257"/>
          </p14:sldIdLst>
        </p14:section>
        <p14:section name="Cronograma" id="{8CD85D42-481B-40CB-8F7B-BFE465522133}">
          <p14:sldIdLst/>
        </p14:section>
        <p14:section name="Quadro de atividades" id="{36EB7595-CD98-4ABB-81FA-F899DDCD7642}">
          <p14:sldIdLst/>
        </p14:section>
        <p14:section name="Solicitações para a Contratante" id="{59477994-55E8-4782-9574-F3A542AB133C}">
          <p14:sldIdLst/>
        </p14:section>
        <p14:section name="1 - Diagnostico" id="{E6509343-18D9-41FD-BB10-E5D166F065B6}">
          <p14:sldIdLst/>
        </p14:section>
        <p14:section name="2 - Desafios Futuros" id="{A1BDC760-35E0-4A31-B64F-07DFCE2ADD64}">
          <p14:sldIdLst/>
        </p14:section>
        <p14:section name="D08 Alocacoes" id="{C241565E-534C-4F93-9495-E242A220AAD5}">
          <p14:sldIdLst/>
        </p14:section>
        <p14:section name="D10Resultados" id="{3AC6EF86-8DC1-4355-A6A7-187F96CDC839}">
          <p14:sldIdLst/>
        </p14:section>
        <p14:section name="D10OfertaFutura" id="{E0595537-7355-4277-8394-C3D350CE143F}">
          <p14:sldIdLst/>
        </p14:section>
        <p14:section name="3 - Antecipação de desafios" id="{109A669E-D1FD-41A7-B2BB-9C9C4F061B89}">
          <p14:sldIdLst/>
        </p14:section>
        <p14:section name="MudandasTecnologicas" id="{F5CEFCF8-9A66-40C1-82C0-A412AA73EDAF}">
          <p14:sldIdLst/>
        </p14:section>
        <p14:section name="Contribuicoes" id="{965B99B7-BC3F-4B9A-A031-38D7E80BF0A6}">
          <p14:sldIdLst/>
        </p14:section>
        <p14:section name="Simulações e PontosAtencao" id="{0D03400C-36B7-4C0B-BBC4-850D20B9D14F}">
          <p14:sldIdLst/>
        </p14:section>
        <p14:section name="4-Hierarquizacao" id="{662061B7-178E-4C8C-B16B-8B26A0EDEF4F}">
          <p14:sldIdLst/>
        </p14:section>
        <p14:section name="5 - Relatorio Final" id="{088B0054-13A2-4658-AB38-C3F9BBABF3F0}">
          <p14:sldIdLst/>
        </p14:section>
        <p14:section name="6 - Base do Conhecimento" id="{6BA5F648-B933-4B9E-AE88-A306DA5A1FA0}">
          <p14:sldIdLst/>
        </p14:section>
        <p14:section name="6 - Governança" id="{1F0C9E06-6A02-4E2B-8B8F-2421827B365F}">
          <p14:sldIdLst/>
        </p14:section>
        <p14:section name="FAP" id="{4BEEA0E8-C7C5-4227-9854-BD7BE2785127}">
          <p14:sldIdLst/>
        </p14:section>
        <p14:section name="FAP Exemplo" id="{FFB52F1C-B158-456F-B554-0C6E2E2ABFD3}">
          <p14:sldIdLst/>
        </p14:section>
        <p14:section name="Estruturacao da Saída" id="{B9CC98E3-7ADF-46FA-A8A4-E42A7D0FF0DE}">
          <p14:sldIdLst/>
        </p14:section>
        <p14:section name="Slides assessorios" id="{A9833CD3-A638-4B2E-AAD6-21328111F06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6F12200-A153-6FCC-08FC-FE1E5672015C}" name="CRISTINA IKONOMIDIS" initials="" userId="S::cristina.ikonomidis@sme.prefeitura.sp.gov.br::91cf9c89-2b9f-4d0e-ac4d-af8ffb9b405c" providerId="AD"/>
  <p188:author id="{BD2D5320-1587-8BB9-21B7-43FE602E3644}" name="Camila Alves Maia" initials="CA" userId="8bda2209e434bc01" providerId="Windows Live"/>
  <p188:author id="{9C13C28D-5202-84BB-C665-0F7EDE51B7C9}" name="Leticia Queiroz Andrade" initials="LQ" userId="S::leticia@queirozmalufreis.com.br::58d16857-3b06-4d58-83ae-93e77a6f681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B63"/>
    <a:srgbClr val="EDF3F7"/>
    <a:srgbClr val="00B050"/>
    <a:srgbClr val="EAF5EF"/>
    <a:srgbClr val="F6C6AD"/>
    <a:srgbClr val="F3F5F6"/>
    <a:srgbClr val="0F1E3D"/>
    <a:srgbClr val="203864"/>
    <a:srgbClr val="F4FAF6"/>
    <a:srgbClr val="1B3C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75" autoAdjust="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24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946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userDrawn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3;p2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710505"/>
            <a:ext cx="12192001" cy="145732"/>
          </a:xfrm>
          <a:prstGeom prst="rect">
            <a:avLst/>
          </a:prstGeom>
          <a:ln>
            <a:noFill/>
          </a:ln>
        </p:spPr>
      </p:pic>
      <p:pic>
        <p:nvPicPr>
          <p:cNvPr id="10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96134" y="151013"/>
            <a:ext cx="361812" cy="42211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87C50D9-55EF-2910-3A88-C662CD62F389}"/>
              </a:ext>
            </a:extLst>
          </p:cNvPr>
          <p:cNvSpPr>
            <a:spLocks noGrp="1"/>
          </p:cNvSpPr>
          <p:nvPr/>
        </p:nvSpPr>
        <p:spPr>
          <a:xfrm>
            <a:off x="155275" y="150597"/>
            <a:ext cx="722893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latin typeface="Arial"/>
                <a:ea typeface="Arial"/>
                <a:cs typeface="Arial"/>
              </a:rPr>
              <a:t>GOVERNO DO ESTADO DE SÃO PAULO | </a:t>
            </a:r>
            <a:r>
              <a:rPr sz="800" b="0">
                <a:latin typeface="Arial"/>
                <a:ea typeface="Arial"/>
                <a:cs typeface="Arial"/>
              </a:rPr>
              <a:t>SECRETARIA DE MEIO AMBIENTE, INFRAESTRUTURA E LOGÍSTICA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7E2D6-DA59-3F37-901D-3E43C65720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346427"/>
            <a:ext cx="10515600" cy="1325563"/>
          </a:xfrm>
        </p:spPr>
        <p:txBody>
          <a:bodyPr>
            <a:normAutofit/>
          </a:bodyPr>
          <a:lstStyle>
            <a:lvl1pPr algn="ctr">
              <a:buNone/>
              <a:defRPr sz="1600" b="1">
                <a:latin typeface="Montserrat" pitchFamily="2" charset="0"/>
                <a:ea typeface="Montserrat" pitchFamily="2" charset="0"/>
                <a:cs typeface="Montserrat" pitchFamily="2" charset="0"/>
              </a:defRPr>
            </a:lvl1pPr>
          </a:lstStyle>
          <a:p>
            <a:r>
              <a:rPr dirty="0"/>
              <a:t>OBRIGADO</a:t>
            </a:r>
          </a:p>
        </p:txBody>
      </p:sp>
      <p:pic>
        <p:nvPicPr>
          <p:cNvPr id="5" name="Google Shape;426;p12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710505"/>
            <a:ext cx="12192001" cy="14573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E8412CF-D265-E4EA-062B-B779C17A36D6}"/>
              </a:ext>
            </a:extLst>
          </p:cNvPr>
          <p:cNvSpPr>
            <a:spLocks noGrp="1"/>
          </p:cNvSpPr>
          <p:nvPr/>
        </p:nvSpPr>
        <p:spPr>
          <a:xfrm>
            <a:off x="-1" y="2026"/>
            <a:ext cx="12192000" cy="720000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E7287C3-EEA8-3546-5102-B6F7459FC734}"/>
              </a:ext>
            </a:extLst>
          </p:cNvPr>
          <p:cNvSpPr>
            <a:spLocks noGrp="1"/>
          </p:cNvSpPr>
          <p:nvPr/>
        </p:nvSpPr>
        <p:spPr>
          <a:xfrm rot="16200000">
            <a:off x="-3085049" y="3085049"/>
            <a:ext cx="6710101" cy="540000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91B6076-F615-0036-D143-0BDB93C099E2}"/>
              </a:ext>
            </a:extLst>
          </p:cNvPr>
          <p:cNvSpPr>
            <a:spLocks noGrp="1"/>
          </p:cNvSpPr>
          <p:nvPr/>
        </p:nvSpPr>
        <p:spPr>
          <a:xfrm rot="16200000">
            <a:off x="8566949" y="3085050"/>
            <a:ext cx="6710101" cy="540000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096536D-6E8F-280F-E72C-C9205B01D6C8}"/>
              </a:ext>
            </a:extLst>
          </p:cNvPr>
          <p:cNvSpPr>
            <a:spLocks noGrp="1"/>
          </p:cNvSpPr>
          <p:nvPr/>
        </p:nvSpPr>
        <p:spPr>
          <a:xfrm>
            <a:off x="1" y="6276975"/>
            <a:ext cx="12192000" cy="433124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3" name="Imagem 22"/>
          <p:cNvPicPr>
            <a:picLocks noChangeAspect="1"/>
          </p:cNvPicPr>
          <p:nvPr/>
        </p:nvPicPr>
        <p:blipFill>
          <a:blip r:embed="rId2"/>
          <a:srcRect l="16021" t="23092" r="15522"/>
          <a:stretch>
            <a:fillRect/>
          </a:stretch>
        </p:blipFill>
        <p:spPr>
          <a:xfrm>
            <a:off x="615894" y="1601681"/>
            <a:ext cx="10420212" cy="189781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4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385C4-9BAC-9C72-49C5-1027388A1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6B0B5F-A9D6-E162-C0F6-11651ABA5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02125A-1BC7-F466-6164-E380835FD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26/10/2026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708675-2282-D9C0-54FD-0A3338506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37F81F-B2B7-7124-7AC4-EA4EF5949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6477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>
            <a:extLst>
              <a:ext uri="{FF2B5EF4-FFF2-40B4-BE49-F238E27FC236}">
                <a16:creationId xmlns:a16="http://schemas.microsoft.com/office/drawing/2014/main" id="{6A8CA14B-67EE-4F48-B5E9-A9DEEE160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>
            <a:extLst>
              <a:ext uri="{FF2B5EF4-FFF2-40B4-BE49-F238E27FC236}">
                <a16:creationId xmlns:a16="http://schemas.microsoft.com/office/drawing/2014/main" id="{9248EA0F-15F3-4609-B7B4-87F65AE55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8" name="Google Shape;8;p13">
            <a:extLst>
              <a:ext uri="{FF2B5EF4-FFF2-40B4-BE49-F238E27FC236}">
                <a16:creationId xmlns:a16="http://schemas.microsoft.com/office/drawing/2014/main" id="{04AB60AC-C909-4A0A-BA08-6AC665EB6FD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9" name="Google Shape;9;p13">
            <a:extLst>
              <a:ext uri="{FF2B5EF4-FFF2-40B4-BE49-F238E27FC236}">
                <a16:creationId xmlns:a16="http://schemas.microsoft.com/office/drawing/2014/main" id="{5D7A7F50-4DF0-4740-B212-65013386C09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0" name="Google Shape;10;p13">
            <a:extLst>
              <a:ext uri="{FF2B5EF4-FFF2-40B4-BE49-F238E27FC236}">
                <a16:creationId xmlns:a16="http://schemas.microsoft.com/office/drawing/2014/main" id="{596A8364-0429-45F3-886B-3B6B5244FFF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8039" y="53035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DB85C"/>
                </a:solidFill>
                <a:latin typeface="Montserrat"/>
              </a:rPr>
              <a:t>PLI-SP 2050 </a:t>
            </a:r>
            <a:r>
              <a:rPr sz="2200" b="1">
                <a:solidFill>
                  <a:srgbClr val="002060"/>
                </a:solidFill>
                <a:latin typeface="Montserrat"/>
              </a:rPr>
              <a:t>Estrutura hierárquica de critérios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5448" y="1024128"/>
            <a:ext cx="1380744" cy="5449824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5448" y="1024128"/>
            <a:ext cx="1380744" cy="24688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META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7048" y="1024128"/>
            <a:ext cx="1472184" cy="5449824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27048" y="1024128"/>
            <a:ext cx="1472184" cy="24688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BLOCOS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90088" y="1024128"/>
            <a:ext cx="1746504" cy="5449824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90088" y="1024128"/>
            <a:ext cx="1746504" cy="24688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DIMENSÕES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7448" y="1024128"/>
            <a:ext cx="2523744" cy="5449824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27448" y="1024128"/>
            <a:ext cx="2523744" cy="24688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INDICADORES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0727" y="1024128"/>
            <a:ext cx="3941064" cy="5449824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10727" y="1024128"/>
            <a:ext cx="3941064" cy="24688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OBJETIVOS ESTRATÉGICOS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362456"/>
            <a:ext cx="2377440" cy="230885"/>
          </a:xfrm>
          <a:prstGeom prst="rect">
            <a:avLst/>
          </a:prstGeom>
          <a:solidFill>
            <a:srgbClr val="5D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T1 · Saturação e alívio de gargalos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620541"/>
            <a:ext cx="2377440" cy="230885"/>
          </a:xfrm>
          <a:prstGeom prst="rect">
            <a:avLst/>
          </a:prstGeom>
          <a:solidFill>
            <a:srgbClr val="5D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T2 · Tempo e confiabilidade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878626"/>
            <a:ext cx="2377440" cy="230885"/>
          </a:xfrm>
          <a:prstGeom prst="rect">
            <a:avLst/>
          </a:prstGeom>
          <a:solidFill>
            <a:srgbClr val="5D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T3 · Conectividade e intermodalidade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1452519"/>
            <a:ext cx="1600200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D1 · Técnica e logística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1477898"/>
            <a:ext cx="137160" cy="258085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63440" y="1735983"/>
            <a:ext cx="137160" cy="0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63440" y="1735983"/>
            <a:ext cx="137160" cy="258085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800600" y="2335754"/>
            <a:ext cx="2377440" cy="230885"/>
          </a:xfrm>
          <a:prstGeom prst="rect">
            <a:avLst/>
          </a:prstGeom>
          <a:solidFill>
            <a:srgbClr val="5D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E1 · Emprego e desenv. regional</a:t>
            </a:r>
          </a:p>
        </p:txBody>
      </p:sp>
      <p:sp>
        <p:nvSpPr>
          <p:cNvPr id="200" name="Rectangle E3"/>
          <p:cNvSpPr/>
          <p:nvPr/>
        </p:nvSpPr>
        <p:spPr>
          <a:xfrm>
            <a:off x="4800600" y="2593839"/>
            <a:ext cx="2377440" cy="230885"/>
          </a:xfrm>
          <a:prstGeom prst="rect">
            <a:avLst/>
          </a:prstGeom>
          <a:solidFill>
            <a:srgbClr val="5D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E2 · Impacto nas cadeias produtivas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2296774"/>
            <a:ext cx="1600200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D2 · Econômica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663440" y="2451196"/>
            <a:ext cx="137160" cy="129042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63440" y="2580238"/>
            <a:ext cx="137160" cy="129043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800600" y="3050966"/>
            <a:ext cx="2377440" cy="230885"/>
          </a:xfrm>
          <a:prstGeom prst="rect">
            <a:avLst/>
          </a:prstGeom>
          <a:solidFill>
            <a:srgbClr val="F0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S1 · Equidade territorial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3309051"/>
            <a:ext cx="2377440" cy="230885"/>
          </a:xfrm>
          <a:prstGeom prst="rect">
            <a:avLst/>
          </a:prstGeom>
          <a:solidFill>
            <a:srgbClr val="F0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S2 · Acessibilidade a serviços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3567136"/>
            <a:ext cx="2377440" cy="230885"/>
          </a:xfrm>
          <a:prstGeom prst="rect">
            <a:avLst/>
          </a:prstGeom>
          <a:solidFill>
            <a:srgbClr val="F0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S3 · Integração urbana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3240" y="3141029"/>
            <a:ext cx="1600200" cy="56692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D3 · Social e territorial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4663440" y="3166408"/>
            <a:ext cx="137160" cy="258085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663440" y="3424493"/>
            <a:ext cx="137160" cy="0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663440" y="3424493"/>
            <a:ext cx="137160" cy="258085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800600" y="3895221"/>
            <a:ext cx="2377440" cy="230885"/>
          </a:xfrm>
          <a:prstGeom prst="rect">
            <a:avLst/>
          </a:prstGeom>
          <a:solidFill>
            <a:srgbClr val="F0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SEG · Sinistros graves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3846071"/>
            <a:ext cx="1600200" cy="329184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D4 · Segurança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4663440" y="4010663"/>
            <a:ext cx="137160" cy="0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800600" y="4223306"/>
            <a:ext cx="2377440" cy="230885"/>
          </a:xfrm>
          <a:prstGeom prst="rect">
            <a:avLst/>
          </a:prstGeom>
          <a:solidFill>
            <a:srgbClr val="F0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A1 · Descarbonização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4481391"/>
            <a:ext cx="2377440" cy="230885"/>
          </a:xfrm>
          <a:prstGeom prst="rect">
            <a:avLst/>
          </a:prstGeom>
          <a:solidFill>
            <a:srgbClr val="F0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A2 · Sensibilidade socioambiental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00600" y="4739476"/>
            <a:ext cx="2377440" cy="230885"/>
          </a:xfrm>
          <a:prstGeom prst="rect">
            <a:avLst/>
          </a:prstGeom>
          <a:solidFill>
            <a:srgbClr val="F09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A3 · Resiliência climática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4313369"/>
            <a:ext cx="1600200" cy="566928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D5 · Ambiental e climática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4663440" y="4338748"/>
            <a:ext cx="137160" cy="258085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63440" y="4596833"/>
            <a:ext cx="137160" cy="0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663440" y="4596833"/>
            <a:ext cx="137160" cy="258085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4800600" y="5067561"/>
            <a:ext cx="2377440" cy="230885"/>
          </a:xfrm>
          <a:prstGeom prst="rect">
            <a:avLst/>
          </a:prstGeom>
          <a:solidFill>
            <a:srgbClr val="E8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F1 · Esforço fiscal e alavancagem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00600" y="5325646"/>
            <a:ext cx="2377440" cy="230885"/>
          </a:xfrm>
          <a:prstGeom prst="rect">
            <a:avLst/>
          </a:prstGeom>
          <a:solidFill>
            <a:srgbClr val="E8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I1 · Governança e aderência a planos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00600" y="5583731"/>
            <a:ext cx="2377440" cy="230885"/>
          </a:xfrm>
          <a:prstGeom prst="rect">
            <a:avLst/>
          </a:prstGeom>
          <a:solidFill>
            <a:srgbClr val="E8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I2 · Prontidão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63240" y="5157624"/>
            <a:ext cx="1600200" cy="566928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D6 · Viabilidade institucional e financeira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4663440" y="5183003"/>
            <a:ext cx="137160" cy="258085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663440" y="5441088"/>
            <a:ext cx="137160" cy="0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63440" y="5441088"/>
            <a:ext cx="137160" cy="258085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800600" y="5911816"/>
            <a:ext cx="2377440" cy="230885"/>
          </a:xfrm>
          <a:prstGeom prst="rect">
            <a:avLst/>
          </a:prstGeom>
          <a:solidFill>
            <a:srgbClr val="E8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R1 · Risco de entrega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00600" y="6169901"/>
            <a:ext cx="2377440" cy="230885"/>
          </a:xfrm>
          <a:prstGeom prst="rect">
            <a:avLst/>
          </a:prstGeom>
          <a:solidFill>
            <a:srgbClr val="E8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FFFFFF"/>
                </a:solidFill>
                <a:latin typeface="Montserrat"/>
              </a:rPr>
              <a:t>R2 · Risco de demanda e benefício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63240" y="5904842"/>
            <a:ext cx="1600200" cy="502919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D7 · Riscos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4663440" y="6027258"/>
            <a:ext cx="137160" cy="129043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663440" y="6156301"/>
            <a:ext cx="137160" cy="129042"/>
          </a:xfrm>
          <a:prstGeom prst="line">
            <a:avLst/>
          </a:prstGeom>
          <a:ln w="1143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600200" y="1815210"/>
            <a:ext cx="1325880" cy="685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Mérito e resultados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2926080" y="1735983"/>
            <a:ext cx="137160" cy="422127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926080" y="2158110"/>
            <a:ext cx="137160" cy="422128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600200" y="3667763"/>
            <a:ext cx="1325880" cy="685800"/>
          </a:xfrm>
          <a:prstGeom prst="rect">
            <a:avLst/>
          </a:prstGeom>
          <a:solidFill>
            <a:srgbClr val="E07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Sustentabilidade e território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2926080" y="3424493"/>
            <a:ext cx="137160" cy="586170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926080" y="4010663"/>
            <a:ext cx="137160" cy="0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926080" y="4010663"/>
            <a:ext cx="137160" cy="586170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600200" y="5455794"/>
            <a:ext cx="1325880" cy="685800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Capacidade de entrega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2926080" y="5441088"/>
            <a:ext cx="137160" cy="357606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926080" y="5798694"/>
            <a:ext cx="137160" cy="357607"/>
          </a:xfrm>
          <a:prstGeom prst="line">
            <a:avLst/>
          </a:prstGeom>
          <a:ln w="1587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228600" y="3324863"/>
            <a:ext cx="1234440" cy="13716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Montserrat"/>
              </a:rPr>
              <a:t>Hierarquização da carteira de projetos e ações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1463040" y="2158110"/>
            <a:ext cx="137160" cy="1852553"/>
          </a:xfrm>
          <a:prstGeom prst="line">
            <a:avLst/>
          </a:prstGeom>
          <a:ln w="190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463040" y="4010663"/>
            <a:ext cx="137160" cy="0"/>
          </a:xfrm>
          <a:prstGeom prst="line">
            <a:avLst/>
          </a:prstGeom>
          <a:ln w="190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463040" y="4010663"/>
            <a:ext cx="137160" cy="1788031"/>
          </a:xfrm>
          <a:prstGeom prst="line">
            <a:avLst/>
          </a:prstGeom>
          <a:ln w="190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8503919" y="1362456"/>
            <a:ext cx="3474720" cy="42976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OE1 · Emissões de GEE e proteção à biodiversidade</a:t>
            </a:r>
          </a:p>
          <a:p>
            <a:pPr algn="ctr"/>
            <a:r>
              <a:rPr sz="650" b="0">
                <a:solidFill>
                  <a:srgbClr val="FFFFFF"/>
                </a:solidFill>
                <a:latin typeface="Montserrat"/>
              </a:rPr>
              <a:t>Pilar 1 · ESG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03919" y="1874520"/>
            <a:ext cx="3474720" cy="42976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OE2 · Equidade social e desenvolvimento local</a:t>
            </a:r>
          </a:p>
          <a:p>
            <a:pPr algn="ctr"/>
            <a:r>
              <a:rPr sz="650" b="0">
                <a:solidFill>
                  <a:srgbClr val="FFFFFF"/>
                </a:solidFill>
                <a:latin typeface="Montserrat"/>
              </a:rPr>
              <a:t>Pilar 1 · ESG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03919" y="2386584"/>
            <a:ext cx="3474720" cy="42976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OE3 · Resiliência e adaptação climática</a:t>
            </a:r>
          </a:p>
          <a:p>
            <a:pPr algn="ctr"/>
            <a:r>
              <a:rPr sz="650" b="0">
                <a:solidFill>
                  <a:srgbClr val="FFFFFF"/>
                </a:solidFill>
                <a:latin typeface="Montserrat"/>
              </a:rPr>
              <a:t>Pilar 1 · ESG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03919" y="2898648"/>
            <a:ext cx="3474720" cy="42976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OE4 · Retorno socioeconômico e fontes de financiamento</a:t>
            </a:r>
          </a:p>
          <a:p>
            <a:pPr algn="ctr"/>
            <a:r>
              <a:rPr sz="650" b="0">
                <a:solidFill>
                  <a:srgbClr val="FFFFFF"/>
                </a:solidFill>
                <a:latin typeface="Montserrat"/>
              </a:rPr>
              <a:t>Pilar 2 · Econômico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03919" y="3410712"/>
            <a:ext cx="3474720" cy="42976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OE5 · Desenvolvimento setorial e cadeias estratégicas</a:t>
            </a:r>
          </a:p>
          <a:p>
            <a:pPr algn="ctr"/>
            <a:r>
              <a:rPr sz="650" b="0">
                <a:solidFill>
                  <a:srgbClr val="FFFFFF"/>
                </a:solidFill>
                <a:latin typeface="Montserrat"/>
              </a:rPr>
              <a:t>Pilar 2 · Econômico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03919" y="3922776"/>
            <a:ext cx="3474720" cy="42976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OE6 · Articulação entre modos e matriz racionalizada</a:t>
            </a:r>
          </a:p>
          <a:p>
            <a:pPr algn="ctr"/>
            <a:r>
              <a:rPr sz="650" b="0">
                <a:solidFill>
                  <a:srgbClr val="FFFFFF"/>
                </a:solidFill>
                <a:latin typeface="Montserrat"/>
              </a:rPr>
              <a:t>Pilar 3 · Operacional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03919" y="4434840"/>
            <a:ext cx="3474720" cy="42976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OE7 · Segurança viária, operacional e patrimonial</a:t>
            </a:r>
          </a:p>
          <a:p>
            <a:pPr algn="ctr"/>
            <a:r>
              <a:rPr sz="650" b="0">
                <a:solidFill>
                  <a:srgbClr val="FFFFFF"/>
                </a:solidFill>
                <a:latin typeface="Montserrat"/>
              </a:rPr>
              <a:t>Pilar 3 · Operacional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03919" y="4946904"/>
            <a:ext cx="3474720" cy="42976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OE8 · Eficiência construtiva e custo-benefício</a:t>
            </a:r>
          </a:p>
          <a:p>
            <a:pPr algn="ctr"/>
            <a:r>
              <a:rPr sz="650" b="0">
                <a:solidFill>
                  <a:srgbClr val="FFFFFF"/>
                </a:solidFill>
                <a:latin typeface="Montserrat"/>
              </a:rPr>
              <a:t>Pilar 3 · Operacional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03919" y="5458968"/>
            <a:ext cx="3474720" cy="42976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OE9 · Inovação tecnológica e descarbonização</a:t>
            </a:r>
          </a:p>
          <a:p>
            <a:pPr algn="ctr"/>
            <a:r>
              <a:rPr sz="650" b="0">
                <a:solidFill>
                  <a:srgbClr val="FFFFFF"/>
                </a:solidFill>
                <a:latin typeface="Montserrat"/>
              </a:rPr>
              <a:t>Pilar 4 · Tecnologia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3919" y="5971032"/>
            <a:ext cx="3474720" cy="42976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ontserrat"/>
              </a:rPr>
              <a:t>OE10 · Execução e blindagem contra descontinuidade</a:t>
            </a:r>
          </a:p>
          <a:p>
            <a:pPr algn="ctr"/>
            <a:r>
              <a:rPr sz="650" b="0">
                <a:solidFill>
                  <a:srgbClr val="FFFFFF"/>
                </a:solidFill>
                <a:latin typeface="Montserrat"/>
              </a:rPr>
              <a:t>Pilar transversal · Governança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178040" y="1477898"/>
            <a:ext cx="1325879" cy="2659762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178040" y="1735983"/>
            <a:ext cx="1325879" cy="1889613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178040" y="1735983"/>
            <a:ext cx="1325879" cy="2401677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178040" y="1994068"/>
            <a:ext cx="1325879" cy="2143592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178040" y="2089404"/>
            <a:ext cx="1325879" cy="361792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83"/>
          <p:cNvCxnSpPr/>
          <p:nvPr/>
        </p:nvCxnSpPr>
        <p:spPr>
          <a:xfrm>
            <a:off x="7178040" y="2709281"/>
            <a:ext cx="1325879" cy="916315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178040" y="2089404"/>
            <a:ext cx="1325879" cy="1077004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178040" y="2089404"/>
            <a:ext cx="1325879" cy="1335089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178040" y="2089404"/>
            <a:ext cx="1325879" cy="1593174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178040" y="4010663"/>
            <a:ext cx="1325879" cy="639061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7178040" y="1577340"/>
            <a:ext cx="1325879" cy="2761408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178040" y="4338748"/>
            <a:ext cx="1325879" cy="1335104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178040" y="1577340"/>
            <a:ext cx="1325879" cy="3019493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178040" y="2601468"/>
            <a:ext cx="1325879" cy="225345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178040" y="3113532"/>
            <a:ext cx="1325879" cy="2069471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178040" y="5441088"/>
            <a:ext cx="1325879" cy="744828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178040" y="5699173"/>
            <a:ext cx="1325879" cy="486743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7178040" y="5161788"/>
            <a:ext cx="1325879" cy="86547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178040" y="6027258"/>
            <a:ext cx="1325879" cy="158658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7178040" y="3113532"/>
            <a:ext cx="1325879" cy="3171811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155448" y="6492240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ontserrat"/>
              </a:rPr>
              <a:t>Fonte: Elaboração Consórcio Concremat-Transplan, 2026. 3 blocos, 7 dimensões, 17 indicadores (matriz D-14 v9). A relação B/C (V07) é calculada no D-16 e não é ponderada na hierarquização. OEs em validação.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8039" y="53035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DB85C"/>
                </a:solidFill>
                <a:latin typeface="Montserrat"/>
              </a:rPr>
              <a:t>PLI-SP 2050 </a:t>
            </a:r>
            <a:r>
              <a:rPr sz="2200" b="1">
                <a:solidFill>
                  <a:srgbClr val="002060"/>
                </a:solidFill>
                <a:latin typeface="Montserrat"/>
              </a:rPr>
              <a:t>Indicadores e variáveis medidas na FAP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" y="1024128"/>
          <a:ext cx="11338560" cy="4937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ontserrat"/>
                        </a:rPr>
                        <a:t>Dimensão</a:t>
                      </a:r>
                    </a:p>
                  </a:txBody>
                  <a:tcPr marL="36576" marR="36576" marT="9144" marB="9144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ontserrat"/>
                        </a:rPr>
                        <a:t>Indicador</a:t>
                      </a:r>
                    </a:p>
                  </a:txBody>
                  <a:tcPr marL="36576" marR="36576" marT="9144" marB="9144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ontserrat"/>
                        </a:rPr>
                        <a:t>Variáveis da FAP que alimentam o indicador</a:t>
                      </a:r>
                    </a:p>
                  </a:txBody>
                  <a:tcPr marL="36576" marR="36576" marT="9144" marB="9144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ontserrat"/>
                        </a:rPr>
                        <a:t>Origem do dado</a:t>
                      </a:r>
                    </a:p>
                  </a:txBody>
                  <a:tcPr marL="36576" marR="36576" marT="9144" marB="9144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ontserrat"/>
                        </a:rPr>
                        <a:t>Natureza</a:t>
                      </a:r>
                    </a:p>
                  </a:txBody>
                  <a:tcPr marL="36576" marR="36576" marT="9144" marB="9144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ontserrat"/>
                        </a:rPr>
                        <a:t>OEs</a:t>
                      </a:r>
                    </a:p>
                  </a:txBody>
                  <a:tcPr marL="36576" marR="36576" marT="9144" marB="9144" anchor="ctr"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rowSpan="3"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ontserrat"/>
                        </a:rPr>
                        <a:t>D1 Técnica e logística</a:t>
                      </a:r>
                    </a:p>
                  </a:txBody>
                  <a:tcPr marL="36576" marR="36576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T1 Saturação e alívio de gargalos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V01 alívio de saturação (V/C ponderado) · V02 horizonte (só faseamento)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Rede (D-12)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Misto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OE6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T2 Tempo e confiabilidade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V03 redução de veículos·hora · V04 confiabilidade (P95/mediana)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Rede (D-12); estudo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Fórmula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OE5 OE6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T3 Conectividade e intermodalidade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V05 participação não rodoviária · V06 função de conexão · REL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Rede (D-12); rubrica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Misto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OE6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ontserrat"/>
                        </a:rPr>
                        <a:t>D2 Econômica</a:t>
                      </a:r>
                    </a:p>
                  </a:txBody>
                  <a:tcPr marL="36576" marR="36576" marT="9144" marB="9144" anchor="ctr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E1 Emprego e desenv. regional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V08 empregos permanentes por mil hab. · V09–V10 dinamismo econômico (ponderadores)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D-15 / D-16; SICARD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Misto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OE2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E2 Impacto nas cadeias produtivas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V11 impacto nas cadeias produtivas (nível 1–5, com descrição)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Documental / rubrica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Painel*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OE5</a:t>
                      </a:r>
                    </a:p>
                  </a:txBody>
                  <a:tcPr marL="36576" marR="36576" marT="9144" marB="9144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 rowSpan="3"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ontserrat"/>
                        </a:rPr>
                        <a:t>D3 Social e territorial</a:t>
                      </a:r>
                    </a:p>
                  </a:txBody>
                  <a:tcPr marL="36576" marR="36576" marT="9144" marB="9144" anchor="ctr">
                    <a:solidFill>
                      <a:srgbClr val="E07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S1 Equidade territorial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V12 índice de focalização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SICARD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Fórmula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OE2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S2 Acessibilidade a serviços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V13 pessoas que passam a alcançar serviços essenciais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Rede (D-12)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Fórmula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OE2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S3 Integração urbana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V15 travessias urbanas · V14 exposição urbana (evidência)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Rubrica; SICARD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Painel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OE2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ontserrat"/>
                        </a:rPr>
                        <a:t>D4 Segurança</a:t>
                      </a:r>
                    </a:p>
                  </a:txBody>
                  <a:tcPr marL="36576" marR="36576" marT="9144" marB="9144" anchor="ctr">
                    <a:solidFill>
                      <a:srgbClr val="E07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SEG Sinistros graves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V18 vítimas evitadas · V16 sinistralidade base · V17 vulneráveis (evidência)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SICARD; estudo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Fórmula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OE7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 rowSpan="3"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ontserrat"/>
                        </a:rPr>
                        <a:t>D5 Ambiental e climática</a:t>
                      </a:r>
                    </a:p>
                  </a:txBody>
                  <a:tcPr marL="36576" marR="36576" marT="9144" marB="9144" anchor="ctr">
                    <a:solidFill>
                      <a:srgbClr val="E07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A1 Descarbonização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V19 GEE evitado 2028–2050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Rede (D-12)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Fórmula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OE1 OE9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A2 Sensibilidade socioambiental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V20 classe de sensibilidade socioambiental (cruzamento SIG)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SIG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Painel*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OE1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A3 Resiliência climática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V21 extensão em ameaça alta · V22 redundância criada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SIG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Misto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OE3</a:t>
                      </a:r>
                    </a:p>
                  </a:txBody>
                  <a:tcPr marL="36576" marR="36576" marT="9144" marB="9144" anchor="ctr">
                    <a:solidFill>
                      <a:srgbClr val="FDE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 rowSpan="3"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ontserrat"/>
                        </a:rPr>
                        <a:t>D6 Viabilidade institucional e financeira</a:t>
                      </a:r>
                    </a:p>
                  </a:txBody>
                  <a:tcPr marL="36576" marR="36576" marT="9144" marB="9144" anchor="ctr">
                    <a:solidFill>
                      <a:srgbClr val="D93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F1 Esforço fiscal e alavancagem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V23 CAPEX não estadual · V24 OPEX a cargo do Estado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D-15 / D-16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Misto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OE4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I1 Governança e aderência a planos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V25 governança e aderência a planos (pergunta única, nível 1–5)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Documental / rubrica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Painel*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OE10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I2 Prontidão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V26–V30 maturidade (demanda, engenharia, ambiente, instituições, finanças)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Documental / rubrica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Regra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OE10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ontserrat"/>
                        </a:rPr>
                        <a:t>D7 Riscos</a:t>
                      </a:r>
                    </a:p>
                  </a:txBody>
                  <a:tcPr marL="36576" marR="36576" marT="9144" marB="9144" anchor="ctr">
                    <a:solidFill>
                      <a:srgbClr val="D93A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R1 Risco de entrega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V31 condições críticas de entrega · V28 · REL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Documental / rubrica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Painel*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OE8 OE10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262626"/>
                          </a:solidFill>
                          <a:latin typeface="Montserrat"/>
                        </a:rPr>
                        <a:t>R2 Risco de demanda e benefício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262626"/>
                          </a:solidFill>
                          <a:latin typeface="Montserrat"/>
                        </a:rPr>
                        <a:t>V32 dispersão (P90−P10)/P50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Rede (D-12)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Misto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62626"/>
                          </a:solidFill>
                          <a:latin typeface="Montserrat"/>
                        </a:rPr>
                        <a:t>OE4</a:t>
                      </a:r>
                    </a:p>
                  </a:txBody>
                  <a:tcPr marL="36576" marR="36576" marT="9144" marB="9144" anchor="ctr">
                    <a:solidFill>
                      <a:srgbClr val="FB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1168" y="6382512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ontserrat"/>
              </a:rPr>
              <a:t>Todas as 32 variáveis da FAP alimentam algum indicador, exceto V02 (horizonte de necessidade), que define o faseamento, e V07 (relação B/C), calculada no D-16 e não ponderada na hierarquização. Painel* = nota de especialistas com pré-nota calculada por regra. V28 alimenta I2 e R1.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B61E76AFF7CE541B0116F4848AA2180" ma:contentTypeVersion="1" ma:contentTypeDescription="Crie um novo documento." ma:contentTypeScope="" ma:versionID="77420b6e725871bcf0472d8e8bae224a">
  <xsd:schema xmlns:xsd="http://www.w3.org/2001/XMLSchema" xmlns:xs="http://www.w3.org/2001/XMLSchema" xmlns:p="http://schemas.microsoft.com/office/2006/metadata/properties" xmlns:ns2="d165ed56-587a-4e89-9f58-5c4a30f62c34" targetNamespace="http://schemas.microsoft.com/office/2006/metadata/properties" ma:root="true" ma:fieldsID="de7e4887eabfde00420c9f5304ef31eb" ns2:_="">
    <xsd:import namespace="d165ed56-587a-4e89-9f58-5c4a30f62c34"/>
    <xsd:element name="properties">
      <xsd:complexType>
        <xsd:sequence>
          <xsd:element name="documentManagement">
            <xsd:complexType>
              <xsd:all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65ed56-587a-4e89-9f58-5c4a30f62c34" elementFormDefault="qualified">
    <xsd:import namespace="http://schemas.microsoft.com/office/2006/documentManagement/types"/>
    <xsd:import namespace="http://schemas.microsoft.com/office/infopath/2007/PartnerControls"/>
    <xsd:element name="Status" ma:index="8" nillable="true" ma:displayName="Status" ma:default="Em Analise SEMIL" ma:format="Dropdown" ma:internalName="Status">
      <xsd:simpleType>
        <xsd:restriction base="dms:Choice">
          <xsd:enumeration value="Em Analise SEMIL"/>
          <xsd:enumeration value="Em Revisão Consórcio"/>
          <xsd:enumeration value="Aprovado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d165ed56-587a-4e89-9f58-5c4a30f62c34">Em Analise SEMIL</Status>
  </documentManagement>
</p:properties>
</file>

<file path=customXml/itemProps1.xml><?xml version="1.0" encoding="utf-8"?>
<ds:datastoreItem xmlns:ds="http://schemas.openxmlformats.org/officeDocument/2006/customXml" ds:itemID="{3A43E391-AE2D-488F-976F-66E684FFCE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167464-857A-4989-A608-E0744AB9D3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65ed56-587a-4e89-9f58-5c4a30f62c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232ADF-21F9-4CC4-9464-845F6397955A}">
  <ds:schemaRefs>
    <ds:schemaRef ds:uri="http://schemas.microsoft.com/office/2006/metadata/properties"/>
    <ds:schemaRef ds:uri="http://schemas.microsoft.com/office/infopath/2007/PartnerControls"/>
    <ds:schemaRef ds:uri="d165ed56-587a-4e89-9f58-5c4a30f62c3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11968</TotalTime>
  <Words>748</Words>
  <Application>Microsoft Macintosh PowerPoint</Application>
  <DocSecurity>0</DocSecurity>
  <PresentationFormat>Widescreen</PresentationFormat>
  <Paragraphs>161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Montserrat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Daniel Reis</cp:lastModifiedBy>
  <cp:revision>133</cp:revision>
  <dcterms:created xsi:type="dcterms:W3CDTF">2026-08-17T07:42:34Z</dcterms:created>
  <dcterms:modified xsi:type="dcterms:W3CDTF">2026-10-26T14:12:39Z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0x0101003B61E76AFF7CE541B0116F4848AA2180</vt:lpwstr>
  </property>
</Properties>
</file>